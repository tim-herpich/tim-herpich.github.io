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</p:sldMasterIdLst>
  <p:notesMasterIdLst>
    <p:notesMasterId r:id="rId31"/>
  </p:notesMasterIdLst>
  <p:sldIdLst>
    <p:sldId id="267" r:id="rId2"/>
    <p:sldId id="257" r:id="rId3"/>
    <p:sldId id="268" r:id="rId4"/>
    <p:sldId id="269" r:id="rId5"/>
    <p:sldId id="342" r:id="rId6"/>
    <p:sldId id="341" r:id="rId7"/>
    <p:sldId id="313" r:id="rId8"/>
    <p:sldId id="317" r:id="rId9"/>
    <p:sldId id="272" r:id="rId10"/>
    <p:sldId id="312" r:id="rId11"/>
    <p:sldId id="315" r:id="rId12"/>
    <p:sldId id="316" r:id="rId13"/>
    <p:sldId id="343" r:id="rId14"/>
    <p:sldId id="328" r:id="rId15"/>
    <p:sldId id="332" r:id="rId16"/>
    <p:sldId id="340" r:id="rId17"/>
    <p:sldId id="333" r:id="rId18"/>
    <p:sldId id="334" r:id="rId19"/>
    <p:sldId id="335" r:id="rId20"/>
    <p:sldId id="336" r:id="rId21"/>
    <p:sldId id="329" r:id="rId22"/>
    <p:sldId id="344" r:id="rId23"/>
    <p:sldId id="338" r:id="rId24"/>
    <p:sldId id="339" r:id="rId25"/>
    <p:sldId id="330" r:id="rId26"/>
    <p:sldId id="331" r:id="rId27"/>
    <p:sldId id="271" r:id="rId28"/>
    <p:sldId id="345" r:id="rId29"/>
    <p:sldId id="346" r:id="rId30"/>
  </p:sldIdLst>
  <p:sldSz cx="12192000" cy="6858000"/>
  <p:notesSz cx="6858000" cy="9144000"/>
  <p:custDataLst>
    <p:tags r:id="rId3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5571DB2-8AE9-AED3-C779-BC68C267C073}" name="Herpich, Tim" initials="HT" userId="S::Tim.Herpich@d-fine.com::6121a220-d5c1-4cdb-b3ff-97a2ba0489e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99"/>
    <a:srgbClr val="D70814"/>
    <a:srgbClr val="E7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889" autoAdjust="0"/>
    <p:restoredTop sz="86594" autoAdjust="0"/>
  </p:normalViewPr>
  <p:slideViewPr>
    <p:cSldViewPr snapToGrid="0" showGuides="1">
      <p:cViewPr varScale="1">
        <p:scale>
          <a:sx n="99" d="100"/>
          <a:sy n="99" d="100"/>
        </p:scale>
        <p:origin x="144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gs" Target="tags/tag1.xml"/><Relationship Id="rId37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\\fileserver\data\011%20Kredit%20und%20L&#228;nderanalyse\aca\Pr&#228;mien\Testtool%20Phoenix\240925%20Test%20Calculations,%20mitversPr&#228;mie,%20Hauptstream.xlsm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CH"/>
              <a:t>#</a:t>
            </a:r>
            <a:r>
              <a:rPr lang="de-CH" baseline="0"/>
              <a:t> Product Versions</a:t>
            </a:r>
            <a:endParaRPr lang="de-CH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Tabelle1!$A$40</c:f>
              <c:strCache>
                <c:ptCount val="1"/>
                <c:pt idx="0">
                  <c:v>Buyer + Supplier Credit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Tabelle1!$B$39:$H$39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</c:numCache>
            </c:numRef>
          </c:cat>
          <c:val>
            <c:numRef>
              <c:f>Tabelle1!$B$40:$H$40</c:f>
              <c:numCache>
                <c:formatCode>0%</c:formatCode>
                <c:ptCount val="7"/>
                <c:pt idx="0">
                  <c:v>0.47940691927512358</c:v>
                </c:pt>
                <c:pt idx="1">
                  <c:v>0.30258099945085121</c:v>
                </c:pt>
                <c:pt idx="2">
                  <c:v>0.11422295442064799</c:v>
                </c:pt>
                <c:pt idx="3">
                  <c:v>4.832509610104338E-2</c:v>
                </c:pt>
                <c:pt idx="4">
                  <c:v>2.4711696869851731E-2</c:v>
                </c:pt>
                <c:pt idx="5">
                  <c:v>1.4827018121911038E-2</c:v>
                </c:pt>
                <c:pt idx="6">
                  <c:v>6.0406370126304225E-3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BE6-4953-863C-0E2240CDDF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75807872"/>
        <c:axId val="875806912"/>
      </c:barChart>
      <c:catAx>
        <c:axId val="8758078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875806912"/>
        <c:crosses val="autoZero"/>
        <c:auto val="1"/>
        <c:lblAlgn val="ctr"/>
        <c:lblOffset val="100"/>
        <c:noMultiLvlLbl val="0"/>
      </c:catAx>
      <c:valAx>
        <c:axId val="875806912"/>
        <c:scaling>
          <c:orientation val="minMax"/>
          <c:max val="0.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8758078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2207852460633213"/>
          <c:y val="4.4894929154709148E-2"/>
          <c:w val="0.80254286400397479"/>
          <c:h val="0.76419974869123408"/>
        </c:manualLayout>
      </c:layout>
      <c:lineChart>
        <c:grouping val="standar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CP(t)</c:v>
                </c:pt>
              </c:strCache>
            </c:strRef>
          </c:tx>
          <c:spPr>
            <a:ln w="38100"/>
          </c:spPr>
          <c:marker>
            <c:symbol val="none"/>
          </c:marker>
          <c:cat>
            <c:numRef>
              <c:f>Tabelle1!$A$2:$A$13</c:f>
              <c:numCache>
                <c:formatCode>m/d/yyyy</c:formatCode>
                <c:ptCount val="12"/>
                <c:pt idx="0">
                  <c:v>36892</c:v>
                </c:pt>
                <c:pt idx="1">
                  <c:v>36892</c:v>
                </c:pt>
                <c:pt idx="2">
                  <c:v>37257</c:v>
                </c:pt>
                <c:pt idx="3">
                  <c:v>37257</c:v>
                </c:pt>
                <c:pt idx="4">
                  <c:v>37622</c:v>
                </c:pt>
                <c:pt idx="5">
                  <c:v>37622</c:v>
                </c:pt>
                <c:pt idx="6">
                  <c:v>37987</c:v>
                </c:pt>
                <c:pt idx="7">
                  <c:v>37987</c:v>
                </c:pt>
                <c:pt idx="8">
                  <c:v>38346</c:v>
                </c:pt>
                <c:pt idx="9">
                  <c:v>38346</c:v>
                </c:pt>
                <c:pt idx="10">
                  <c:v>38353</c:v>
                </c:pt>
                <c:pt idx="11">
                  <c:v>38353</c:v>
                </c:pt>
              </c:numCache>
            </c:numRef>
          </c:cat>
          <c:val>
            <c:numRef>
              <c:f>Tabelle1!$B$2:$B$13</c:f>
              <c:numCache>
                <c:formatCode>General</c:formatCode>
                <c:ptCount val="12"/>
                <c:pt idx="0">
                  <c:v>0</c:v>
                </c:pt>
                <c:pt idx="1">
                  <c:v>9000</c:v>
                </c:pt>
                <c:pt idx="2">
                  <c:v>9000</c:v>
                </c:pt>
                <c:pt idx="3">
                  <c:v>9000</c:v>
                </c:pt>
                <c:pt idx="4">
                  <c:v>9000</c:v>
                </c:pt>
                <c:pt idx="5">
                  <c:v>9000</c:v>
                </c:pt>
                <c:pt idx="6">
                  <c:v>9000</c:v>
                </c:pt>
                <c:pt idx="7">
                  <c:v>9000</c:v>
                </c:pt>
                <c:pt idx="8">
                  <c:v>9000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800-4743-961F-62FA0B9F7D51}"/>
            </c:ext>
          </c:extLst>
        </c:ser>
        <c:ser>
          <c:idx val="1"/>
          <c:order val="1"/>
          <c:tx>
            <c:strRef>
              <c:f>Tabelle1!#REF!</c:f>
              <c:strCache>
                <c:ptCount val="1"/>
                <c:pt idx="0">
                  <c:v>#REF!</c:v>
                </c:pt>
              </c:strCache>
            </c:strRef>
          </c:tx>
          <c:marker>
            <c:symbol val="none"/>
          </c:marker>
          <c:cat>
            <c:numRef>
              <c:f>Tabelle1!$A$2:$A$13</c:f>
              <c:numCache>
                <c:formatCode>m/d/yyyy</c:formatCode>
                <c:ptCount val="12"/>
                <c:pt idx="0">
                  <c:v>36892</c:v>
                </c:pt>
                <c:pt idx="1">
                  <c:v>36892</c:v>
                </c:pt>
                <c:pt idx="2">
                  <c:v>37257</c:v>
                </c:pt>
                <c:pt idx="3">
                  <c:v>37257</c:v>
                </c:pt>
                <c:pt idx="4">
                  <c:v>37622</c:v>
                </c:pt>
                <c:pt idx="5">
                  <c:v>37622</c:v>
                </c:pt>
                <c:pt idx="6">
                  <c:v>37987</c:v>
                </c:pt>
                <c:pt idx="7">
                  <c:v>37987</c:v>
                </c:pt>
                <c:pt idx="8">
                  <c:v>38346</c:v>
                </c:pt>
                <c:pt idx="9">
                  <c:v>38346</c:v>
                </c:pt>
                <c:pt idx="10">
                  <c:v>38353</c:v>
                </c:pt>
                <c:pt idx="11">
                  <c:v>38353</c:v>
                </c:pt>
              </c:numCache>
            </c:numRef>
          </c:cat>
          <c:val>
            <c:numRef>
              <c:f>Tabelle1!#REF!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800-4743-961F-62FA0B9F7D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317535712"/>
        <c:axId val="1"/>
      </c:lineChart>
      <c:dateAx>
        <c:axId val="1317535712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1"/>
        <c:crosses val="autoZero"/>
        <c:auto val="1"/>
        <c:lblOffset val="100"/>
        <c:baseTimeUnit val="days"/>
      </c:dateAx>
      <c:valAx>
        <c:axId val="1"/>
        <c:scaling>
          <c:orientation val="minMax"/>
        </c:scaling>
        <c:delete val="0"/>
        <c:axPos val="l"/>
        <c:majorGridlines/>
        <c:numFmt formatCode="#,##0" sourceLinked="0"/>
        <c:majorTickMark val="out"/>
        <c:minorTickMark val="none"/>
        <c:tickLblPos val="nextTo"/>
        <c:crossAx val="1317535712"/>
        <c:crosses val="autoZero"/>
        <c:crossBetween val="between"/>
      </c:valAx>
    </c:plotArea>
    <c:legend>
      <c:legendPos val="b"/>
      <c:legendEntry>
        <c:idx val="1"/>
        <c:delete val="1"/>
      </c:legendEntry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537015651541014"/>
          <c:y val="4.3578951834184115E-2"/>
          <c:w val="0.82117971010008828"/>
          <c:h val="0.76318816998349182"/>
        </c:manualLayout>
      </c:layout>
      <c:lineChart>
        <c:grouping val="standar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CP(t)</c:v>
                </c:pt>
              </c:strCache>
            </c:strRef>
          </c:tx>
          <c:spPr>
            <a:ln w="38100"/>
          </c:spPr>
          <c:marker>
            <c:symbol val="none"/>
          </c:marker>
          <c:cat>
            <c:numRef>
              <c:f>Tabelle1!$A$2:$A$15</c:f>
              <c:numCache>
                <c:formatCode>m/d/yyyy</c:formatCode>
                <c:ptCount val="14"/>
                <c:pt idx="0">
                  <c:v>36892</c:v>
                </c:pt>
                <c:pt idx="1">
                  <c:v>36892</c:v>
                </c:pt>
                <c:pt idx="2">
                  <c:v>36899</c:v>
                </c:pt>
                <c:pt idx="3">
                  <c:v>36899</c:v>
                </c:pt>
                <c:pt idx="4">
                  <c:v>37257</c:v>
                </c:pt>
                <c:pt idx="5">
                  <c:v>37257</c:v>
                </c:pt>
                <c:pt idx="6">
                  <c:v>37622</c:v>
                </c:pt>
                <c:pt idx="7">
                  <c:v>37622</c:v>
                </c:pt>
                <c:pt idx="8">
                  <c:v>37987</c:v>
                </c:pt>
                <c:pt idx="9">
                  <c:v>37987</c:v>
                </c:pt>
                <c:pt idx="10">
                  <c:v>38346</c:v>
                </c:pt>
                <c:pt idx="11">
                  <c:v>38346</c:v>
                </c:pt>
                <c:pt idx="12">
                  <c:v>38353</c:v>
                </c:pt>
                <c:pt idx="13">
                  <c:v>38353</c:v>
                </c:pt>
              </c:numCache>
            </c:numRef>
          </c:cat>
          <c:val>
            <c:numRef>
              <c:f>Tabelle1!$B$2:$B$15</c:f>
              <c:numCache>
                <c:formatCode>General</c:formatCode>
                <c:ptCount val="14"/>
                <c:pt idx="0">
                  <c:v>0</c:v>
                </c:pt>
                <c:pt idx="1">
                  <c:v>9000</c:v>
                </c:pt>
                <c:pt idx="2">
                  <c:v>9000</c:v>
                </c:pt>
                <c:pt idx="3">
                  <c:v>9000</c:v>
                </c:pt>
                <c:pt idx="4">
                  <c:v>9000</c:v>
                </c:pt>
                <c:pt idx="5">
                  <c:v>9000</c:v>
                </c:pt>
                <c:pt idx="6">
                  <c:v>9000</c:v>
                </c:pt>
                <c:pt idx="7">
                  <c:v>9000</c:v>
                </c:pt>
                <c:pt idx="8">
                  <c:v>9000</c:v>
                </c:pt>
                <c:pt idx="9">
                  <c:v>9000</c:v>
                </c:pt>
                <c:pt idx="10">
                  <c:v>9000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800-4743-961F-62FA0B9F7D51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CP~(tm) </c:v>
                </c:pt>
              </c:strCache>
            </c:strRef>
          </c:tx>
          <c:spPr>
            <a:ln w="38100"/>
          </c:spPr>
          <c:marker>
            <c:symbol val="none"/>
          </c:marker>
          <c:cat>
            <c:numRef>
              <c:f>Tabelle1!$A$2:$A$15</c:f>
              <c:numCache>
                <c:formatCode>m/d/yyyy</c:formatCode>
                <c:ptCount val="14"/>
                <c:pt idx="0">
                  <c:v>36892</c:v>
                </c:pt>
                <c:pt idx="1">
                  <c:v>36892</c:v>
                </c:pt>
                <c:pt idx="2">
                  <c:v>36899</c:v>
                </c:pt>
                <c:pt idx="3">
                  <c:v>36899</c:v>
                </c:pt>
                <c:pt idx="4">
                  <c:v>37257</c:v>
                </c:pt>
                <c:pt idx="5">
                  <c:v>37257</c:v>
                </c:pt>
                <c:pt idx="6">
                  <c:v>37622</c:v>
                </c:pt>
                <c:pt idx="7">
                  <c:v>37622</c:v>
                </c:pt>
                <c:pt idx="8">
                  <c:v>37987</c:v>
                </c:pt>
                <c:pt idx="9">
                  <c:v>37987</c:v>
                </c:pt>
                <c:pt idx="10">
                  <c:v>38346</c:v>
                </c:pt>
                <c:pt idx="11">
                  <c:v>38346</c:v>
                </c:pt>
                <c:pt idx="12">
                  <c:v>38353</c:v>
                </c:pt>
                <c:pt idx="13">
                  <c:v>38353</c:v>
                </c:pt>
              </c:numCache>
            </c:numRef>
          </c:cat>
          <c:val>
            <c:numRef>
              <c:f>Tabelle1!$C$2:$C$15</c:f>
              <c:numCache>
                <c:formatCode>General</c:formatCode>
                <c:ptCount val="14"/>
                <c:pt idx="2">
                  <c:v>0</c:v>
                </c:pt>
                <c:pt idx="3">
                  <c:v>9070</c:v>
                </c:pt>
                <c:pt idx="4">
                  <c:v>9070</c:v>
                </c:pt>
                <c:pt idx="5">
                  <c:v>9070</c:v>
                </c:pt>
                <c:pt idx="6">
                  <c:v>9070</c:v>
                </c:pt>
                <c:pt idx="7">
                  <c:v>10000</c:v>
                </c:pt>
                <c:pt idx="8">
                  <c:v>10000</c:v>
                </c:pt>
                <c:pt idx="9">
                  <c:v>10000</c:v>
                </c:pt>
                <c:pt idx="10">
                  <c:v>10000</c:v>
                </c:pt>
                <c:pt idx="11">
                  <c:v>10000</c:v>
                </c:pt>
                <c:pt idx="12">
                  <c:v>10000</c:v>
                </c:pt>
                <c:pt idx="1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800-4743-961F-62FA0B9F7D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317535712"/>
        <c:axId val="1"/>
      </c:lineChart>
      <c:dateAx>
        <c:axId val="1317535712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1"/>
        <c:crosses val="autoZero"/>
        <c:auto val="1"/>
        <c:lblOffset val="100"/>
        <c:baseTimeUnit val="days"/>
      </c:dateAx>
      <c:valAx>
        <c:axId val="1"/>
        <c:scaling>
          <c:orientation val="minMax"/>
          <c:max val="10000"/>
        </c:scaling>
        <c:delete val="0"/>
        <c:axPos val="l"/>
        <c:majorGridlines/>
        <c:numFmt formatCode="#,##0" sourceLinked="0"/>
        <c:majorTickMark val="out"/>
        <c:minorTickMark val="none"/>
        <c:tickLblPos val="nextTo"/>
        <c:crossAx val="1317535712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6577149369099"/>
          <c:y val="4.3578951834184115E-2"/>
          <c:w val="0.82117971010008828"/>
          <c:h val="0.76318816998349182"/>
        </c:manualLayout>
      </c:layout>
      <c:lineChart>
        <c:grouping val="standar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CP(t)</c:v>
                </c:pt>
              </c:strCache>
            </c:strRef>
          </c:tx>
          <c:spPr>
            <a:ln w="38100"/>
          </c:spPr>
          <c:marker>
            <c:symbol val="none"/>
          </c:marker>
          <c:cat>
            <c:numRef>
              <c:f>Tabelle1!$A$2:$A$15</c:f>
              <c:numCache>
                <c:formatCode>m/d/yyyy</c:formatCode>
                <c:ptCount val="14"/>
                <c:pt idx="0">
                  <c:v>36892</c:v>
                </c:pt>
                <c:pt idx="1">
                  <c:v>36892</c:v>
                </c:pt>
                <c:pt idx="2">
                  <c:v>36899</c:v>
                </c:pt>
                <c:pt idx="3">
                  <c:v>36899</c:v>
                </c:pt>
                <c:pt idx="4">
                  <c:v>37257</c:v>
                </c:pt>
                <c:pt idx="5">
                  <c:v>37257</c:v>
                </c:pt>
                <c:pt idx="6">
                  <c:v>37622</c:v>
                </c:pt>
                <c:pt idx="7">
                  <c:v>37622</c:v>
                </c:pt>
                <c:pt idx="8">
                  <c:v>37987</c:v>
                </c:pt>
                <c:pt idx="9">
                  <c:v>37987</c:v>
                </c:pt>
                <c:pt idx="10">
                  <c:v>38346</c:v>
                </c:pt>
                <c:pt idx="11">
                  <c:v>38346</c:v>
                </c:pt>
                <c:pt idx="12">
                  <c:v>38353</c:v>
                </c:pt>
                <c:pt idx="13">
                  <c:v>38353</c:v>
                </c:pt>
              </c:numCache>
            </c:numRef>
          </c:cat>
          <c:val>
            <c:numRef>
              <c:f>Tabelle1!$B$2:$B$15</c:f>
              <c:numCache>
                <c:formatCode>General</c:formatCode>
                <c:ptCount val="14"/>
                <c:pt idx="0">
                  <c:v>0</c:v>
                </c:pt>
                <c:pt idx="1">
                  <c:v>9000</c:v>
                </c:pt>
                <c:pt idx="2">
                  <c:v>9000</c:v>
                </c:pt>
                <c:pt idx="3">
                  <c:v>9000</c:v>
                </c:pt>
                <c:pt idx="4">
                  <c:v>9000</c:v>
                </c:pt>
                <c:pt idx="5">
                  <c:v>9000</c:v>
                </c:pt>
                <c:pt idx="6">
                  <c:v>9000</c:v>
                </c:pt>
                <c:pt idx="7">
                  <c:v>9000</c:v>
                </c:pt>
                <c:pt idx="8">
                  <c:v>9000</c:v>
                </c:pt>
                <c:pt idx="9">
                  <c:v>9000</c:v>
                </c:pt>
                <c:pt idx="10">
                  <c:v>9000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800-4743-961F-62FA0B9F7D51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CP~(tm) </c:v>
                </c:pt>
              </c:strCache>
            </c:strRef>
          </c:tx>
          <c:spPr>
            <a:ln w="38100"/>
          </c:spPr>
          <c:marker>
            <c:symbol val="none"/>
          </c:marker>
          <c:cat>
            <c:numRef>
              <c:f>Tabelle1!$A$2:$A$15</c:f>
              <c:numCache>
                <c:formatCode>m/d/yyyy</c:formatCode>
                <c:ptCount val="14"/>
                <c:pt idx="0">
                  <c:v>36892</c:v>
                </c:pt>
                <c:pt idx="1">
                  <c:v>36892</c:v>
                </c:pt>
                <c:pt idx="2">
                  <c:v>36899</c:v>
                </c:pt>
                <c:pt idx="3">
                  <c:v>36899</c:v>
                </c:pt>
                <c:pt idx="4">
                  <c:v>37257</c:v>
                </c:pt>
                <c:pt idx="5">
                  <c:v>37257</c:v>
                </c:pt>
                <c:pt idx="6">
                  <c:v>37622</c:v>
                </c:pt>
                <c:pt idx="7">
                  <c:v>37622</c:v>
                </c:pt>
                <c:pt idx="8">
                  <c:v>37987</c:v>
                </c:pt>
                <c:pt idx="9">
                  <c:v>37987</c:v>
                </c:pt>
                <c:pt idx="10">
                  <c:v>38346</c:v>
                </c:pt>
                <c:pt idx="11">
                  <c:v>38346</c:v>
                </c:pt>
                <c:pt idx="12">
                  <c:v>38353</c:v>
                </c:pt>
                <c:pt idx="13">
                  <c:v>38353</c:v>
                </c:pt>
              </c:numCache>
            </c:numRef>
          </c:cat>
          <c:val>
            <c:numRef>
              <c:f>Tabelle1!$C$2:$C$15</c:f>
              <c:numCache>
                <c:formatCode>General</c:formatCode>
                <c:ptCount val="14"/>
                <c:pt idx="2">
                  <c:v>0</c:v>
                </c:pt>
                <c:pt idx="3">
                  <c:v>9070</c:v>
                </c:pt>
                <c:pt idx="4">
                  <c:v>9070</c:v>
                </c:pt>
                <c:pt idx="5">
                  <c:v>9070</c:v>
                </c:pt>
                <c:pt idx="6">
                  <c:v>9070</c:v>
                </c:pt>
                <c:pt idx="7">
                  <c:v>10000</c:v>
                </c:pt>
                <c:pt idx="8">
                  <c:v>10000</c:v>
                </c:pt>
                <c:pt idx="9">
                  <c:v>10000</c:v>
                </c:pt>
                <c:pt idx="10">
                  <c:v>10000</c:v>
                </c:pt>
                <c:pt idx="11">
                  <c:v>10000</c:v>
                </c:pt>
                <c:pt idx="12">
                  <c:v>10000</c:v>
                </c:pt>
                <c:pt idx="1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800-4743-961F-62FA0B9F7D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317535712"/>
        <c:axId val="1"/>
      </c:lineChart>
      <c:dateAx>
        <c:axId val="1317535712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1"/>
        <c:crosses val="autoZero"/>
        <c:auto val="1"/>
        <c:lblOffset val="100"/>
        <c:baseTimeUnit val="days"/>
      </c:dateAx>
      <c:valAx>
        <c:axId val="1"/>
        <c:scaling>
          <c:orientation val="minMax"/>
          <c:max val="10000"/>
        </c:scaling>
        <c:delete val="0"/>
        <c:axPos val="l"/>
        <c:majorGridlines/>
        <c:numFmt formatCode="#,##0" sourceLinked="0"/>
        <c:majorTickMark val="out"/>
        <c:minorTickMark val="none"/>
        <c:tickLblPos val="nextTo"/>
        <c:crossAx val="1317535712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537015651541014"/>
          <c:y val="4.3578951834184115E-2"/>
          <c:w val="0.82117971010008828"/>
          <c:h val="0.76318816998349182"/>
        </c:manualLayout>
      </c:layout>
      <c:lineChart>
        <c:grouping val="standar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CP(t)</c:v>
                </c:pt>
              </c:strCache>
            </c:strRef>
          </c:tx>
          <c:spPr>
            <a:ln w="38100"/>
          </c:spPr>
          <c:marker>
            <c:symbol val="none"/>
          </c:marker>
          <c:cat>
            <c:numRef>
              <c:f>Tabelle1!$A$2:$A$15</c:f>
              <c:numCache>
                <c:formatCode>m/d/yyyy</c:formatCode>
                <c:ptCount val="14"/>
                <c:pt idx="0">
                  <c:v>36526</c:v>
                </c:pt>
                <c:pt idx="1">
                  <c:v>37257</c:v>
                </c:pt>
                <c:pt idx="2">
                  <c:v>37622</c:v>
                </c:pt>
                <c:pt idx="3">
                  <c:v>37622</c:v>
                </c:pt>
                <c:pt idx="4">
                  <c:v>37987</c:v>
                </c:pt>
                <c:pt idx="5">
                  <c:v>37987</c:v>
                </c:pt>
                <c:pt idx="6">
                  <c:v>38353</c:v>
                </c:pt>
                <c:pt idx="7">
                  <c:v>38353</c:v>
                </c:pt>
                <c:pt idx="8">
                  <c:v>38718</c:v>
                </c:pt>
                <c:pt idx="9">
                  <c:v>38718</c:v>
                </c:pt>
                <c:pt idx="10">
                  <c:v>39083</c:v>
                </c:pt>
                <c:pt idx="11">
                  <c:v>39083</c:v>
                </c:pt>
              </c:numCache>
            </c:numRef>
          </c:cat>
          <c:val>
            <c:numRef>
              <c:f>Tabelle1!$B$2:$B$15</c:f>
              <c:numCache>
                <c:formatCode>General</c:formatCode>
                <c:ptCount val="14"/>
                <c:pt idx="0">
                  <c:v>0</c:v>
                </c:pt>
                <c:pt idx="1">
                  <c:v>10000</c:v>
                </c:pt>
                <c:pt idx="2">
                  <c:v>10000</c:v>
                </c:pt>
                <c:pt idx="3">
                  <c:v>7500</c:v>
                </c:pt>
                <c:pt idx="4">
                  <c:v>7500</c:v>
                </c:pt>
                <c:pt idx="5">
                  <c:v>5000</c:v>
                </c:pt>
                <c:pt idx="6">
                  <c:v>5000</c:v>
                </c:pt>
                <c:pt idx="7">
                  <c:v>2500</c:v>
                </c:pt>
                <c:pt idx="8">
                  <c:v>2500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800-4743-961F-62FA0B9F7D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317535712"/>
        <c:axId val="1"/>
      </c:lineChart>
      <c:dateAx>
        <c:axId val="1317535712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de-DE"/>
          </a:p>
        </c:txPr>
        <c:crossAx val="1"/>
        <c:crosses val="autoZero"/>
        <c:auto val="1"/>
        <c:lblOffset val="100"/>
        <c:baseTimeUnit val="days"/>
      </c:dateAx>
      <c:valAx>
        <c:axId val="1"/>
        <c:scaling>
          <c:orientation val="minMax"/>
          <c:max val="10000"/>
        </c:scaling>
        <c:delete val="0"/>
        <c:axPos val="l"/>
        <c:majorGridlines/>
        <c:numFmt formatCode="#,##0" sourceLinked="0"/>
        <c:majorTickMark val="out"/>
        <c:minorTickMark val="none"/>
        <c:tickLblPos val="nextTo"/>
        <c:crossAx val="1317535712"/>
        <c:crosses val="autoZero"/>
        <c:crossBetween val="between"/>
      </c:valAx>
      <c:spPr>
        <a:noFill/>
        <a:ln w="25400">
          <a:noFill/>
        </a:ln>
      </c:spPr>
    </c:plotArea>
    <c:legend>
      <c:legendPos val="b"/>
      <c:layout>
        <c:manualLayout>
          <c:xMode val="edge"/>
          <c:yMode val="edge"/>
          <c:x val="0.32458147053818664"/>
          <c:y val="0.92447677182597365"/>
          <c:w val="0.35083685266257236"/>
          <c:h val="6.7599782385992846E-2"/>
        </c:manualLayout>
      </c:layout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537015651541014"/>
          <c:y val="4.3578951834184115E-2"/>
          <c:w val="0.82117971010008828"/>
          <c:h val="0.76318816998349182"/>
        </c:manualLayout>
      </c:layout>
      <c:lineChart>
        <c:grouping val="standar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CP(t)</c:v>
                </c:pt>
              </c:strCache>
            </c:strRef>
          </c:tx>
          <c:spPr>
            <a:ln w="38100"/>
          </c:spPr>
          <c:marker>
            <c:symbol val="none"/>
          </c:marker>
          <c:cat>
            <c:numRef>
              <c:f>Tabelle1!$A$2:$A$15</c:f>
              <c:numCache>
                <c:formatCode>m/d/yyyy</c:formatCode>
                <c:ptCount val="14"/>
                <c:pt idx="0">
                  <c:v>36526</c:v>
                </c:pt>
                <c:pt idx="1">
                  <c:v>37257</c:v>
                </c:pt>
                <c:pt idx="2">
                  <c:v>37622</c:v>
                </c:pt>
                <c:pt idx="3">
                  <c:v>37622</c:v>
                </c:pt>
                <c:pt idx="4">
                  <c:v>37987</c:v>
                </c:pt>
                <c:pt idx="5">
                  <c:v>37987</c:v>
                </c:pt>
                <c:pt idx="6">
                  <c:v>38353</c:v>
                </c:pt>
                <c:pt idx="7">
                  <c:v>38353</c:v>
                </c:pt>
                <c:pt idx="8">
                  <c:v>38718</c:v>
                </c:pt>
                <c:pt idx="9">
                  <c:v>38718</c:v>
                </c:pt>
                <c:pt idx="10">
                  <c:v>39083</c:v>
                </c:pt>
                <c:pt idx="11">
                  <c:v>39083</c:v>
                </c:pt>
              </c:numCache>
            </c:numRef>
          </c:cat>
          <c:val>
            <c:numRef>
              <c:f>Tabelle1!$B$2:$B$15</c:f>
              <c:numCache>
                <c:formatCode>General</c:formatCode>
                <c:ptCount val="14"/>
                <c:pt idx="0">
                  <c:v>0</c:v>
                </c:pt>
                <c:pt idx="1">
                  <c:v>10000</c:v>
                </c:pt>
                <c:pt idx="2">
                  <c:v>10000</c:v>
                </c:pt>
                <c:pt idx="3">
                  <c:v>7500</c:v>
                </c:pt>
                <c:pt idx="4">
                  <c:v>7500</c:v>
                </c:pt>
                <c:pt idx="5">
                  <c:v>5000</c:v>
                </c:pt>
                <c:pt idx="6">
                  <c:v>5000</c:v>
                </c:pt>
                <c:pt idx="7">
                  <c:v>2500</c:v>
                </c:pt>
                <c:pt idx="8">
                  <c:v>2500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800-4743-961F-62FA0B9F7D51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CP~(tm) </c:v>
                </c:pt>
              </c:strCache>
            </c:strRef>
          </c:tx>
          <c:spPr>
            <a:ln w="38100"/>
          </c:spPr>
          <c:marker>
            <c:symbol val="none"/>
          </c:marker>
          <c:cat>
            <c:numRef>
              <c:f>Tabelle1!$A$2:$A$15</c:f>
              <c:numCache>
                <c:formatCode>m/d/yyyy</c:formatCode>
                <c:ptCount val="14"/>
                <c:pt idx="0">
                  <c:v>36526</c:v>
                </c:pt>
                <c:pt idx="1">
                  <c:v>37257</c:v>
                </c:pt>
                <c:pt idx="2">
                  <c:v>37622</c:v>
                </c:pt>
                <c:pt idx="3">
                  <c:v>37622</c:v>
                </c:pt>
                <c:pt idx="4">
                  <c:v>37987</c:v>
                </c:pt>
                <c:pt idx="5">
                  <c:v>37987</c:v>
                </c:pt>
                <c:pt idx="6">
                  <c:v>38353</c:v>
                </c:pt>
                <c:pt idx="7">
                  <c:v>38353</c:v>
                </c:pt>
                <c:pt idx="8">
                  <c:v>38718</c:v>
                </c:pt>
                <c:pt idx="9">
                  <c:v>38718</c:v>
                </c:pt>
                <c:pt idx="10">
                  <c:v>39083</c:v>
                </c:pt>
                <c:pt idx="11">
                  <c:v>39083</c:v>
                </c:pt>
              </c:numCache>
            </c:numRef>
          </c:cat>
          <c:val>
            <c:numRef>
              <c:f>Tabelle1!$C$2:$C$15</c:f>
              <c:numCache>
                <c:formatCode>General</c:formatCode>
                <c:ptCount val="14"/>
                <c:pt idx="0">
                  <c:v>0</c:v>
                </c:pt>
                <c:pt idx="1">
                  <c:v>10000</c:v>
                </c:pt>
                <c:pt idx="2">
                  <c:v>10000</c:v>
                </c:pt>
                <c:pt idx="3">
                  <c:v>10000</c:v>
                </c:pt>
                <c:pt idx="4">
                  <c:v>10000</c:v>
                </c:pt>
                <c:pt idx="5">
                  <c:v>7500</c:v>
                </c:pt>
                <c:pt idx="6">
                  <c:v>7500</c:v>
                </c:pt>
                <c:pt idx="7">
                  <c:v>5000</c:v>
                </c:pt>
                <c:pt idx="8">
                  <c:v>5000</c:v>
                </c:pt>
                <c:pt idx="9">
                  <c:v>2500</c:v>
                </c:pt>
                <c:pt idx="10">
                  <c:v>2500</c:v>
                </c:pt>
                <c:pt idx="11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800-4743-961F-62FA0B9F7D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317535712"/>
        <c:axId val="1"/>
      </c:lineChart>
      <c:dateAx>
        <c:axId val="1317535712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de-DE"/>
          </a:p>
        </c:txPr>
        <c:crossAx val="1"/>
        <c:crosses val="autoZero"/>
        <c:auto val="1"/>
        <c:lblOffset val="100"/>
        <c:baseTimeUnit val="days"/>
      </c:dateAx>
      <c:valAx>
        <c:axId val="1"/>
        <c:scaling>
          <c:orientation val="minMax"/>
          <c:max val="10000"/>
        </c:scaling>
        <c:delete val="0"/>
        <c:axPos val="l"/>
        <c:majorGridlines/>
        <c:numFmt formatCode="#,##0" sourceLinked="0"/>
        <c:majorTickMark val="out"/>
        <c:minorTickMark val="none"/>
        <c:tickLblPos val="nextTo"/>
        <c:crossAx val="1317535712"/>
        <c:crosses val="autoZero"/>
        <c:crossBetween val="between"/>
      </c:valAx>
      <c:spPr>
        <a:noFill/>
        <a:ln w="25400">
          <a:noFill/>
        </a:ln>
      </c:spPr>
    </c:plotArea>
    <c:legend>
      <c:legendPos val="b"/>
      <c:layout>
        <c:manualLayout>
          <c:xMode val="edge"/>
          <c:yMode val="edge"/>
          <c:x val="0.32458147053818664"/>
          <c:y val="0.92447677182597365"/>
          <c:w val="0.35083685266257236"/>
          <c:h val="6.7599782385992846E-2"/>
        </c:manualLayout>
      </c:layout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6577149369099"/>
          <c:y val="4.3578951834184115E-2"/>
          <c:w val="0.82117971010008828"/>
          <c:h val="0.76318816998349182"/>
        </c:manualLayout>
      </c:layout>
      <c:lineChart>
        <c:grouping val="standar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CP(t)</c:v>
                </c:pt>
              </c:strCache>
            </c:strRef>
          </c:tx>
          <c:spPr>
            <a:ln w="38100"/>
          </c:spPr>
          <c:marker>
            <c:symbol val="none"/>
          </c:marker>
          <c:cat>
            <c:numRef>
              <c:f>Tabelle1!$A$2:$A$15</c:f>
              <c:numCache>
                <c:formatCode>m/d/yyyy</c:formatCode>
                <c:ptCount val="14"/>
                <c:pt idx="0">
                  <c:v>36892</c:v>
                </c:pt>
                <c:pt idx="1">
                  <c:v>36892</c:v>
                </c:pt>
                <c:pt idx="2">
                  <c:v>36899</c:v>
                </c:pt>
                <c:pt idx="3">
                  <c:v>36899</c:v>
                </c:pt>
                <c:pt idx="4">
                  <c:v>37257</c:v>
                </c:pt>
                <c:pt idx="5">
                  <c:v>37257</c:v>
                </c:pt>
                <c:pt idx="6">
                  <c:v>37622</c:v>
                </c:pt>
                <c:pt idx="7">
                  <c:v>37622</c:v>
                </c:pt>
                <c:pt idx="8">
                  <c:v>37987</c:v>
                </c:pt>
                <c:pt idx="9">
                  <c:v>37987</c:v>
                </c:pt>
                <c:pt idx="10">
                  <c:v>38346</c:v>
                </c:pt>
                <c:pt idx="11">
                  <c:v>38346</c:v>
                </c:pt>
                <c:pt idx="12">
                  <c:v>38353</c:v>
                </c:pt>
                <c:pt idx="13">
                  <c:v>38353</c:v>
                </c:pt>
              </c:numCache>
            </c:numRef>
          </c:cat>
          <c:val>
            <c:numRef>
              <c:f>Tabelle1!$B$2:$B$15</c:f>
              <c:numCache>
                <c:formatCode>General</c:formatCode>
                <c:ptCount val="14"/>
                <c:pt idx="0">
                  <c:v>0</c:v>
                </c:pt>
                <c:pt idx="1">
                  <c:v>9000</c:v>
                </c:pt>
                <c:pt idx="2">
                  <c:v>9000</c:v>
                </c:pt>
                <c:pt idx="3">
                  <c:v>9000</c:v>
                </c:pt>
                <c:pt idx="4">
                  <c:v>9000</c:v>
                </c:pt>
                <c:pt idx="5">
                  <c:v>9000</c:v>
                </c:pt>
                <c:pt idx="6">
                  <c:v>9000</c:v>
                </c:pt>
                <c:pt idx="7">
                  <c:v>9000</c:v>
                </c:pt>
                <c:pt idx="8">
                  <c:v>9000</c:v>
                </c:pt>
                <c:pt idx="9">
                  <c:v>9000</c:v>
                </c:pt>
                <c:pt idx="10">
                  <c:v>9000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800-4743-961F-62FA0B9F7D51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CP~(tm) </c:v>
                </c:pt>
              </c:strCache>
            </c:strRef>
          </c:tx>
          <c:spPr>
            <a:ln w="38100"/>
          </c:spPr>
          <c:marker>
            <c:symbol val="none"/>
          </c:marker>
          <c:cat>
            <c:numRef>
              <c:f>Tabelle1!$A$2:$A$15</c:f>
              <c:numCache>
                <c:formatCode>m/d/yyyy</c:formatCode>
                <c:ptCount val="14"/>
                <c:pt idx="0">
                  <c:v>36892</c:v>
                </c:pt>
                <c:pt idx="1">
                  <c:v>36892</c:v>
                </c:pt>
                <c:pt idx="2">
                  <c:v>36899</c:v>
                </c:pt>
                <c:pt idx="3">
                  <c:v>36899</c:v>
                </c:pt>
                <c:pt idx="4">
                  <c:v>37257</c:v>
                </c:pt>
                <c:pt idx="5">
                  <c:v>37257</c:v>
                </c:pt>
                <c:pt idx="6">
                  <c:v>37622</c:v>
                </c:pt>
                <c:pt idx="7">
                  <c:v>37622</c:v>
                </c:pt>
                <c:pt idx="8">
                  <c:v>37987</c:v>
                </c:pt>
                <c:pt idx="9">
                  <c:v>37987</c:v>
                </c:pt>
                <c:pt idx="10">
                  <c:v>38346</c:v>
                </c:pt>
                <c:pt idx="11">
                  <c:v>38346</c:v>
                </c:pt>
                <c:pt idx="12">
                  <c:v>38353</c:v>
                </c:pt>
                <c:pt idx="13">
                  <c:v>38353</c:v>
                </c:pt>
              </c:numCache>
            </c:numRef>
          </c:cat>
          <c:val>
            <c:numRef>
              <c:f>Tabelle1!$C$2:$C$15</c:f>
              <c:numCache>
                <c:formatCode>General</c:formatCode>
                <c:ptCount val="14"/>
                <c:pt idx="2">
                  <c:v>0</c:v>
                </c:pt>
                <c:pt idx="3">
                  <c:v>9070</c:v>
                </c:pt>
                <c:pt idx="4">
                  <c:v>9070</c:v>
                </c:pt>
                <c:pt idx="5">
                  <c:v>9070</c:v>
                </c:pt>
                <c:pt idx="6">
                  <c:v>9070</c:v>
                </c:pt>
                <c:pt idx="7">
                  <c:v>10000</c:v>
                </c:pt>
                <c:pt idx="8">
                  <c:v>10000</c:v>
                </c:pt>
                <c:pt idx="9">
                  <c:v>10000</c:v>
                </c:pt>
                <c:pt idx="10">
                  <c:v>10000</c:v>
                </c:pt>
                <c:pt idx="11">
                  <c:v>10000</c:v>
                </c:pt>
                <c:pt idx="12">
                  <c:v>10000</c:v>
                </c:pt>
                <c:pt idx="1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800-4743-961F-62FA0B9F7D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317535712"/>
        <c:axId val="1"/>
      </c:lineChart>
      <c:dateAx>
        <c:axId val="1317535712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1"/>
        <c:crosses val="autoZero"/>
        <c:auto val="1"/>
        <c:lblOffset val="100"/>
        <c:baseTimeUnit val="days"/>
      </c:dateAx>
      <c:valAx>
        <c:axId val="1"/>
        <c:scaling>
          <c:orientation val="minMax"/>
          <c:max val="10000"/>
        </c:scaling>
        <c:delete val="0"/>
        <c:axPos val="l"/>
        <c:majorGridlines/>
        <c:numFmt formatCode="#,##0" sourceLinked="0"/>
        <c:majorTickMark val="out"/>
        <c:minorTickMark val="none"/>
        <c:tickLblPos val="nextTo"/>
        <c:crossAx val="1317535712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6577149369099"/>
          <c:y val="4.3578951834184115E-2"/>
          <c:w val="0.82117971010008828"/>
          <c:h val="0.76318816998349182"/>
        </c:manualLayout>
      </c:layout>
      <c:lineChart>
        <c:grouping val="standar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CP(t)</c:v>
                </c:pt>
              </c:strCache>
            </c:strRef>
          </c:tx>
          <c:spPr>
            <a:ln w="38100"/>
          </c:spPr>
          <c:marker>
            <c:symbol val="none"/>
          </c:marker>
          <c:cat>
            <c:numRef>
              <c:f>Tabelle1!$A$2:$A$15</c:f>
              <c:numCache>
                <c:formatCode>m/d/yyyy</c:formatCode>
                <c:ptCount val="14"/>
                <c:pt idx="0">
                  <c:v>36892</c:v>
                </c:pt>
                <c:pt idx="1">
                  <c:v>36892</c:v>
                </c:pt>
                <c:pt idx="2">
                  <c:v>36899</c:v>
                </c:pt>
                <c:pt idx="3">
                  <c:v>36899</c:v>
                </c:pt>
                <c:pt idx="4">
                  <c:v>37257</c:v>
                </c:pt>
                <c:pt idx="5">
                  <c:v>37257</c:v>
                </c:pt>
                <c:pt idx="6">
                  <c:v>37622</c:v>
                </c:pt>
                <c:pt idx="7">
                  <c:v>37622</c:v>
                </c:pt>
                <c:pt idx="8">
                  <c:v>37987</c:v>
                </c:pt>
                <c:pt idx="9">
                  <c:v>37987</c:v>
                </c:pt>
                <c:pt idx="10">
                  <c:v>38346</c:v>
                </c:pt>
                <c:pt idx="11">
                  <c:v>38346</c:v>
                </c:pt>
                <c:pt idx="12">
                  <c:v>38353</c:v>
                </c:pt>
                <c:pt idx="13">
                  <c:v>38353</c:v>
                </c:pt>
              </c:numCache>
            </c:numRef>
          </c:cat>
          <c:val>
            <c:numRef>
              <c:f>Tabelle1!$B$2:$B$15</c:f>
              <c:numCache>
                <c:formatCode>General</c:formatCode>
                <c:ptCount val="14"/>
                <c:pt idx="0">
                  <c:v>0</c:v>
                </c:pt>
                <c:pt idx="1">
                  <c:v>9000</c:v>
                </c:pt>
                <c:pt idx="2">
                  <c:v>9000</c:v>
                </c:pt>
                <c:pt idx="3">
                  <c:v>9000</c:v>
                </c:pt>
                <c:pt idx="4">
                  <c:v>9000</c:v>
                </c:pt>
                <c:pt idx="5">
                  <c:v>9000</c:v>
                </c:pt>
                <c:pt idx="6">
                  <c:v>9000</c:v>
                </c:pt>
                <c:pt idx="7">
                  <c:v>9000</c:v>
                </c:pt>
                <c:pt idx="8">
                  <c:v>9000</c:v>
                </c:pt>
                <c:pt idx="9">
                  <c:v>9000</c:v>
                </c:pt>
                <c:pt idx="10">
                  <c:v>9000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800-4743-961F-62FA0B9F7D51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CP~(tm) </c:v>
                </c:pt>
              </c:strCache>
            </c:strRef>
          </c:tx>
          <c:spPr>
            <a:ln w="38100"/>
          </c:spPr>
          <c:marker>
            <c:symbol val="none"/>
          </c:marker>
          <c:cat>
            <c:numRef>
              <c:f>Tabelle1!$A$2:$A$15</c:f>
              <c:numCache>
                <c:formatCode>m/d/yyyy</c:formatCode>
                <c:ptCount val="14"/>
                <c:pt idx="0">
                  <c:v>36892</c:v>
                </c:pt>
                <c:pt idx="1">
                  <c:v>36892</c:v>
                </c:pt>
                <c:pt idx="2">
                  <c:v>36899</c:v>
                </c:pt>
                <c:pt idx="3">
                  <c:v>36899</c:v>
                </c:pt>
                <c:pt idx="4">
                  <c:v>37257</c:v>
                </c:pt>
                <c:pt idx="5">
                  <c:v>37257</c:v>
                </c:pt>
                <c:pt idx="6">
                  <c:v>37622</c:v>
                </c:pt>
                <c:pt idx="7">
                  <c:v>37622</c:v>
                </c:pt>
                <c:pt idx="8">
                  <c:v>37987</c:v>
                </c:pt>
                <c:pt idx="9">
                  <c:v>37987</c:v>
                </c:pt>
                <c:pt idx="10">
                  <c:v>38346</c:v>
                </c:pt>
                <c:pt idx="11">
                  <c:v>38346</c:v>
                </c:pt>
                <c:pt idx="12">
                  <c:v>38353</c:v>
                </c:pt>
                <c:pt idx="13">
                  <c:v>38353</c:v>
                </c:pt>
              </c:numCache>
            </c:numRef>
          </c:cat>
          <c:val>
            <c:numRef>
              <c:f>Tabelle1!$C$2:$C$15</c:f>
              <c:numCache>
                <c:formatCode>General</c:formatCode>
                <c:ptCount val="14"/>
                <c:pt idx="2">
                  <c:v>0</c:v>
                </c:pt>
                <c:pt idx="3">
                  <c:v>9070</c:v>
                </c:pt>
                <c:pt idx="4">
                  <c:v>9070</c:v>
                </c:pt>
                <c:pt idx="5">
                  <c:v>9070</c:v>
                </c:pt>
                <c:pt idx="6">
                  <c:v>9070</c:v>
                </c:pt>
                <c:pt idx="7">
                  <c:v>10000</c:v>
                </c:pt>
                <c:pt idx="8">
                  <c:v>10000</c:v>
                </c:pt>
                <c:pt idx="9">
                  <c:v>10000</c:v>
                </c:pt>
                <c:pt idx="10">
                  <c:v>10000</c:v>
                </c:pt>
                <c:pt idx="11">
                  <c:v>10000</c:v>
                </c:pt>
                <c:pt idx="12">
                  <c:v>10000</c:v>
                </c:pt>
                <c:pt idx="1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800-4743-961F-62FA0B9F7D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317535712"/>
        <c:axId val="1"/>
      </c:lineChart>
      <c:dateAx>
        <c:axId val="1317535712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1"/>
        <c:crosses val="autoZero"/>
        <c:auto val="1"/>
        <c:lblOffset val="100"/>
        <c:baseTimeUnit val="days"/>
      </c:dateAx>
      <c:valAx>
        <c:axId val="1"/>
        <c:scaling>
          <c:orientation val="minMax"/>
          <c:max val="10000"/>
        </c:scaling>
        <c:delete val="0"/>
        <c:axPos val="l"/>
        <c:majorGridlines/>
        <c:numFmt formatCode="#,##0" sourceLinked="0"/>
        <c:majorTickMark val="out"/>
        <c:minorTickMark val="none"/>
        <c:tickLblPos val="nextTo"/>
        <c:crossAx val="1317535712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BF9235-04BD-4C7A-B167-6F2835884E93}" type="datetimeFigureOut">
              <a:rPr lang="en-US" smtClean="0"/>
              <a:t>1/17/2025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258DCC-F5A7-43B7-97CA-5D5F0416CA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87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 err="1"/>
              <a:t>Thank</a:t>
            </a:r>
            <a:r>
              <a:rPr lang="de-CH" dirty="0"/>
              <a:t> </a:t>
            </a:r>
            <a:r>
              <a:rPr lang="de-CH" dirty="0" err="1"/>
              <a:t>you</a:t>
            </a:r>
            <a:r>
              <a:rPr lang="de-CH" dirty="0"/>
              <a:t>, Heribert, </a:t>
            </a:r>
            <a:r>
              <a:rPr lang="de-CH" dirty="0" err="1"/>
              <a:t>for</a:t>
            </a:r>
            <a:r>
              <a:rPr lang="de-CH" dirty="0"/>
              <a:t> </a:t>
            </a:r>
            <a:r>
              <a:rPr lang="de-CH" dirty="0" err="1"/>
              <a:t>your</a:t>
            </a:r>
            <a:r>
              <a:rPr lang="de-CH" dirty="0"/>
              <a:t> </a:t>
            </a:r>
            <a:r>
              <a:rPr lang="de-CH" dirty="0" err="1"/>
              <a:t>introduction</a:t>
            </a:r>
            <a:r>
              <a:rPr lang="de-CH" dirty="0"/>
              <a:t>, and </a:t>
            </a:r>
            <a:r>
              <a:rPr lang="de-CH" dirty="0" err="1"/>
              <a:t>thank</a:t>
            </a:r>
            <a:r>
              <a:rPr lang="de-CH" dirty="0"/>
              <a:t> </a:t>
            </a:r>
            <a:r>
              <a:rPr lang="de-CH" dirty="0" err="1"/>
              <a:t>you</a:t>
            </a:r>
            <a:r>
              <a:rPr lang="de-CH" dirty="0"/>
              <a:t> all </a:t>
            </a:r>
            <a:r>
              <a:rPr lang="de-CH" dirty="0" err="1"/>
              <a:t>for</a:t>
            </a:r>
            <a:r>
              <a:rPr lang="de-CH" dirty="0"/>
              <a:t> </a:t>
            </a:r>
            <a:r>
              <a:rPr lang="de-CH" dirty="0" err="1"/>
              <a:t>participating</a:t>
            </a:r>
            <a:r>
              <a:rPr lang="de-CH" dirty="0"/>
              <a:t> </a:t>
            </a:r>
            <a:r>
              <a:rPr lang="de-CH" dirty="0" err="1"/>
              <a:t>to</a:t>
            </a:r>
            <a:r>
              <a:rPr lang="de-CH" dirty="0"/>
              <a:t> </a:t>
            </a:r>
            <a:r>
              <a:rPr lang="de-CH" dirty="0" err="1"/>
              <a:t>this</a:t>
            </a:r>
            <a:r>
              <a:rPr lang="de-CH" dirty="0"/>
              <a:t> </a:t>
            </a:r>
            <a:r>
              <a:rPr lang="de-CH" dirty="0" err="1"/>
              <a:t>exchange</a:t>
            </a:r>
            <a:r>
              <a:rPr lang="de-CH" dirty="0"/>
              <a:t>.</a:t>
            </a:r>
          </a:p>
          <a:p>
            <a:endParaRPr lang="de-CH" dirty="0"/>
          </a:p>
          <a:p>
            <a:r>
              <a:rPr lang="de-CH" dirty="0"/>
              <a:t>I </a:t>
            </a:r>
            <a:r>
              <a:rPr lang="de-CH" dirty="0" err="1"/>
              <a:t>would</a:t>
            </a:r>
            <a:r>
              <a:rPr lang="de-CH" dirty="0"/>
              <a:t> </a:t>
            </a:r>
            <a:r>
              <a:rPr lang="de-CH" dirty="0" err="1"/>
              <a:t>first</a:t>
            </a:r>
            <a:r>
              <a:rPr lang="de-CH" dirty="0"/>
              <a:t> like </a:t>
            </a:r>
            <a:r>
              <a:rPr lang="de-CH" dirty="0" err="1"/>
              <a:t>to</a:t>
            </a:r>
            <a:r>
              <a:rPr lang="de-CH" dirty="0"/>
              <a:t> </a:t>
            </a:r>
            <a:r>
              <a:rPr lang="de-CH" dirty="0" err="1"/>
              <a:t>point</a:t>
            </a:r>
            <a:r>
              <a:rPr lang="de-CH" dirty="0"/>
              <a:t> out </a:t>
            </a:r>
            <a:r>
              <a:rPr lang="de-CH" dirty="0" err="1"/>
              <a:t>what</a:t>
            </a:r>
            <a:r>
              <a:rPr lang="de-CH" dirty="0"/>
              <a:t> </a:t>
            </a:r>
            <a:r>
              <a:rPr lang="de-CH" dirty="0" err="1"/>
              <a:t>this</a:t>
            </a:r>
            <a:r>
              <a:rPr lang="de-CH" dirty="0"/>
              <a:t> </a:t>
            </a:r>
            <a:r>
              <a:rPr lang="de-CH" dirty="0" err="1"/>
              <a:t>topic</a:t>
            </a:r>
            <a:r>
              <a:rPr lang="de-CH" dirty="0"/>
              <a:t> </a:t>
            </a:r>
            <a:r>
              <a:rPr lang="de-CH" dirty="0" err="1"/>
              <a:t>of</a:t>
            </a:r>
            <a:r>
              <a:rPr lang="de-CH" dirty="0"/>
              <a:t> pricing </a:t>
            </a:r>
            <a:r>
              <a:rPr lang="de-CH" dirty="0" err="1"/>
              <a:t>modifications</a:t>
            </a:r>
            <a:r>
              <a:rPr lang="de-CH" dirty="0"/>
              <a:t> </a:t>
            </a:r>
            <a:r>
              <a:rPr lang="de-CH" dirty="0" err="1"/>
              <a:t>is</a:t>
            </a:r>
            <a:r>
              <a:rPr lang="de-CH" dirty="0"/>
              <a:t> </a:t>
            </a:r>
            <a:r>
              <a:rPr lang="de-CH" dirty="0" err="1"/>
              <a:t>about</a:t>
            </a:r>
            <a:r>
              <a:rPr lang="de-CH" dirty="0"/>
              <a:t>.</a:t>
            </a:r>
          </a:p>
          <a:p>
            <a:endParaRPr lang="de-CH" dirty="0"/>
          </a:p>
          <a:p>
            <a:r>
              <a:rPr lang="de-CH" dirty="0" err="1"/>
              <a:t>We</a:t>
            </a:r>
            <a:r>
              <a:rPr lang="de-CH" dirty="0"/>
              <a:t> all </a:t>
            </a:r>
            <a:r>
              <a:rPr lang="de-CH" dirty="0" err="1"/>
              <a:t>know</a:t>
            </a:r>
            <a:r>
              <a:rPr lang="de-CH" dirty="0"/>
              <a:t> </a:t>
            </a:r>
            <a:r>
              <a:rPr lang="de-CH" dirty="0" err="1"/>
              <a:t>that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OECD </a:t>
            </a:r>
            <a:r>
              <a:rPr lang="de-CH" dirty="0" err="1"/>
              <a:t>defines</a:t>
            </a:r>
            <a:r>
              <a:rPr lang="de-CH" dirty="0"/>
              <a:t> </a:t>
            </a:r>
            <a:r>
              <a:rPr lang="de-CH" dirty="0" err="1"/>
              <a:t>minimum</a:t>
            </a:r>
            <a:r>
              <a:rPr lang="de-CH" dirty="0"/>
              <a:t> pricing </a:t>
            </a:r>
            <a:r>
              <a:rPr lang="de-CH" dirty="0" err="1"/>
              <a:t>for</a:t>
            </a:r>
            <a:r>
              <a:rPr lang="de-CH" dirty="0"/>
              <a:t> all </a:t>
            </a:r>
            <a:r>
              <a:rPr lang="de-CH" dirty="0" err="1"/>
              <a:t>new</a:t>
            </a:r>
            <a:r>
              <a:rPr lang="de-CH" dirty="0"/>
              <a:t> </a:t>
            </a:r>
            <a:r>
              <a:rPr lang="de-CH" dirty="0" err="1"/>
              <a:t>products</a:t>
            </a:r>
            <a:r>
              <a:rPr lang="de-CH" dirty="0"/>
              <a:t> </a:t>
            </a:r>
            <a:r>
              <a:rPr lang="de-CH" dirty="0" err="1"/>
              <a:t>that</a:t>
            </a:r>
            <a:r>
              <a:rPr lang="de-CH" dirty="0"/>
              <a:t> </a:t>
            </a:r>
            <a:r>
              <a:rPr lang="de-CH" dirty="0" err="1"/>
              <a:t>are</a:t>
            </a:r>
            <a:r>
              <a:rPr lang="de-CH" dirty="0"/>
              <a:t> </a:t>
            </a:r>
            <a:r>
              <a:rPr lang="de-CH" dirty="0" err="1"/>
              <a:t>covered</a:t>
            </a:r>
            <a:r>
              <a:rPr lang="de-CH" dirty="0"/>
              <a:t> </a:t>
            </a:r>
            <a:r>
              <a:rPr lang="de-CH" dirty="0" err="1"/>
              <a:t>by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OECD </a:t>
            </a:r>
            <a:r>
              <a:rPr lang="de-CH" dirty="0" err="1"/>
              <a:t>arrangement</a:t>
            </a:r>
            <a:r>
              <a:rPr lang="de-CH" dirty="0"/>
              <a:t>. </a:t>
            </a:r>
            <a:r>
              <a:rPr lang="de-CH" dirty="0" err="1"/>
              <a:t>Depending</a:t>
            </a:r>
            <a:r>
              <a:rPr lang="de-CH" dirty="0"/>
              <a:t> on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country</a:t>
            </a:r>
            <a:r>
              <a:rPr lang="de-CH" dirty="0"/>
              <a:t> </a:t>
            </a:r>
            <a:r>
              <a:rPr lang="de-CH" dirty="0" err="1"/>
              <a:t>of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buyer</a:t>
            </a:r>
            <a:r>
              <a:rPr lang="de-CH" dirty="0"/>
              <a:t> </a:t>
            </a:r>
            <a:r>
              <a:rPr lang="de-CH" dirty="0" err="1"/>
              <a:t>or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guarantor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experts</a:t>
            </a:r>
            <a:r>
              <a:rPr lang="de-CH" dirty="0"/>
              <a:t> </a:t>
            </a:r>
            <a:r>
              <a:rPr lang="de-CH" dirty="0" err="1"/>
              <a:t>of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ECAs</a:t>
            </a:r>
            <a:r>
              <a:rPr lang="de-CH" dirty="0"/>
              <a:t> </a:t>
            </a:r>
            <a:r>
              <a:rPr lang="de-CH" dirty="0" err="1"/>
              <a:t>have</a:t>
            </a:r>
            <a:r>
              <a:rPr lang="de-CH" dirty="0"/>
              <a:t> </a:t>
            </a:r>
            <a:r>
              <a:rPr lang="de-CH" dirty="0" err="1"/>
              <a:t>developed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MPR</a:t>
            </a:r>
            <a:r>
              <a:rPr lang="de-CH" dirty="0"/>
              <a:t> – </a:t>
            </a:r>
            <a:r>
              <a:rPr lang="de-CH" dirty="0" err="1"/>
              <a:t>minimum</a:t>
            </a:r>
            <a:r>
              <a:rPr lang="de-CH" dirty="0"/>
              <a:t> premium rate – </a:t>
            </a:r>
            <a:r>
              <a:rPr lang="de-CH" dirty="0" err="1"/>
              <a:t>method</a:t>
            </a:r>
            <a:r>
              <a:rPr lang="de-CH" dirty="0"/>
              <a:t>. In High Income countries, </a:t>
            </a:r>
            <a:r>
              <a:rPr lang="de-CH" dirty="0" err="1"/>
              <a:t>the</a:t>
            </a:r>
            <a:r>
              <a:rPr lang="de-CH" dirty="0"/>
              <a:t> Market Benchmarking </a:t>
            </a:r>
            <a:r>
              <a:rPr lang="de-CH" dirty="0" err="1"/>
              <a:t>methodology</a:t>
            </a:r>
            <a:r>
              <a:rPr lang="de-CH" dirty="0"/>
              <a:t> </a:t>
            </a:r>
            <a:r>
              <a:rPr lang="de-CH" dirty="0" err="1"/>
              <a:t>is</a:t>
            </a:r>
            <a:r>
              <a:rPr lang="de-CH" dirty="0"/>
              <a:t> </a:t>
            </a:r>
            <a:r>
              <a:rPr lang="de-CH" dirty="0" err="1"/>
              <a:t>applied</a:t>
            </a:r>
            <a:r>
              <a:rPr lang="de-CH" dirty="0"/>
              <a:t>. </a:t>
            </a:r>
            <a:r>
              <a:rPr lang="de-CH" dirty="0" err="1"/>
              <a:t>For</a:t>
            </a:r>
            <a:r>
              <a:rPr lang="de-CH" dirty="0"/>
              <a:t> all </a:t>
            </a:r>
            <a:r>
              <a:rPr lang="de-CH" dirty="0" err="1"/>
              <a:t>other</a:t>
            </a:r>
            <a:r>
              <a:rPr lang="de-CH" dirty="0"/>
              <a:t> </a:t>
            </a:r>
            <a:r>
              <a:rPr lang="de-CH" dirty="0" err="1"/>
              <a:t>transactions</a:t>
            </a:r>
            <a:r>
              <a:rPr lang="de-CH" dirty="0"/>
              <a:t>, </a:t>
            </a:r>
            <a:r>
              <a:rPr lang="de-CH" dirty="0" err="1"/>
              <a:t>eg</a:t>
            </a:r>
            <a:r>
              <a:rPr lang="de-CH" dirty="0"/>
              <a:t> </a:t>
            </a:r>
            <a:r>
              <a:rPr lang="de-CH" dirty="0" err="1"/>
              <a:t>other</a:t>
            </a:r>
            <a:r>
              <a:rPr lang="de-CH" dirty="0"/>
              <a:t> </a:t>
            </a:r>
            <a:r>
              <a:rPr lang="de-CH" dirty="0" err="1"/>
              <a:t>products</a:t>
            </a:r>
            <a:r>
              <a:rPr lang="de-CH" dirty="0"/>
              <a:t> </a:t>
            </a:r>
            <a:r>
              <a:rPr lang="de-CH" dirty="0" err="1"/>
              <a:t>or</a:t>
            </a:r>
            <a:r>
              <a:rPr lang="de-CH" dirty="0"/>
              <a:t> </a:t>
            </a:r>
            <a:r>
              <a:rPr lang="de-CH" dirty="0" err="1"/>
              <a:t>repayment</a:t>
            </a:r>
            <a:r>
              <a:rPr lang="de-CH" dirty="0"/>
              <a:t> </a:t>
            </a:r>
            <a:r>
              <a:rPr lang="de-CH" dirty="0" err="1"/>
              <a:t>periods</a:t>
            </a:r>
            <a:r>
              <a:rPr lang="de-CH" dirty="0"/>
              <a:t> </a:t>
            </a:r>
            <a:r>
              <a:rPr lang="de-CH" dirty="0" err="1"/>
              <a:t>shorter</a:t>
            </a:r>
            <a:r>
              <a:rPr lang="de-CH" dirty="0"/>
              <a:t> </a:t>
            </a:r>
            <a:r>
              <a:rPr lang="de-CH" dirty="0" err="1"/>
              <a:t>than</a:t>
            </a:r>
            <a:r>
              <a:rPr lang="de-CH" dirty="0"/>
              <a:t> 2 </a:t>
            </a:r>
            <a:r>
              <a:rPr lang="de-CH" dirty="0" err="1"/>
              <a:t>years</a:t>
            </a:r>
            <a:r>
              <a:rPr lang="de-CH" dirty="0"/>
              <a:t>, </a:t>
            </a:r>
            <a:r>
              <a:rPr lang="de-CH" dirty="0" err="1"/>
              <a:t>every</a:t>
            </a:r>
            <a:r>
              <a:rPr lang="de-CH" dirty="0"/>
              <a:t> ECA </a:t>
            </a:r>
            <a:r>
              <a:rPr lang="de-CH" dirty="0" err="1"/>
              <a:t>has</a:t>
            </a:r>
            <a:r>
              <a:rPr lang="de-CH" dirty="0"/>
              <a:t> an own </a:t>
            </a:r>
            <a:r>
              <a:rPr lang="de-CH" dirty="0" err="1"/>
              <a:t>model</a:t>
            </a:r>
            <a:r>
              <a:rPr lang="de-CH" dirty="0"/>
              <a:t>.</a:t>
            </a:r>
          </a:p>
          <a:p>
            <a:endParaRPr lang="de-CH" dirty="0"/>
          </a:p>
          <a:p>
            <a:r>
              <a:rPr lang="de-CH" dirty="0"/>
              <a:t>The OECD </a:t>
            </a:r>
            <a:r>
              <a:rPr lang="de-CH" dirty="0" err="1"/>
              <a:t>methodologies</a:t>
            </a:r>
            <a:r>
              <a:rPr lang="de-CH" dirty="0"/>
              <a:t> </a:t>
            </a:r>
            <a:r>
              <a:rPr lang="de-CH" dirty="0" err="1"/>
              <a:t>assume</a:t>
            </a:r>
            <a:r>
              <a:rPr lang="de-CH" dirty="0"/>
              <a:t> </a:t>
            </a:r>
            <a:r>
              <a:rPr lang="de-CH" dirty="0" err="1"/>
              <a:t>that</a:t>
            </a:r>
            <a:r>
              <a:rPr lang="de-CH" dirty="0"/>
              <a:t> 20% </a:t>
            </a:r>
            <a:r>
              <a:rPr lang="de-CH" dirty="0" err="1"/>
              <a:t>of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premium </a:t>
            </a:r>
            <a:r>
              <a:rPr lang="de-CH" dirty="0" err="1"/>
              <a:t>is</a:t>
            </a:r>
            <a:r>
              <a:rPr lang="de-CH" dirty="0"/>
              <a:t> </a:t>
            </a:r>
            <a:r>
              <a:rPr lang="de-CH" dirty="0" err="1"/>
              <a:t>reserved</a:t>
            </a:r>
            <a:r>
              <a:rPr lang="de-CH" dirty="0"/>
              <a:t> </a:t>
            </a:r>
            <a:r>
              <a:rPr lang="de-CH" dirty="0" err="1"/>
              <a:t>for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internal </a:t>
            </a:r>
            <a:r>
              <a:rPr lang="de-CH" dirty="0" err="1"/>
              <a:t>cost</a:t>
            </a:r>
            <a:r>
              <a:rPr lang="de-CH" dirty="0"/>
              <a:t> </a:t>
            </a:r>
            <a:r>
              <a:rPr lang="de-CH" dirty="0" err="1"/>
              <a:t>of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ECA. The </a:t>
            </a:r>
            <a:r>
              <a:rPr lang="de-CH" dirty="0" err="1"/>
              <a:t>rest</a:t>
            </a:r>
            <a:r>
              <a:rPr lang="de-CH" dirty="0"/>
              <a:t>, 80%, </a:t>
            </a:r>
            <a:r>
              <a:rPr lang="de-CH" dirty="0" err="1"/>
              <a:t>is</a:t>
            </a:r>
            <a:r>
              <a:rPr lang="de-CH" dirty="0"/>
              <a:t> </a:t>
            </a:r>
            <a:r>
              <a:rPr lang="de-CH" dirty="0" err="1"/>
              <a:t>reserved</a:t>
            </a:r>
            <a:r>
              <a:rPr lang="de-CH" dirty="0"/>
              <a:t> </a:t>
            </a:r>
            <a:r>
              <a:rPr lang="de-CH" dirty="0" err="1"/>
              <a:t>for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risk</a:t>
            </a:r>
            <a:r>
              <a:rPr lang="de-CH" dirty="0"/>
              <a:t>. This will </a:t>
            </a:r>
            <a:r>
              <a:rPr lang="de-CH" dirty="0" err="1"/>
              <a:t>be</a:t>
            </a:r>
            <a:r>
              <a:rPr lang="de-CH" dirty="0"/>
              <a:t> </a:t>
            </a:r>
            <a:r>
              <a:rPr lang="de-CH" dirty="0" err="1"/>
              <a:t>important</a:t>
            </a:r>
            <a:r>
              <a:rPr lang="de-CH" dirty="0"/>
              <a:t> in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following</a:t>
            </a:r>
            <a:r>
              <a:rPr lang="de-CH" dirty="0"/>
              <a:t> </a:t>
            </a:r>
            <a:r>
              <a:rPr lang="de-CH" dirty="0" err="1"/>
              <a:t>slides</a:t>
            </a:r>
            <a:r>
              <a:rPr lang="de-CH" dirty="0"/>
              <a:t>.</a:t>
            </a:r>
          </a:p>
          <a:p>
            <a:endParaRPr lang="de-CH" dirty="0"/>
          </a:p>
          <a:p>
            <a:r>
              <a:rPr lang="de-CH" dirty="0" err="1"/>
              <a:t>However</a:t>
            </a:r>
            <a:r>
              <a:rPr lang="de-CH" dirty="0"/>
              <a:t>, </a:t>
            </a:r>
            <a:r>
              <a:rPr lang="de-CH" dirty="0" err="1"/>
              <a:t>what</a:t>
            </a:r>
            <a:r>
              <a:rPr lang="de-CH" dirty="0"/>
              <a:t> </a:t>
            </a:r>
            <a:r>
              <a:rPr lang="de-CH" dirty="0" err="1"/>
              <a:t>is</a:t>
            </a:r>
            <a:r>
              <a:rPr lang="de-CH" dirty="0"/>
              <a:t> not </a:t>
            </a:r>
            <a:r>
              <a:rPr lang="de-CH" dirty="0" err="1"/>
              <a:t>covered</a:t>
            </a:r>
            <a:r>
              <a:rPr lang="de-CH" dirty="0"/>
              <a:t> </a:t>
            </a:r>
            <a:r>
              <a:rPr lang="de-CH" dirty="0" err="1"/>
              <a:t>by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OECD </a:t>
            </a:r>
            <a:r>
              <a:rPr lang="de-CH" dirty="0" err="1"/>
              <a:t>are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consequences</a:t>
            </a:r>
            <a:r>
              <a:rPr lang="de-CH" dirty="0"/>
              <a:t> </a:t>
            </a:r>
            <a:r>
              <a:rPr lang="de-CH" dirty="0" err="1"/>
              <a:t>of</a:t>
            </a:r>
            <a:r>
              <a:rPr lang="de-CH" dirty="0"/>
              <a:t> </a:t>
            </a:r>
            <a:r>
              <a:rPr lang="de-CH" dirty="0" err="1"/>
              <a:t>changes</a:t>
            </a:r>
            <a:r>
              <a:rPr lang="de-CH" dirty="0"/>
              <a:t> </a:t>
            </a:r>
            <a:r>
              <a:rPr lang="de-CH" dirty="0" err="1"/>
              <a:t>of</a:t>
            </a:r>
            <a:r>
              <a:rPr lang="de-CH" dirty="0"/>
              <a:t> </a:t>
            </a:r>
            <a:r>
              <a:rPr lang="de-CH" dirty="0" err="1"/>
              <a:t>transactions</a:t>
            </a:r>
            <a:r>
              <a:rPr lang="de-CH" dirty="0"/>
              <a:t>. </a:t>
            </a:r>
            <a:r>
              <a:rPr lang="de-CH" dirty="0" err="1"/>
              <a:t>Modifications</a:t>
            </a:r>
            <a:r>
              <a:rPr lang="de-CH" dirty="0"/>
              <a:t> </a:t>
            </a:r>
            <a:r>
              <a:rPr lang="de-CH" dirty="0" err="1"/>
              <a:t>are</a:t>
            </a:r>
            <a:r>
              <a:rPr lang="de-CH" dirty="0"/>
              <a:t> not </a:t>
            </a:r>
            <a:r>
              <a:rPr lang="de-CH" dirty="0" err="1"/>
              <a:t>addressed</a:t>
            </a:r>
            <a:r>
              <a:rPr lang="de-CH" dirty="0"/>
              <a:t> </a:t>
            </a:r>
            <a:r>
              <a:rPr lang="de-CH" dirty="0" err="1"/>
              <a:t>or</a:t>
            </a:r>
            <a:r>
              <a:rPr lang="de-CH" dirty="0"/>
              <a:t> </a:t>
            </a:r>
            <a:r>
              <a:rPr lang="de-CH" dirty="0" err="1"/>
              <a:t>discussed</a:t>
            </a:r>
            <a:r>
              <a:rPr lang="de-CH" dirty="0"/>
              <a:t>. Every ECA </a:t>
            </a:r>
            <a:r>
              <a:rPr lang="de-CH" dirty="0" err="1"/>
              <a:t>has</a:t>
            </a:r>
            <a:r>
              <a:rPr lang="de-CH" dirty="0"/>
              <a:t> </a:t>
            </a:r>
            <a:r>
              <a:rPr lang="de-CH" dirty="0" err="1"/>
              <a:t>to</a:t>
            </a:r>
            <a:r>
              <a:rPr lang="de-CH" dirty="0"/>
              <a:t> </a:t>
            </a:r>
            <a:r>
              <a:rPr lang="de-CH" dirty="0" err="1"/>
              <a:t>think</a:t>
            </a:r>
            <a:r>
              <a:rPr lang="de-CH" dirty="0"/>
              <a:t> </a:t>
            </a:r>
            <a:r>
              <a:rPr lang="de-CH" dirty="0" err="1"/>
              <a:t>about</a:t>
            </a:r>
            <a:r>
              <a:rPr lang="de-CH" dirty="0"/>
              <a:t> </a:t>
            </a:r>
            <a:r>
              <a:rPr lang="de-CH" dirty="0" err="1"/>
              <a:t>how</a:t>
            </a:r>
            <a:r>
              <a:rPr lang="de-CH" dirty="0"/>
              <a:t> </a:t>
            </a:r>
            <a:r>
              <a:rPr lang="de-CH" dirty="0" err="1"/>
              <a:t>to</a:t>
            </a:r>
            <a:r>
              <a:rPr lang="de-CH" dirty="0"/>
              <a:t> </a:t>
            </a:r>
            <a:r>
              <a:rPr lang="de-CH" dirty="0" err="1"/>
              <a:t>price</a:t>
            </a:r>
            <a:r>
              <a:rPr lang="de-CH" dirty="0"/>
              <a:t> </a:t>
            </a:r>
            <a:r>
              <a:rPr lang="de-CH" dirty="0" err="1"/>
              <a:t>those</a:t>
            </a:r>
            <a:r>
              <a:rPr lang="de-CH" dirty="0"/>
              <a:t> </a:t>
            </a:r>
            <a:r>
              <a:rPr lang="de-CH" dirty="0" err="1"/>
              <a:t>modifications</a:t>
            </a:r>
            <a:r>
              <a:rPr lang="de-CH" dirty="0"/>
              <a:t>, also </a:t>
            </a:r>
            <a:r>
              <a:rPr lang="de-CH" dirty="0" err="1"/>
              <a:t>for</a:t>
            </a:r>
            <a:r>
              <a:rPr lang="de-CH" dirty="0"/>
              <a:t> OECD </a:t>
            </a:r>
            <a:r>
              <a:rPr lang="de-CH" dirty="0" err="1"/>
              <a:t>products</a:t>
            </a:r>
            <a:r>
              <a:rPr lang="de-CH" dirty="0"/>
              <a:t>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258DCC-F5A7-43B7-97CA-5D5F0416CAE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6477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 err="1"/>
              <a:t>You</a:t>
            </a:r>
            <a:r>
              <a:rPr lang="de-CH" dirty="0"/>
              <a:t> </a:t>
            </a:r>
            <a:r>
              <a:rPr lang="de-CH" dirty="0" err="1"/>
              <a:t>might</a:t>
            </a:r>
            <a:r>
              <a:rPr lang="de-CH" dirty="0"/>
              <a:t> </a:t>
            </a:r>
            <a:r>
              <a:rPr lang="de-CH" dirty="0" err="1"/>
              <a:t>ask</a:t>
            </a:r>
            <a:r>
              <a:rPr lang="de-CH" dirty="0"/>
              <a:t>: </a:t>
            </a:r>
            <a:r>
              <a:rPr lang="de-CH" dirty="0" err="1"/>
              <a:t>Why</a:t>
            </a:r>
            <a:r>
              <a:rPr lang="de-CH" dirty="0"/>
              <a:t> </a:t>
            </a:r>
            <a:r>
              <a:rPr lang="de-CH" dirty="0" err="1"/>
              <a:t>is</a:t>
            </a:r>
            <a:r>
              <a:rPr lang="de-CH" dirty="0"/>
              <a:t> </a:t>
            </a:r>
            <a:r>
              <a:rPr lang="de-CH" dirty="0" err="1"/>
              <a:t>it</a:t>
            </a:r>
            <a:r>
              <a:rPr lang="de-CH" dirty="0"/>
              <a:t> </a:t>
            </a:r>
            <a:r>
              <a:rPr lang="de-CH" dirty="0" err="1"/>
              <a:t>important</a:t>
            </a:r>
            <a:r>
              <a:rPr lang="de-CH" dirty="0"/>
              <a:t> </a:t>
            </a:r>
            <a:r>
              <a:rPr lang="de-CH" dirty="0" err="1"/>
              <a:t>how</a:t>
            </a:r>
            <a:r>
              <a:rPr lang="de-CH" dirty="0"/>
              <a:t> </a:t>
            </a:r>
            <a:r>
              <a:rPr lang="de-CH" dirty="0" err="1"/>
              <a:t>we</a:t>
            </a:r>
            <a:r>
              <a:rPr lang="de-CH" dirty="0"/>
              <a:t> </a:t>
            </a:r>
            <a:r>
              <a:rPr lang="de-CH" dirty="0" err="1"/>
              <a:t>price</a:t>
            </a:r>
            <a:r>
              <a:rPr lang="de-CH" dirty="0"/>
              <a:t> </a:t>
            </a:r>
            <a:r>
              <a:rPr lang="de-CH" dirty="0" err="1"/>
              <a:t>modifications</a:t>
            </a:r>
            <a:r>
              <a:rPr lang="de-CH" dirty="0"/>
              <a:t>? </a:t>
            </a:r>
            <a:r>
              <a:rPr lang="de-CH" dirty="0" err="1"/>
              <a:t>From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graph</a:t>
            </a:r>
            <a:r>
              <a:rPr lang="de-CH" dirty="0"/>
              <a:t> </a:t>
            </a:r>
            <a:r>
              <a:rPr lang="de-CH" dirty="0" err="1"/>
              <a:t>you</a:t>
            </a:r>
            <a:r>
              <a:rPr lang="de-CH" dirty="0"/>
              <a:t> </a:t>
            </a:r>
            <a:r>
              <a:rPr lang="de-CH" dirty="0" err="1"/>
              <a:t>see</a:t>
            </a:r>
            <a:r>
              <a:rPr lang="de-CH" dirty="0"/>
              <a:t> </a:t>
            </a:r>
            <a:r>
              <a:rPr lang="de-CH" dirty="0" err="1"/>
              <a:t>that</a:t>
            </a:r>
            <a:r>
              <a:rPr lang="de-CH" dirty="0"/>
              <a:t> </a:t>
            </a:r>
            <a:r>
              <a:rPr lang="de-CH" dirty="0" err="1"/>
              <a:t>less</a:t>
            </a:r>
            <a:r>
              <a:rPr lang="de-CH" dirty="0"/>
              <a:t> </a:t>
            </a:r>
            <a:r>
              <a:rPr lang="de-CH" dirty="0" err="1"/>
              <a:t>than</a:t>
            </a:r>
            <a:r>
              <a:rPr lang="de-CH" dirty="0"/>
              <a:t> half </a:t>
            </a:r>
            <a:r>
              <a:rPr lang="de-CH" dirty="0" err="1"/>
              <a:t>of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supplier </a:t>
            </a:r>
            <a:r>
              <a:rPr lang="de-CH" dirty="0" err="1"/>
              <a:t>or</a:t>
            </a:r>
            <a:r>
              <a:rPr lang="de-CH" dirty="0"/>
              <a:t> </a:t>
            </a:r>
            <a:r>
              <a:rPr lang="de-CH" dirty="0" err="1"/>
              <a:t>buyer</a:t>
            </a:r>
            <a:r>
              <a:rPr lang="de-CH" dirty="0"/>
              <a:t> </a:t>
            </a:r>
            <a:r>
              <a:rPr lang="de-CH" dirty="0" err="1"/>
              <a:t>credit</a:t>
            </a:r>
            <a:r>
              <a:rPr lang="de-CH" dirty="0"/>
              <a:t> </a:t>
            </a:r>
            <a:r>
              <a:rPr lang="de-CH" dirty="0" err="1"/>
              <a:t>insurances</a:t>
            </a:r>
            <a:r>
              <a:rPr lang="de-CH" dirty="0"/>
              <a:t> </a:t>
            </a:r>
            <a:r>
              <a:rPr lang="de-CH" dirty="0" err="1"/>
              <a:t>stay</a:t>
            </a:r>
            <a:r>
              <a:rPr lang="de-CH" dirty="0"/>
              <a:t> </a:t>
            </a:r>
            <a:r>
              <a:rPr lang="de-CH" dirty="0" err="1"/>
              <a:t>as</a:t>
            </a:r>
            <a:r>
              <a:rPr lang="de-CH" dirty="0"/>
              <a:t> </a:t>
            </a:r>
            <a:r>
              <a:rPr lang="de-CH" dirty="0" err="1"/>
              <a:t>they</a:t>
            </a:r>
            <a:r>
              <a:rPr lang="de-CH" dirty="0"/>
              <a:t> </a:t>
            </a:r>
            <a:r>
              <a:rPr lang="de-CH" dirty="0" err="1"/>
              <a:t>are</a:t>
            </a:r>
            <a:r>
              <a:rPr lang="de-CH" dirty="0"/>
              <a:t> in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beginning</a:t>
            </a:r>
            <a:r>
              <a:rPr lang="de-CH" dirty="0"/>
              <a:t>. 30% </a:t>
            </a:r>
            <a:r>
              <a:rPr lang="de-CH" dirty="0" err="1"/>
              <a:t>are</a:t>
            </a:r>
            <a:r>
              <a:rPr lang="de-CH" dirty="0"/>
              <a:t> </a:t>
            </a:r>
            <a:r>
              <a:rPr lang="de-CH" dirty="0" err="1"/>
              <a:t>changed</a:t>
            </a:r>
            <a:r>
              <a:rPr lang="de-CH" dirty="0"/>
              <a:t> </a:t>
            </a:r>
            <a:r>
              <a:rPr lang="de-CH" dirty="0" err="1"/>
              <a:t>once</a:t>
            </a:r>
            <a:r>
              <a:rPr lang="de-CH" dirty="0"/>
              <a:t> in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product</a:t>
            </a:r>
            <a:r>
              <a:rPr lang="de-CH" dirty="0"/>
              <a:t> </a:t>
            </a:r>
            <a:r>
              <a:rPr lang="de-CH" dirty="0" err="1"/>
              <a:t>life</a:t>
            </a:r>
            <a:r>
              <a:rPr lang="de-CH" dirty="0"/>
              <a:t>,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other</a:t>
            </a:r>
            <a:r>
              <a:rPr lang="de-CH" dirty="0"/>
              <a:t> 20% </a:t>
            </a:r>
            <a:r>
              <a:rPr lang="de-CH" dirty="0" err="1"/>
              <a:t>even</a:t>
            </a:r>
            <a:r>
              <a:rPr lang="de-CH" dirty="0"/>
              <a:t> </a:t>
            </a:r>
            <a:r>
              <a:rPr lang="de-CH" dirty="0" err="1"/>
              <a:t>more</a:t>
            </a:r>
            <a:r>
              <a:rPr lang="de-CH" dirty="0"/>
              <a:t> </a:t>
            </a:r>
            <a:r>
              <a:rPr lang="de-CH" dirty="0" err="1"/>
              <a:t>often</a:t>
            </a:r>
            <a:r>
              <a:rPr lang="de-CH" dirty="0"/>
              <a:t>.</a:t>
            </a:r>
          </a:p>
          <a:p>
            <a:r>
              <a:rPr lang="de-CH" dirty="0" err="1"/>
              <a:t>One</a:t>
            </a:r>
            <a:r>
              <a:rPr lang="de-CH" dirty="0"/>
              <a:t> </a:t>
            </a:r>
            <a:r>
              <a:rPr lang="de-CH" dirty="0" err="1"/>
              <a:t>might</a:t>
            </a:r>
            <a:r>
              <a:rPr lang="de-CH" dirty="0"/>
              <a:t> </a:t>
            </a:r>
            <a:r>
              <a:rPr lang="de-CH" dirty="0" err="1"/>
              <a:t>think</a:t>
            </a:r>
            <a:r>
              <a:rPr lang="de-CH" dirty="0"/>
              <a:t> </a:t>
            </a:r>
            <a:r>
              <a:rPr lang="de-CH" dirty="0" err="1"/>
              <a:t>that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exporter</a:t>
            </a:r>
            <a:r>
              <a:rPr lang="de-CH" dirty="0"/>
              <a:t> </a:t>
            </a:r>
            <a:r>
              <a:rPr lang="de-CH" dirty="0" err="1"/>
              <a:t>knows</a:t>
            </a:r>
            <a:r>
              <a:rPr lang="de-CH" dirty="0"/>
              <a:t> </a:t>
            </a:r>
            <a:r>
              <a:rPr lang="de-CH" dirty="0" err="1"/>
              <a:t>when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deliveries</a:t>
            </a:r>
            <a:r>
              <a:rPr lang="de-CH" dirty="0"/>
              <a:t> </a:t>
            </a:r>
            <a:r>
              <a:rPr lang="de-CH" dirty="0" err="1"/>
              <a:t>take</a:t>
            </a:r>
            <a:r>
              <a:rPr lang="de-CH" dirty="0"/>
              <a:t> </a:t>
            </a:r>
            <a:r>
              <a:rPr lang="de-CH" dirty="0" err="1"/>
              <a:t>place</a:t>
            </a:r>
            <a:r>
              <a:rPr lang="de-CH" dirty="0"/>
              <a:t>, and </a:t>
            </a:r>
            <a:r>
              <a:rPr lang="de-CH" dirty="0" err="1"/>
              <a:t>when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buyer</a:t>
            </a:r>
            <a:r>
              <a:rPr lang="de-CH" dirty="0"/>
              <a:t> </a:t>
            </a:r>
            <a:r>
              <a:rPr lang="de-CH" dirty="0" err="1"/>
              <a:t>pays</a:t>
            </a:r>
            <a:r>
              <a:rPr lang="de-CH" dirty="0"/>
              <a:t> </a:t>
            </a:r>
            <a:r>
              <a:rPr lang="de-CH" dirty="0" err="1"/>
              <a:t>for</a:t>
            </a:r>
            <a:r>
              <a:rPr lang="de-CH" dirty="0"/>
              <a:t> </a:t>
            </a:r>
            <a:r>
              <a:rPr lang="de-CH" dirty="0" err="1"/>
              <a:t>them</a:t>
            </a:r>
            <a:r>
              <a:rPr lang="de-CH" dirty="0"/>
              <a:t>. </a:t>
            </a:r>
            <a:r>
              <a:rPr lang="de-CH" dirty="0" err="1"/>
              <a:t>However</a:t>
            </a:r>
            <a:r>
              <a:rPr lang="de-CH" dirty="0"/>
              <a:t>, </a:t>
            </a:r>
            <a:r>
              <a:rPr lang="de-CH" dirty="0" err="1"/>
              <a:t>reality</a:t>
            </a:r>
            <a:r>
              <a:rPr lang="de-CH" dirty="0"/>
              <a:t> </a:t>
            </a:r>
            <a:r>
              <a:rPr lang="de-CH" dirty="0" err="1"/>
              <a:t>proves</a:t>
            </a:r>
            <a:r>
              <a:rPr lang="de-CH" dirty="0"/>
              <a:t> different. </a:t>
            </a:r>
            <a:r>
              <a:rPr lang="de-CH" dirty="0">
                <a:sym typeface="Wingdings" panose="05000000000000000000" pitchFamily="2" charset="2"/>
              </a:rPr>
              <a:t> List</a:t>
            </a:r>
            <a:endParaRPr lang="de-CH" dirty="0"/>
          </a:p>
          <a:p>
            <a:r>
              <a:rPr lang="de-CH" dirty="0"/>
              <a:t>This </a:t>
            </a:r>
            <a:r>
              <a:rPr lang="de-CH" dirty="0" err="1"/>
              <a:t>shows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importance</a:t>
            </a:r>
            <a:r>
              <a:rPr lang="de-CH" dirty="0"/>
              <a:t> </a:t>
            </a:r>
            <a:r>
              <a:rPr lang="de-CH" dirty="0" err="1"/>
              <a:t>of</a:t>
            </a:r>
            <a:r>
              <a:rPr lang="de-CH" dirty="0"/>
              <a:t> </a:t>
            </a:r>
            <a:r>
              <a:rPr lang="de-CH" dirty="0" err="1"/>
              <a:t>defining</a:t>
            </a:r>
            <a:r>
              <a:rPr lang="de-CH" dirty="0"/>
              <a:t> </a:t>
            </a:r>
            <a:r>
              <a:rPr lang="de-CH" dirty="0" err="1"/>
              <a:t>how</a:t>
            </a:r>
            <a:r>
              <a:rPr lang="de-CH" dirty="0"/>
              <a:t> </a:t>
            </a:r>
            <a:r>
              <a:rPr lang="de-CH" dirty="0" err="1"/>
              <a:t>to</a:t>
            </a:r>
            <a:r>
              <a:rPr lang="de-CH" dirty="0"/>
              <a:t> </a:t>
            </a:r>
            <a:r>
              <a:rPr lang="de-CH" dirty="0" err="1"/>
              <a:t>price</a:t>
            </a:r>
            <a:r>
              <a:rPr lang="de-CH" dirty="0"/>
              <a:t> </a:t>
            </a:r>
            <a:r>
              <a:rPr lang="de-CH" dirty="0" err="1"/>
              <a:t>modifications</a:t>
            </a:r>
            <a:r>
              <a:rPr lang="de-CH" dirty="0"/>
              <a:t>. </a:t>
            </a:r>
            <a:r>
              <a:rPr lang="de-CH" dirty="0" err="1"/>
              <a:t>If</a:t>
            </a:r>
            <a:r>
              <a:rPr lang="de-CH" dirty="0"/>
              <a:t> </a:t>
            </a:r>
            <a:r>
              <a:rPr lang="de-CH" dirty="0" err="1"/>
              <a:t>there</a:t>
            </a:r>
            <a:r>
              <a:rPr lang="de-CH" dirty="0"/>
              <a:t> </a:t>
            </a:r>
            <a:r>
              <a:rPr lang="de-CH" dirty="0" err="1"/>
              <a:t>are</a:t>
            </a:r>
            <a:r>
              <a:rPr lang="de-CH" dirty="0"/>
              <a:t> </a:t>
            </a:r>
            <a:r>
              <a:rPr lang="de-CH" dirty="0" err="1"/>
              <a:t>shifts</a:t>
            </a:r>
            <a:r>
              <a:rPr lang="de-CH" dirty="0"/>
              <a:t> </a:t>
            </a:r>
            <a:r>
              <a:rPr lang="de-CH" dirty="0" err="1"/>
              <a:t>of</a:t>
            </a:r>
            <a:r>
              <a:rPr lang="de-CH" dirty="0"/>
              <a:t> a </a:t>
            </a:r>
            <a:r>
              <a:rPr lang="de-CH" dirty="0" err="1"/>
              <a:t>few</a:t>
            </a:r>
            <a:r>
              <a:rPr lang="de-CH" dirty="0"/>
              <a:t> </a:t>
            </a:r>
            <a:r>
              <a:rPr lang="de-CH" dirty="0" err="1"/>
              <a:t>days</a:t>
            </a:r>
            <a:r>
              <a:rPr lang="de-CH" dirty="0"/>
              <a:t>, pricing </a:t>
            </a:r>
            <a:r>
              <a:rPr lang="de-CH" dirty="0" err="1"/>
              <a:t>may</a:t>
            </a:r>
            <a:r>
              <a:rPr lang="de-CH" dirty="0"/>
              <a:t> not </a:t>
            </a:r>
            <a:r>
              <a:rPr lang="de-CH" dirty="0" err="1"/>
              <a:t>be</a:t>
            </a:r>
            <a:r>
              <a:rPr lang="de-CH" dirty="0"/>
              <a:t> </a:t>
            </a:r>
            <a:r>
              <a:rPr lang="de-CH" dirty="0" err="1"/>
              <a:t>that</a:t>
            </a:r>
            <a:r>
              <a:rPr lang="de-CH" dirty="0"/>
              <a:t> </a:t>
            </a:r>
            <a:r>
              <a:rPr lang="de-CH" dirty="0" err="1"/>
              <a:t>important</a:t>
            </a:r>
            <a:r>
              <a:rPr lang="de-CH" dirty="0"/>
              <a:t>. </a:t>
            </a:r>
            <a:r>
              <a:rPr lang="de-CH" dirty="0" err="1"/>
              <a:t>If</a:t>
            </a:r>
            <a:r>
              <a:rPr lang="de-CH" dirty="0"/>
              <a:t> </a:t>
            </a:r>
            <a:r>
              <a:rPr lang="de-CH" dirty="0" err="1"/>
              <a:t>there</a:t>
            </a:r>
            <a:r>
              <a:rPr lang="de-CH" dirty="0"/>
              <a:t> </a:t>
            </a:r>
            <a:r>
              <a:rPr lang="de-CH" dirty="0" err="1"/>
              <a:t>are</a:t>
            </a:r>
            <a:r>
              <a:rPr lang="de-CH" dirty="0"/>
              <a:t> </a:t>
            </a:r>
            <a:r>
              <a:rPr lang="de-CH" dirty="0" err="1"/>
              <a:t>major</a:t>
            </a:r>
            <a:r>
              <a:rPr lang="de-CH" dirty="0"/>
              <a:t> </a:t>
            </a:r>
            <a:r>
              <a:rPr lang="de-CH" dirty="0" err="1"/>
              <a:t>changes</a:t>
            </a:r>
            <a:r>
              <a:rPr lang="de-CH" dirty="0"/>
              <a:t> in </a:t>
            </a:r>
            <a:r>
              <a:rPr lang="de-CH" dirty="0" err="1"/>
              <a:t>terms</a:t>
            </a:r>
            <a:r>
              <a:rPr lang="de-CH" dirty="0"/>
              <a:t> </a:t>
            </a:r>
            <a:r>
              <a:rPr lang="de-CH" dirty="0" err="1"/>
              <a:t>of</a:t>
            </a:r>
            <a:r>
              <a:rPr lang="de-CH" dirty="0"/>
              <a:t> </a:t>
            </a:r>
            <a:r>
              <a:rPr lang="de-CH" dirty="0" err="1"/>
              <a:t>amounts</a:t>
            </a:r>
            <a:r>
              <a:rPr lang="de-CH" dirty="0"/>
              <a:t> </a:t>
            </a:r>
            <a:r>
              <a:rPr lang="de-CH" dirty="0" err="1"/>
              <a:t>or</a:t>
            </a:r>
            <a:r>
              <a:rPr lang="de-CH" dirty="0"/>
              <a:t> time, </a:t>
            </a:r>
            <a:r>
              <a:rPr lang="de-CH" dirty="0" err="1"/>
              <a:t>for</a:t>
            </a:r>
            <a:r>
              <a:rPr lang="de-CH" dirty="0"/>
              <a:t> </a:t>
            </a:r>
            <a:r>
              <a:rPr lang="de-CH" dirty="0" err="1"/>
              <a:t>example</a:t>
            </a:r>
            <a:r>
              <a:rPr lang="de-CH" dirty="0"/>
              <a:t> </a:t>
            </a:r>
            <a:r>
              <a:rPr lang="de-CH" dirty="0" err="1"/>
              <a:t>delays</a:t>
            </a:r>
            <a:r>
              <a:rPr lang="de-CH" dirty="0"/>
              <a:t> </a:t>
            </a:r>
            <a:r>
              <a:rPr lang="de-CH" dirty="0" err="1"/>
              <a:t>of</a:t>
            </a:r>
            <a:r>
              <a:rPr lang="de-CH" dirty="0"/>
              <a:t> </a:t>
            </a:r>
            <a:r>
              <a:rPr lang="de-CH" dirty="0" err="1"/>
              <a:t>delivery</a:t>
            </a:r>
            <a:r>
              <a:rPr lang="de-CH" dirty="0"/>
              <a:t> </a:t>
            </a:r>
            <a:r>
              <a:rPr lang="de-CH" dirty="0" err="1"/>
              <a:t>or</a:t>
            </a:r>
            <a:r>
              <a:rPr lang="de-CH" dirty="0"/>
              <a:t> </a:t>
            </a:r>
            <a:r>
              <a:rPr lang="de-CH" dirty="0" err="1"/>
              <a:t>prolongation</a:t>
            </a:r>
            <a:r>
              <a:rPr lang="de-CH" dirty="0"/>
              <a:t> </a:t>
            </a:r>
            <a:r>
              <a:rPr lang="de-CH" dirty="0" err="1"/>
              <a:t>of</a:t>
            </a:r>
            <a:r>
              <a:rPr lang="de-CH" dirty="0"/>
              <a:t> </a:t>
            </a:r>
            <a:r>
              <a:rPr lang="de-CH" dirty="0" err="1"/>
              <a:t>buyer’s</a:t>
            </a:r>
            <a:r>
              <a:rPr lang="de-CH" dirty="0"/>
              <a:t> </a:t>
            </a:r>
            <a:r>
              <a:rPr lang="de-CH" dirty="0" err="1"/>
              <a:t>credit</a:t>
            </a:r>
            <a:r>
              <a:rPr lang="de-CH" dirty="0"/>
              <a:t> due </a:t>
            </a:r>
            <a:r>
              <a:rPr lang="de-CH" dirty="0" err="1"/>
              <a:t>to</a:t>
            </a:r>
            <a:r>
              <a:rPr lang="de-CH" dirty="0"/>
              <a:t> a </a:t>
            </a:r>
            <a:r>
              <a:rPr lang="de-CH" dirty="0" err="1"/>
              <a:t>restructuring</a:t>
            </a:r>
            <a:r>
              <a:rPr lang="de-CH" dirty="0"/>
              <a:t>,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amounts</a:t>
            </a:r>
            <a:r>
              <a:rPr lang="de-CH" dirty="0"/>
              <a:t> ARE relevant.</a:t>
            </a:r>
          </a:p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258DCC-F5A7-43B7-97CA-5D5F0416CAE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6340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258DCC-F5A7-43B7-97CA-5D5F0416CAE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4124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As an </a:t>
            </a:r>
            <a:r>
              <a:rPr lang="de-CH" dirty="0" err="1"/>
              <a:t>example</a:t>
            </a:r>
            <a:r>
              <a:rPr lang="de-CH" dirty="0"/>
              <a:t>, </a:t>
            </a:r>
            <a:r>
              <a:rPr lang="de-CH" dirty="0" err="1"/>
              <a:t>we</a:t>
            </a:r>
            <a:r>
              <a:rPr lang="de-CH" dirty="0"/>
              <a:t> </a:t>
            </a:r>
            <a:r>
              <a:rPr lang="de-CH" dirty="0" err="1"/>
              <a:t>take</a:t>
            </a:r>
            <a:r>
              <a:rPr lang="de-CH" dirty="0"/>
              <a:t> a </a:t>
            </a:r>
            <a:r>
              <a:rPr lang="de-CH" dirty="0" err="1"/>
              <a:t>buyer</a:t>
            </a:r>
            <a:r>
              <a:rPr lang="de-CH" dirty="0"/>
              <a:t> </a:t>
            </a:r>
            <a:r>
              <a:rPr lang="de-CH" dirty="0" err="1"/>
              <a:t>credit</a:t>
            </a:r>
            <a:r>
              <a:rPr lang="de-CH" dirty="0"/>
              <a:t> </a:t>
            </a:r>
            <a:r>
              <a:rPr lang="de-CH" dirty="0" err="1"/>
              <a:t>with</a:t>
            </a:r>
            <a:r>
              <a:rPr lang="de-CH" dirty="0"/>
              <a:t> a cover </a:t>
            </a:r>
            <a:r>
              <a:rPr lang="de-CH" dirty="0" err="1"/>
              <a:t>of</a:t>
            </a:r>
            <a:r>
              <a:rPr lang="de-CH" dirty="0"/>
              <a:t> 9000 EUR. This </a:t>
            </a:r>
            <a:r>
              <a:rPr lang="de-CH" dirty="0" err="1"/>
              <a:t>is</a:t>
            </a:r>
            <a:r>
              <a:rPr lang="de-CH" dirty="0"/>
              <a:t> </a:t>
            </a:r>
            <a:r>
              <a:rPr lang="de-CH" dirty="0" err="1"/>
              <a:t>what</a:t>
            </a:r>
            <a:r>
              <a:rPr lang="de-CH" dirty="0"/>
              <a:t> </a:t>
            </a:r>
            <a:r>
              <a:rPr lang="de-CH" dirty="0" err="1"/>
              <a:t>we</a:t>
            </a:r>
            <a:r>
              <a:rPr lang="de-CH" dirty="0"/>
              <a:t> </a:t>
            </a:r>
            <a:r>
              <a:rPr lang="de-CH" dirty="0" err="1"/>
              <a:t>would</a:t>
            </a:r>
            <a:r>
              <a:rPr lang="de-CH" dirty="0"/>
              <a:t> </a:t>
            </a:r>
            <a:r>
              <a:rPr lang="de-CH" dirty="0" err="1"/>
              <a:t>effectively</a:t>
            </a:r>
            <a:r>
              <a:rPr lang="de-CH" dirty="0"/>
              <a:t> </a:t>
            </a:r>
            <a:r>
              <a:rPr lang="de-CH" dirty="0" err="1"/>
              <a:t>pay</a:t>
            </a:r>
            <a:r>
              <a:rPr lang="de-CH" dirty="0"/>
              <a:t> </a:t>
            </a:r>
            <a:r>
              <a:rPr lang="de-CH" dirty="0" err="1"/>
              <a:t>if</a:t>
            </a:r>
            <a:r>
              <a:rPr lang="de-CH" dirty="0"/>
              <a:t> </a:t>
            </a:r>
            <a:r>
              <a:rPr lang="de-CH" dirty="0" err="1"/>
              <a:t>we</a:t>
            </a:r>
            <a:r>
              <a:rPr lang="de-CH" dirty="0"/>
              <a:t> </a:t>
            </a:r>
            <a:r>
              <a:rPr lang="de-CH" dirty="0" err="1"/>
              <a:t>have</a:t>
            </a:r>
            <a:r>
              <a:rPr lang="de-CH" dirty="0"/>
              <a:t> a </a:t>
            </a:r>
            <a:r>
              <a:rPr lang="de-CH" dirty="0" err="1"/>
              <a:t>claim</a:t>
            </a:r>
            <a:r>
              <a:rPr lang="de-CH" dirty="0"/>
              <a:t>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258DCC-F5A7-43B7-97CA-5D5F0416CAE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1002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The </a:t>
            </a:r>
            <a:r>
              <a:rPr lang="de-CH" dirty="0" err="1"/>
              <a:t>question</a:t>
            </a:r>
            <a:r>
              <a:rPr lang="de-CH" dirty="0"/>
              <a:t> </a:t>
            </a:r>
            <a:r>
              <a:rPr lang="de-CH" dirty="0" err="1"/>
              <a:t>is</a:t>
            </a:r>
            <a:r>
              <a:rPr lang="de-CH" dirty="0"/>
              <a:t>: </a:t>
            </a:r>
            <a:r>
              <a:rPr lang="de-CH" dirty="0" err="1"/>
              <a:t>Which</a:t>
            </a:r>
            <a:r>
              <a:rPr lang="de-CH" dirty="0"/>
              <a:t> premium do </a:t>
            </a:r>
            <a:r>
              <a:rPr lang="de-CH" dirty="0" err="1"/>
              <a:t>we</a:t>
            </a:r>
            <a:r>
              <a:rPr lang="de-CH" dirty="0"/>
              <a:t> </a:t>
            </a:r>
            <a:r>
              <a:rPr lang="de-CH" dirty="0" err="1"/>
              <a:t>ask</a:t>
            </a:r>
            <a:r>
              <a:rPr lang="de-CH" dirty="0"/>
              <a:t> </a:t>
            </a:r>
            <a:r>
              <a:rPr lang="de-CH" dirty="0" err="1"/>
              <a:t>for</a:t>
            </a:r>
            <a:r>
              <a:rPr lang="de-CH" dirty="0"/>
              <a:t> </a:t>
            </a:r>
            <a:r>
              <a:rPr lang="de-CH" dirty="0" err="1"/>
              <a:t>this</a:t>
            </a:r>
            <a:r>
              <a:rPr lang="de-CH" dirty="0"/>
              <a:t> additional cover </a:t>
            </a:r>
            <a:r>
              <a:rPr lang="de-CH" dirty="0" err="1"/>
              <a:t>amount</a:t>
            </a:r>
            <a:r>
              <a:rPr lang="de-CH" dirty="0"/>
              <a:t>?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258DCC-F5A7-43B7-97CA-5D5F0416CAE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1371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BDF27BC-239A-18B5-C52F-23F32E14897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5268687"/>
          </a:xfrm>
          <a:solidFill>
            <a:schemeClr val="bg2"/>
          </a:solidFill>
        </p:spPr>
        <p:txBody>
          <a:bodyPr lIns="360000" tIns="360000" anchor="t"/>
          <a:lstStyle>
            <a:lvl1pPr algn="ctr"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Insert image with copy/paste</a:t>
            </a:r>
          </a:p>
          <a:p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488E69D-9C52-B700-1828-E4E20B22DB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0" y="1367246"/>
            <a:ext cx="7236823" cy="3091543"/>
          </a:xfrm>
          <a:solidFill>
            <a:schemeClr val="accent1">
              <a:alpha val="60000"/>
            </a:schemeClr>
          </a:solidFill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5" name="Text Placeholder 13">
            <a:extLst>
              <a:ext uri="{FF2B5EF4-FFF2-40B4-BE49-F238E27FC236}">
                <a16:creationId xmlns:a16="http://schemas.microsoft.com/office/drawing/2014/main" id="{7D948EED-DB89-D0F8-D9DC-C7E7D1DE5BF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6837" y="1849109"/>
            <a:ext cx="6093922" cy="677108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 of presentation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2235FD-1698-29F0-62C3-881CE49F09D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6837" y="6204781"/>
            <a:ext cx="2743200" cy="162177"/>
          </a:xfrm>
        </p:spPr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03 October 2024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0731E8-AC01-4E2F-B732-BC1310984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86263" y="6381748"/>
            <a:ext cx="4443413" cy="483831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US"/>
              <a:t>Title of your presentation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23146F-5A9B-671E-16B4-80FFA7627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2639AB5E-215F-4BC4-9EB7-C8883DA834C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16FF367-6F86-66E4-B70D-6FD731711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6837" y="2851951"/>
            <a:ext cx="540000" cy="28800"/>
          </a:xfrm>
          <a:solidFill>
            <a:schemeClr val="bg1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7ED103D-AA0E-A119-9FC8-8CC26BA6EF1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6837" y="3254224"/>
            <a:ext cx="5637912" cy="688453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B5E47CD8-B419-2E47-5958-55426120EB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6837" y="5897656"/>
            <a:ext cx="2743200" cy="184788"/>
          </a:xfrm>
        </p:spPr>
        <p:txBody>
          <a:bodyPr anchor="b"/>
          <a:lstStyle>
            <a:lvl1pPr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Author | Position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73DD657A-6895-66FB-1A7B-68B38B7B6D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61451" y="5814011"/>
            <a:ext cx="2697162" cy="582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31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icture Placeholder 6">
            <a:extLst>
              <a:ext uri="{FF2B5EF4-FFF2-40B4-BE49-F238E27FC236}">
                <a16:creationId xmlns:a16="http://schemas.microsoft.com/office/drawing/2014/main" id="{5C1D65AC-897F-33B3-090E-0878AD46803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53841" y="0"/>
            <a:ext cx="5538159" cy="6867030"/>
          </a:xfrm>
          <a:solidFill>
            <a:schemeClr val="bg2"/>
          </a:solidFill>
        </p:spPr>
        <p:txBody>
          <a:bodyPr bIns="720000" anchor="ctr"/>
          <a:lstStyle>
            <a:lvl1pPr algn="ctr">
              <a:defRPr/>
            </a:lvl1pPr>
          </a:lstStyle>
          <a:p>
            <a:r>
              <a:rPr lang="en-US" dirty="0"/>
              <a:t>Insert image by clicking on the symbol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261BE5-EA35-63DC-3AE8-3090FC213A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913" y="1528934"/>
            <a:ext cx="5167313" cy="688202"/>
          </a:xfrm>
        </p:spPr>
        <p:txBody>
          <a:bodyPr/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754174-F3D0-45FD-90FB-9918765A4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 October 2024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CFDFB-77EC-797E-EAB7-4377D7376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66813" y="1042989"/>
            <a:ext cx="4443413" cy="235351"/>
          </a:xfrm>
        </p:spPr>
        <p:txBody>
          <a:bodyPr/>
          <a:lstStyle/>
          <a:p>
            <a:r>
              <a:rPr lang="en-US" dirty="0"/>
              <a:t>Title of your presentation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CC1298-CBAC-DD46-AF9E-07136153E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2639AB5E-215F-4BC4-9EB7-C8883DA834C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FA78D28-420B-6F1E-5E64-74FBBB542547}"/>
              </a:ext>
            </a:extLst>
          </p:cNvPr>
          <p:cNvCxnSpPr>
            <a:cxnSpLocks/>
          </p:cNvCxnSpPr>
          <p:nvPr userDrawn="1"/>
        </p:nvCxnSpPr>
        <p:spPr>
          <a:xfrm>
            <a:off x="0" y="1160664"/>
            <a:ext cx="982913" cy="0"/>
          </a:xfrm>
          <a:prstGeom prst="line">
            <a:avLst/>
          </a:prstGeom>
          <a:ln w="28575">
            <a:solidFill>
              <a:srgbClr val="D7081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 Placeholder 13">
            <a:extLst>
              <a:ext uri="{FF2B5EF4-FFF2-40B4-BE49-F238E27FC236}">
                <a16:creationId xmlns:a16="http://schemas.microsoft.com/office/drawing/2014/main" id="{78A0FAE8-D0FD-293C-559B-E586C203C25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2913" y="3015248"/>
            <a:ext cx="5167313" cy="3185524"/>
          </a:xfrm>
        </p:spPr>
        <p:txBody>
          <a:bodyPr/>
          <a:lstStyle>
            <a:lvl1pPr marL="504000" indent="-504000">
              <a:spcBef>
                <a:spcPts val="0"/>
              </a:spcBef>
              <a:spcAft>
                <a:spcPts val="1800"/>
              </a:spcAft>
              <a:buClr>
                <a:schemeClr val="accent1"/>
              </a:buClr>
              <a:buFont typeface="+mj-lt"/>
              <a:buAutoNum type="arabicPeriod"/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Chapter 1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1643289-E0FA-7404-256B-F71B4230FE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2913" y="286802"/>
            <a:ext cx="895350" cy="193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980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>
        <p:tmplLst>
          <p:tmpl>
            <p:tnLst>
              <p:par>
                <p:cTn presetID="2" presetClass="entr" presetSubtype="2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8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8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reak / Chapter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233E7-8ADB-ED78-01D3-F5A02B9AA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96076" y="3770398"/>
            <a:ext cx="4391024" cy="688202"/>
          </a:xfrm>
        </p:spPr>
        <p:txBody>
          <a:bodyPr anchor="ctr"/>
          <a:lstStyle>
            <a:lvl1pPr algn="l"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Chapter 1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EA7E00-72D1-6A90-4819-3D7EDA0E8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 October 2024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A47956-2A64-ED55-8D71-02E9A96C9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2639AB5E-215F-4BC4-9EB7-C8883DA834C0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7491B1F6-8135-DC82-AC7F-DAF721B43279}"/>
              </a:ext>
            </a:extLst>
          </p:cNvPr>
          <p:cNvGrpSpPr/>
          <p:nvPr userDrawn="1"/>
        </p:nvGrpSpPr>
        <p:grpSpPr>
          <a:xfrm>
            <a:off x="442913" y="273319"/>
            <a:ext cx="888999" cy="207693"/>
            <a:chOff x="442913" y="273319"/>
            <a:chExt cx="888999" cy="207693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0833DB12-FD6D-69F0-70F1-CC2DCF6618CC}"/>
                </a:ext>
              </a:extLst>
            </p:cNvPr>
            <p:cNvGrpSpPr/>
            <p:nvPr userDrawn="1"/>
          </p:nvGrpSpPr>
          <p:grpSpPr>
            <a:xfrm>
              <a:off x="804945" y="273319"/>
              <a:ext cx="526967" cy="207693"/>
              <a:chOff x="9696682" y="2632752"/>
              <a:chExt cx="8181141" cy="2968662"/>
            </a:xfrm>
            <a:solidFill>
              <a:schemeClr val="bg1"/>
            </a:solidFill>
          </p:grpSpPr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4059ABD5-3E8A-1A79-73B4-6C5C1CF7F4B4}"/>
                  </a:ext>
                </a:extLst>
              </p:cNvPr>
              <p:cNvSpPr/>
              <p:nvPr/>
            </p:nvSpPr>
            <p:spPr>
              <a:xfrm>
                <a:off x="9696682" y="2632752"/>
                <a:ext cx="1744459" cy="2967561"/>
              </a:xfrm>
              <a:custGeom>
                <a:avLst/>
                <a:gdLst>
                  <a:gd name="connsiteX0" fmla="*/ 1228601 w 1744459"/>
                  <a:gd name="connsiteY0" fmla="*/ 845832 h 2967561"/>
                  <a:gd name="connsiteX1" fmla="*/ 887628 w 1744459"/>
                  <a:gd name="connsiteY1" fmla="*/ 489461 h 2967561"/>
                  <a:gd name="connsiteX2" fmla="*/ 626950 w 1744459"/>
                  <a:gd name="connsiteY2" fmla="*/ 718242 h 2967561"/>
                  <a:gd name="connsiteX3" fmla="*/ 1744460 w 1744459"/>
                  <a:gd name="connsiteY3" fmla="*/ 2196523 h 2967561"/>
                  <a:gd name="connsiteX4" fmla="*/ 909627 w 1744459"/>
                  <a:gd name="connsiteY4" fmla="*/ 2967561 h 2967561"/>
                  <a:gd name="connsiteX5" fmla="*/ 0 w 1744459"/>
                  <a:gd name="connsiteY5" fmla="*/ 2170125 h 2967561"/>
                  <a:gd name="connsiteX6" fmla="*/ 521358 w 1744459"/>
                  <a:gd name="connsiteY6" fmla="*/ 2026037 h 2967561"/>
                  <a:gd name="connsiteX7" fmla="*/ 915126 w 1744459"/>
                  <a:gd name="connsiteY7" fmla="*/ 2478101 h 2967561"/>
                  <a:gd name="connsiteX8" fmla="*/ 1181305 w 1744459"/>
                  <a:gd name="connsiteY8" fmla="*/ 2228421 h 2967561"/>
                  <a:gd name="connsiteX9" fmla="*/ 63795 w 1744459"/>
                  <a:gd name="connsiteY9" fmla="*/ 765538 h 2967561"/>
                  <a:gd name="connsiteX10" fmla="*/ 861231 w 1744459"/>
                  <a:gd name="connsiteY10" fmla="*/ 0 h 2967561"/>
                  <a:gd name="connsiteX11" fmla="*/ 1733461 w 1744459"/>
                  <a:gd name="connsiteY11" fmla="*/ 761139 h 2967561"/>
                  <a:gd name="connsiteX12" fmla="*/ 1228601 w 1744459"/>
                  <a:gd name="connsiteY12" fmla="*/ 845832 h 29675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744459" h="2967561">
                    <a:moveTo>
                      <a:pt x="1228601" y="845832"/>
                    </a:moveTo>
                    <a:cubicBezTo>
                      <a:pt x="1185705" y="617050"/>
                      <a:pt x="1080113" y="489461"/>
                      <a:pt x="887628" y="489461"/>
                    </a:cubicBezTo>
                    <a:cubicBezTo>
                      <a:pt x="733641" y="489461"/>
                      <a:pt x="626950" y="569754"/>
                      <a:pt x="626950" y="718242"/>
                    </a:cubicBezTo>
                    <a:cubicBezTo>
                      <a:pt x="626950" y="1164806"/>
                      <a:pt x="1744460" y="1346292"/>
                      <a:pt x="1744460" y="2196523"/>
                    </a:cubicBezTo>
                    <a:cubicBezTo>
                      <a:pt x="1744460" y="2706882"/>
                      <a:pt x="1393588" y="2967561"/>
                      <a:pt x="909627" y="2967561"/>
                    </a:cubicBezTo>
                    <a:cubicBezTo>
                      <a:pt x="388269" y="2967561"/>
                      <a:pt x="90193" y="2669485"/>
                      <a:pt x="0" y="2170125"/>
                    </a:cubicBezTo>
                    <a:lnTo>
                      <a:pt x="521358" y="2026037"/>
                    </a:lnTo>
                    <a:cubicBezTo>
                      <a:pt x="558755" y="2265818"/>
                      <a:pt x="643448" y="2478101"/>
                      <a:pt x="915126" y="2478101"/>
                    </a:cubicBezTo>
                    <a:cubicBezTo>
                      <a:pt x="1069114" y="2478101"/>
                      <a:pt x="1181305" y="2387908"/>
                      <a:pt x="1181305" y="2228421"/>
                    </a:cubicBezTo>
                    <a:cubicBezTo>
                      <a:pt x="1181305" y="1733461"/>
                      <a:pt x="63795" y="1547575"/>
                      <a:pt x="63795" y="765538"/>
                    </a:cubicBezTo>
                    <a:cubicBezTo>
                      <a:pt x="63795" y="313475"/>
                      <a:pt x="414667" y="0"/>
                      <a:pt x="861231" y="0"/>
                    </a:cubicBezTo>
                    <a:cubicBezTo>
                      <a:pt x="1307795" y="0"/>
                      <a:pt x="1643268" y="313475"/>
                      <a:pt x="1733461" y="761139"/>
                    </a:cubicBezTo>
                    <a:lnTo>
                      <a:pt x="1228601" y="845832"/>
                    </a:lnTo>
                    <a:close/>
                  </a:path>
                </a:pathLst>
              </a:custGeom>
              <a:grpFill/>
              <a:ln w="1099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EAA7DECB-2699-CA5B-1F30-03A2854C1AB8}"/>
                  </a:ext>
                </a:extLst>
              </p:cNvPr>
              <p:cNvSpPr/>
              <p:nvPr/>
            </p:nvSpPr>
            <p:spPr>
              <a:xfrm>
                <a:off x="11852505" y="2632753"/>
                <a:ext cx="1850054" cy="2968661"/>
              </a:xfrm>
              <a:custGeom>
                <a:avLst/>
                <a:gdLst>
                  <a:gd name="connsiteX0" fmla="*/ 1850055 w 1850054"/>
                  <a:gd name="connsiteY0" fmla="*/ 1595972 h 2968661"/>
                  <a:gd name="connsiteX1" fmla="*/ 595056 w 1850054"/>
                  <a:gd name="connsiteY1" fmla="*/ 1595972 h 2968661"/>
                  <a:gd name="connsiteX2" fmla="*/ 595056 w 1850054"/>
                  <a:gd name="connsiteY2" fmla="*/ 2010638 h 2968661"/>
                  <a:gd name="connsiteX3" fmla="*/ 925030 w 1850054"/>
                  <a:gd name="connsiteY3" fmla="*/ 2479201 h 2968661"/>
                  <a:gd name="connsiteX4" fmla="*/ 1255003 w 1850054"/>
                  <a:gd name="connsiteY4" fmla="*/ 2010638 h 2968661"/>
                  <a:gd name="connsiteX5" fmla="*/ 1255003 w 1850054"/>
                  <a:gd name="connsiteY5" fmla="*/ 1946843 h 2968661"/>
                  <a:gd name="connsiteX6" fmla="*/ 1850055 w 1850054"/>
                  <a:gd name="connsiteY6" fmla="*/ 1946843 h 2968661"/>
                  <a:gd name="connsiteX7" fmla="*/ 925030 w 1850054"/>
                  <a:gd name="connsiteY7" fmla="*/ 2968661 h 2968661"/>
                  <a:gd name="connsiteX8" fmla="*/ 4 w 1850054"/>
                  <a:gd name="connsiteY8" fmla="*/ 1905047 h 2968661"/>
                  <a:gd name="connsiteX9" fmla="*/ 4 w 1850054"/>
                  <a:gd name="connsiteY9" fmla="*/ 1064714 h 2968661"/>
                  <a:gd name="connsiteX10" fmla="*/ 923929 w 1850054"/>
                  <a:gd name="connsiteY10" fmla="*/ 0 h 2968661"/>
                  <a:gd name="connsiteX11" fmla="*/ 1848955 w 1850054"/>
                  <a:gd name="connsiteY11" fmla="*/ 1063614 h 2968661"/>
                  <a:gd name="connsiteX12" fmla="*/ 1848955 w 1850054"/>
                  <a:gd name="connsiteY12" fmla="*/ 1595972 h 2968661"/>
                  <a:gd name="connsiteX13" fmla="*/ 1255003 w 1850054"/>
                  <a:gd name="connsiteY13" fmla="*/ 1106511 h 2968661"/>
                  <a:gd name="connsiteX14" fmla="*/ 1255003 w 1850054"/>
                  <a:gd name="connsiteY14" fmla="*/ 958023 h 2968661"/>
                  <a:gd name="connsiteX15" fmla="*/ 925030 w 1850054"/>
                  <a:gd name="connsiteY15" fmla="*/ 489461 h 2968661"/>
                  <a:gd name="connsiteX16" fmla="*/ 595056 w 1850054"/>
                  <a:gd name="connsiteY16" fmla="*/ 958023 h 2968661"/>
                  <a:gd name="connsiteX17" fmla="*/ 595056 w 1850054"/>
                  <a:gd name="connsiteY17" fmla="*/ 1106511 h 2968661"/>
                  <a:gd name="connsiteX18" fmla="*/ 1255003 w 1850054"/>
                  <a:gd name="connsiteY18" fmla="*/ 1106511 h 29686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850054" h="2968661">
                    <a:moveTo>
                      <a:pt x="1850055" y="1595972"/>
                    </a:moveTo>
                    <a:lnTo>
                      <a:pt x="595056" y="1595972"/>
                    </a:lnTo>
                    <a:lnTo>
                      <a:pt x="595056" y="2010638"/>
                    </a:lnTo>
                    <a:cubicBezTo>
                      <a:pt x="595056" y="2340612"/>
                      <a:pt x="712747" y="2479201"/>
                      <a:pt x="925030" y="2479201"/>
                    </a:cubicBezTo>
                    <a:cubicBezTo>
                      <a:pt x="1137313" y="2479201"/>
                      <a:pt x="1255003" y="2340612"/>
                      <a:pt x="1255003" y="2010638"/>
                    </a:cubicBezTo>
                    <a:lnTo>
                      <a:pt x="1255003" y="1946843"/>
                    </a:lnTo>
                    <a:lnTo>
                      <a:pt x="1850055" y="1946843"/>
                    </a:lnTo>
                    <a:cubicBezTo>
                      <a:pt x="1839056" y="2552895"/>
                      <a:pt x="1589376" y="2968661"/>
                      <a:pt x="925030" y="2968661"/>
                    </a:cubicBezTo>
                    <a:cubicBezTo>
                      <a:pt x="260683" y="2968661"/>
                      <a:pt x="4" y="2531996"/>
                      <a:pt x="4" y="1905047"/>
                    </a:cubicBezTo>
                    <a:lnTo>
                      <a:pt x="4" y="1064714"/>
                    </a:lnTo>
                    <a:cubicBezTo>
                      <a:pt x="-1096" y="436665"/>
                      <a:pt x="243085" y="0"/>
                      <a:pt x="923929" y="0"/>
                    </a:cubicBezTo>
                    <a:cubicBezTo>
                      <a:pt x="1604775" y="0"/>
                      <a:pt x="1848955" y="436665"/>
                      <a:pt x="1848955" y="1063614"/>
                    </a:cubicBezTo>
                    <a:lnTo>
                      <a:pt x="1848955" y="1595972"/>
                    </a:lnTo>
                    <a:close/>
                    <a:moveTo>
                      <a:pt x="1255003" y="1106511"/>
                    </a:moveTo>
                    <a:lnTo>
                      <a:pt x="1255003" y="958023"/>
                    </a:lnTo>
                    <a:cubicBezTo>
                      <a:pt x="1255003" y="628049"/>
                      <a:pt x="1137313" y="489461"/>
                      <a:pt x="925030" y="489461"/>
                    </a:cubicBezTo>
                    <a:cubicBezTo>
                      <a:pt x="712747" y="489461"/>
                      <a:pt x="595056" y="628049"/>
                      <a:pt x="595056" y="958023"/>
                    </a:cubicBezTo>
                    <a:lnTo>
                      <a:pt x="595056" y="1106511"/>
                    </a:lnTo>
                    <a:lnTo>
                      <a:pt x="1255003" y="1106511"/>
                    </a:lnTo>
                    <a:close/>
                  </a:path>
                </a:pathLst>
              </a:custGeom>
              <a:grpFill/>
              <a:ln w="1099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20272B23-D7A5-8147-7D1C-EC3A97590938}"/>
                  </a:ext>
                </a:extLst>
              </p:cNvPr>
              <p:cNvSpPr/>
              <p:nvPr/>
            </p:nvSpPr>
            <p:spPr>
              <a:xfrm>
                <a:off x="14243716" y="2632753"/>
                <a:ext cx="1378188" cy="2914765"/>
              </a:xfrm>
              <a:custGeom>
                <a:avLst/>
                <a:gdLst>
                  <a:gd name="connsiteX0" fmla="*/ 1099 w 1378188"/>
                  <a:gd name="connsiteY0" fmla="*/ 2914766 h 2914765"/>
                  <a:gd name="connsiteX1" fmla="*/ 1099 w 1378188"/>
                  <a:gd name="connsiteY1" fmla="*/ 52796 h 2914765"/>
                  <a:gd name="connsiteX2" fmla="*/ 569754 w 1378188"/>
                  <a:gd name="connsiteY2" fmla="*/ 52796 h 2914765"/>
                  <a:gd name="connsiteX3" fmla="*/ 569754 w 1378188"/>
                  <a:gd name="connsiteY3" fmla="*/ 388269 h 2914765"/>
                  <a:gd name="connsiteX4" fmla="*/ 580753 w 1378188"/>
                  <a:gd name="connsiteY4" fmla="*/ 388269 h 2914765"/>
                  <a:gd name="connsiteX5" fmla="*/ 1256099 w 1378188"/>
                  <a:gd name="connsiteY5" fmla="*/ 0 h 2914765"/>
                  <a:gd name="connsiteX6" fmla="*/ 1378189 w 1378188"/>
                  <a:gd name="connsiteY6" fmla="*/ 0 h 2914765"/>
                  <a:gd name="connsiteX7" fmla="*/ 1378189 w 1378188"/>
                  <a:gd name="connsiteY7" fmla="*/ 622550 h 2914765"/>
                  <a:gd name="connsiteX8" fmla="*/ 995419 w 1378188"/>
                  <a:gd name="connsiteY8" fmla="*/ 564255 h 2914765"/>
                  <a:gd name="connsiteX9" fmla="*/ 596152 w 1378188"/>
                  <a:gd name="connsiteY9" fmla="*/ 947024 h 2914765"/>
                  <a:gd name="connsiteX10" fmla="*/ 596152 w 1378188"/>
                  <a:gd name="connsiteY10" fmla="*/ 2914766 h 2914765"/>
                  <a:gd name="connsiteX11" fmla="*/ 0 w 1378188"/>
                  <a:gd name="connsiteY11" fmla="*/ 2914766 h 29147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378188" h="2914765">
                    <a:moveTo>
                      <a:pt x="1099" y="2914766"/>
                    </a:moveTo>
                    <a:lnTo>
                      <a:pt x="1099" y="52796"/>
                    </a:lnTo>
                    <a:lnTo>
                      <a:pt x="569754" y="52796"/>
                    </a:lnTo>
                    <a:lnTo>
                      <a:pt x="569754" y="388269"/>
                    </a:lnTo>
                    <a:lnTo>
                      <a:pt x="580753" y="388269"/>
                    </a:lnTo>
                    <a:cubicBezTo>
                      <a:pt x="724841" y="144088"/>
                      <a:pt x="974522" y="0"/>
                      <a:pt x="1256099" y="0"/>
                    </a:cubicBezTo>
                    <a:lnTo>
                      <a:pt x="1378189" y="0"/>
                    </a:lnTo>
                    <a:lnTo>
                      <a:pt x="1378189" y="622550"/>
                    </a:lnTo>
                    <a:cubicBezTo>
                      <a:pt x="1271497" y="596152"/>
                      <a:pt x="1170306" y="564255"/>
                      <a:pt x="995419" y="564255"/>
                    </a:cubicBezTo>
                    <a:cubicBezTo>
                      <a:pt x="793036" y="564255"/>
                      <a:pt x="596152" y="691844"/>
                      <a:pt x="596152" y="947024"/>
                    </a:cubicBezTo>
                    <a:lnTo>
                      <a:pt x="596152" y="2914766"/>
                    </a:lnTo>
                    <a:lnTo>
                      <a:pt x="0" y="2914766"/>
                    </a:lnTo>
                    <a:close/>
                  </a:path>
                </a:pathLst>
              </a:custGeom>
              <a:grpFill/>
              <a:ln w="1099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997D79FE-07DA-02DC-BAE1-C909B7848515}"/>
                  </a:ext>
                </a:extLst>
              </p:cNvPr>
              <p:cNvSpPr/>
              <p:nvPr/>
            </p:nvSpPr>
            <p:spPr>
              <a:xfrm>
                <a:off x="15914481" y="2685548"/>
                <a:ext cx="1963342" cy="2861969"/>
              </a:xfrm>
              <a:custGeom>
                <a:avLst/>
                <a:gdLst>
                  <a:gd name="connsiteX0" fmla="*/ 1357291 w 1963342"/>
                  <a:gd name="connsiteY0" fmla="*/ 0 h 2861969"/>
                  <a:gd name="connsiteX1" fmla="*/ 1963343 w 1963342"/>
                  <a:gd name="connsiteY1" fmla="*/ 0 h 2861969"/>
                  <a:gd name="connsiteX2" fmla="*/ 1271498 w 1963342"/>
                  <a:gd name="connsiteY2" fmla="*/ 2861970 h 2861969"/>
                  <a:gd name="connsiteX3" fmla="*/ 691844 w 1963342"/>
                  <a:gd name="connsiteY3" fmla="*/ 2861970 h 2861969"/>
                  <a:gd name="connsiteX4" fmla="*/ 0 w 1963342"/>
                  <a:gd name="connsiteY4" fmla="*/ 0 h 2861969"/>
                  <a:gd name="connsiteX5" fmla="*/ 607152 w 1963342"/>
                  <a:gd name="connsiteY5" fmla="*/ 0 h 2861969"/>
                  <a:gd name="connsiteX6" fmla="*/ 973422 w 1963342"/>
                  <a:gd name="connsiteY6" fmla="*/ 1914946 h 2861969"/>
                  <a:gd name="connsiteX7" fmla="*/ 984421 w 1963342"/>
                  <a:gd name="connsiteY7" fmla="*/ 1914946 h 2861969"/>
                  <a:gd name="connsiteX8" fmla="*/ 1357291 w 1963342"/>
                  <a:gd name="connsiteY8" fmla="*/ 0 h 28619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963342" h="2861969">
                    <a:moveTo>
                      <a:pt x="1357291" y="0"/>
                    </a:moveTo>
                    <a:lnTo>
                      <a:pt x="1963343" y="0"/>
                    </a:lnTo>
                    <a:lnTo>
                      <a:pt x="1271498" y="2861970"/>
                    </a:lnTo>
                    <a:lnTo>
                      <a:pt x="691844" y="2861970"/>
                    </a:lnTo>
                    <a:lnTo>
                      <a:pt x="0" y="0"/>
                    </a:lnTo>
                    <a:lnTo>
                      <a:pt x="607152" y="0"/>
                    </a:lnTo>
                    <a:lnTo>
                      <a:pt x="973422" y="1914946"/>
                    </a:lnTo>
                    <a:lnTo>
                      <a:pt x="984421" y="1914946"/>
                    </a:lnTo>
                    <a:lnTo>
                      <a:pt x="1357291" y="0"/>
                    </a:lnTo>
                    <a:close/>
                  </a:path>
                </a:pathLst>
              </a:custGeom>
              <a:grpFill/>
              <a:ln w="1099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13F738AA-0CBE-2167-07D1-C969CD59FB89}"/>
                  </a:ext>
                </a:extLst>
              </p:cNvPr>
              <p:cNvSpPr/>
              <p:nvPr/>
            </p:nvSpPr>
            <p:spPr>
              <a:xfrm>
                <a:off x="9696682" y="2632752"/>
                <a:ext cx="1744459" cy="2967561"/>
              </a:xfrm>
              <a:custGeom>
                <a:avLst/>
                <a:gdLst>
                  <a:gd name="connsiteX0" fmla="*/ 1228601 w 1744459"/>
                  <a:gd name="connsiteY0" fmla="*/ 845832 h 2967561"/>
                  <a:gd name="connsiteX1" fmla="*/ 887628 w 1744459"/>
                  <a:gd name="connsiteY1" fmla="*/ 489461 h 2967561"/>
                  <a:gd name="connsiteX2" fmla="*/ 626950 w 1744459"/>
                  <a:gd name="connsiteY2" fmla="*/ 718242 h 2967561"/>
                  <a:gd name="connsiteX3" fmla="*/ 1744460 w 1744459"/>
                  <a:gd name="connsiteY3" fmla="*/ 2196523 h 2967561"/>
                  <a:gd name="connsiteX4" fmla="*/ 909627 w 1744459"/>
                  <a:gd name="connsiteY4" fmla="*/ 2967561 h 2967561"/>
                  <a:gd name="connsiteX5" fmla="*/ 0 w 1744459"/>
                  <a:gd name="connsiteY5" fmla="*/ 2170125 h 2967561"/>
                  <a:gd name="connsiteX6" fmla="*/ 521358 w 1744459"/>
                  <a:gd name="connsiteY6" fmla="*/ 2026037 h 2967561"/>
                  <a:gd name="connsiteX7" fmla="*/ 915126 w 1744459"/>
                  <a:gd name="connsiteY7" fmla="*/ 2478101 h 2967561"/>
                  <a:gd name="connsiteX8" fmla="*/ 1181305 w 1744459"/>
                  <a:gd name="connsiteY8" fmla="*/ 2228421 h 2967561"/>
                  <a:gd name="connsiteX9" fmla="*/ 63795 w 1744459"/>
                  <a:gd name="connsiteY9" fmla="*/ 765538 h 2967561"/>
                  <a:gd name="connsiteX10" fmla="*/ 861231 w 1744459"/>
                  <a:gd name="connsiteY10" fmla="*/ 0 h 2967561"/>
                  <a:gd name="connsiteX11" fmla="*/ 1733461 w 1744459"/>
                  <a:gd name="connsiteY11" fmla="*/ 761139 h 2967561"/>
                  <a:gd name="connsiteX12" fmla="*/ 1228601 w 1744459"/>
                  <a:gd name="connsiteY12" fmla="*/ 845832 h 29675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744459" h="2967561">
                    <a:moveTo>
                      <a:pt x="1228601" y="845832"/>
                    </a:moveTo>
                    <a:cubicBezTo>
                      <a:pt x="1185705" y="617050"/>
                      <a:pt x="1080113" y="489461"/>
                      <a:pt x="887628" y="489461"/>
                    </a:cubicBezTo>
                    <a:cubicBezTo>
                      <a:pt x="733641" y="489461"/>
                      <a:pt x="626950" y="569754"/>
                      <a:pt x="626950" y="718242"/>
                    </a:cubicBezTo>
                    <a:cubicBezTo>
                      <a:pt x="626950" y="1164806"/>
                      <a:pt x="1744460" y="1346292"/>
                      <a:pt x="1744460" y="2196523"/>
                    </a:cubicBezTo>
                    <a:cubicBezTo>
                      <a:pt x="1744460" y="2706882"/>
                      <a:pt x="1393588" y="2967561"/>
                      <a:pt x="909627" y="2967561"/>
                    </a:cubicBezTo>
                    <a:cubicBezTo>
                      <a:pt x="388269" y="2967561"/>
                      <a:pt x="90193" y="2669485"/>
                      <a:pt x="0" y="2170125"/>
                    </a:cubicBezTo>
                    <a:lnTo>
                      <a:pt x="521358" y="2026037"/>
                    </a:lnTo>
                    <a:cubicBezTo>
                      <a:pt x="558755" y="2265818"/>
                      <a:pt x="643448" y="2478101"/>
                      <a:pt x="915126" y="2478101"/>
                    </a:cubicBezTo>
                    <a:cubicBezTo>
                      <a:pt x="1069114" y="2478101"/>
                      <a:pt x="1181305" y="2387908"/>
                      <a:pt x="1181305" y="2228421"/>
                    </a:cubicBezTo>
                    <a:cubicBezTo>
                      <a:pt x="1181305" y="1733461"/>
                      <a:pt x="63795" y="1547575"/>
                      <a:pt x="63795" y="765538"/>
                    </a:cubicBezTo>
                    <a:cubicBezTo>
                      <a:pt x="63795" y="313475"/>
                      <a:pt x="414667" y="0"/>
                      <a:pt x="861231" y="0"/>
                    </a:cubicBezTo>
                    <a:cubicBezTo>
                      <a:pt x="1307795" y="0"/>
                      <a:pt x="1643268" y="313475"/>
                      <a:pt x="1733461" y="761139"/>
                    </a:cubicBezTo>
                    <a:lnTo>
                      <a:pt x="1228601" y="845832"/>
                    </a:lnTo>
                    <a:close/>
                  </a:path>
                </a:pathLst>
              </a:custGeom>
              <a:grpFill/>
              <a:ln w="1099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0CA2EEDF-947F-0187-19EA-E45F5F8782C0}"/>
                  </a:ext>
                </a:extLst>
              </p:cNvPr>
              <p:cNvSpPr/>
              <p:nvPr/>
            </p:nvSpPr>
            <p:spPr>
              <a:xfrm>
                <a:off x="11852505" y="2632753"/>
                <a:ext cx="1850054" cy="2968661"/>
              </a:xfrm>
              <a:custGeom>
                <a:avLst/>
                <a:gdLst>
                  <a:gd name="connsiteX0" fmla="*/ 1850055 w 1850054"/>
                  <a:gd name="connsiteY0" fmla="*/ 1595972 h 2968661"/>
                  <a:gd name="connsiteX1" fmla="*/ 595056 w 1850054"/>
                  <a:gd name="connsiteY1" fmla="*/ 1595972 h 2968661"/>
                  <a:gd name="connsiteX2" fmla="*/ 595056 w 1850054"/>
                  <a:gd name="connsiteY2" fmla="*/ 2010638 h 2968661"/>
                  <a:gd name="connsiteX3" fmla="*/ 925030 w 1850054"/>
                  <a:gd name="connsiteY3" fmla="*/ 2479201 h 2968661"/>
                  <a:gd name="connsiteX4" fmla="*/ 1255003 w 1850054"/>
                  <a:gd name="connsiteY4" fmla="*/ 2010638 h 2968661"/>
                  <a:gd name="connsiteX5" fmla="*/ 1255003 w 1850054"/>
                  <a:gd name="connsiteY5" fmla="*/ 1946843 h 2968661"/>
                  <a:gd name="connsiteX6" fmla="*/ 1850055 w 1850054"/>
                  <a:gd name="connsiteY6" fmla="*/ 1946843 h 2968661"/>
                  <a:gd name="connsiteX7" fmla="*/ 925030 w 1850054"/>
                  <a:gd name="connsiteY7" fmla="*/ 2968661 h 2968661"/>
                  <a:gd name="connsiteX8" fmla="*/ 4 w 1850054"/>
                  <a:gd name="connsiteY8" fmla="*/ 1905047 h 2968661"/>
                  <a:gd name="connsiteX9" fmla="*/ 4 w 1850054"/>
                  <a:gd name="connsiteY9" fmla="*/ 1064714 h 2968661"/>
                  <a:gd name="connsiteX10" fmla="*/ 923929 w 1850054"/>
                  <a:gd name="connsiteY10" fmla="*/ 0 h 2968661"/>
                  <a:gd name="connsiteX11" fmla="*/ 1848955 w 1850054"/>
                  <a:gd name="connsiteY11" fmla="*/ 1063614 h 2968661"/>
                  <a:gd name="connsiteX12" fmla="*/ 1848955 w 1850054"/>
                  <a:gd name="connsiteY12" fmla="*/ 1595972 h 2968661"/>
                  <a:gd name="connsiteX13" fmla="*/ 1255003 w 1850054"/>
                  <a:gd name="connsiteY13" fmla="*/ 1106511 h 2968661"/>
                  <a:gd name="connsiteX14" fmla="*/ 1255003 w 1850054"/>
                  <a:gd name="connsiteY14" fmla="*/ 958023 h 2968661"/>
                  <a:gd name="connsiteX15" fmla="*/ 925030 w 1850054"/>
                  <a:gd name="connsiteY15" fmla="*/ 489461 h 2968661"/>
                  <a:gd name="connsiteX16" fmla="*/ 595056 w 1850054"/>
                  <a:gd name="connsiteY16" fmla="*/ 958023 h 2968661"/>
                  <a:gd name="connsiteX17" fmla="*/ 595056 w 1850054"/>
                  <a:gd name="connsiteY17" fmla="*/ 1106511 h 2968661"/>
                  <a:gd name="connsiteX18" fmla="*/ 1255003 w 1850054"/>
                  <a:gd name="connsiteY18" fmla="*/ 1106511 h 29686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850054" h="2968661">
                    <a:moveTo>
                      <a:pt x="1850055" y="1595972"/>
                    </a:moveTo>
                    <a:lnTo>
                      <a:pt x="595056" y="1595972"/>
                    </a:lnTo>
                    <a:lnTo>
                      <a:pt x="595056" y="2010638"/>
                    </a:lnTo>
                    <a:cubicBezTo>
                      <a:pt x="595056" y="2340612"/>
                      <a:pt x="712747" y="2479201"/>
                      <a:pt x="925030" y="2479201"/>
                    </a:cubicBezTo>
                    <a:cubicBezTo>
                      <a:pt x="1137313" y="2479201"/>
                      <a:pt x="1255003" y="2340612"/>
                      <a:pt x="1255003" y="2010638"/>
                    </a:cubicBezTo>
                    <a:lnTo>
                      <a:pt x="1255003" y="1946843"/>
                    </a:lnTo>
                    <a:lnTo>
                      <a:pt x="1850055" y="1946843"/>
                    </a:lnTo>
                    <a:cubicBezTo>
                      <a:pt x="1839056" y="2552895"/>
                      <a:pt x="1589376" y="2968661"/>
                      <a:pt x="925030" y="2968661"/>
                    </a:cubicBezTo>
                    <a:cubicBezTo>
                      <a:pt x="260683" y="2968661"/>
                      <a:pt x="4" y="2531996"/>
                      <a:pt x="4" y="1905047"/>
                    </a:cubicBezTo>
                    <a:lnTo>
                      <a:pt x="4" y="1064714"/>
                    </a:lnTo>
                    <a:cubicBezTo>
                      <a:pt x="-1096" y="436665"/>
                      <a:pt x="243085" y="0"/>
                      <a:pt x="923929" y="0"/>
                    </a:cubicBezTo>
                    <a:cubicBezTo>
                      <a:pt x="1604775" y="0"/>
                      <a:pt x="1848955" y="436665"/>
                      <a:pt x="1848955" y="1063614"/>
                    </a:cubicBezTo>
                    <a:lnTo>
                      <a:pt x="1848955" y="1595972"/>
                    </a:lnTo>
                    <a:close/>
                    <a:moveTo>
                      <a:pt x="1255003" y="1106511"/>
                    </a:moveTo>
                    <a:lnTo>
                      <a:pt x="1255003" y="958023"/>
                    </a:lnTo>
                    <a:cubicBezTo>
                      <a:pt x="1255003" y="628049"/>
                      <a:pt x="1137313" y="489461"/>
                      <a:pt x="925030" y="489461"/>
                    </a:cubicBezTo>
                    <a:cubicBezTo>
                      <a:pt x="712747" y="489461"/>
                      <a:pt x="595056" y="628049"/>
                      <a:pt x="595056" y="958023"/>
                    </a:cubicBezTo>
                    <a:lnTo>
                      <a:pt x="595056" y="1106511"/>
                    </a:lnTo>
                    <a:lnTo>
                      <a:pt x="1255003" y="1106511"/>
                    </a:lnTo>
                    <a:close/>
                  </a:path>
                </a:pathLst>
              </a:custGeom>
              <a:grpFill/>
              <a:ln w="1099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DB7DBDC1-E78E-B5B9-6979-0C695274B43E}"/>
                  </a:ext>
                </a:extLst>
              </p:cNvPr>
              <p:cNvSpPr/>
              <p:nvPr/>
            </p:nvSpPr>
            <p:spPr>
              <a:xfrm>
                <a:off x="14243716" y="2632753"/>
                <a:ext cx="1378188" cy="2914765"/>
              </a:xfrm>
              <a:custGeom>
                <a:avLst/>
                <a:gdLst>
                  <a:gd name="connsiteX0" fmla="*/ 1099 w 1378188"/>
                  <a:gd name="connsiteY0" fmla="*/ 2914766 h 2914765"/>
                  <a:gd name="connsiteX1" fmla="*/ 1099 w 1378188"/>
                  <a:gd name="connsiteY1" fmla="*/ 52796 h 2914765"/>
                  <a:gd name="connsiteX2" fmla="*/ 569754 w 1378188"/>
                  <a:gd name="connsiteY2" fmla="*/ 52796 h 2914765"/>
                  <a:gd name="connsiteX3" fmla="*/ 569754 w 1378188"/>
                  <a:gd name="connsiteY3" fmla="*/ 388269 h 2914765"/>
                  <a:gd name="connsiteX4" fmla="*/ 580753 w 1378188"/>
                  <a:gd name="connsiteY4" fmla="*/ 388269 h 2914765"/>
                  <a:gd name="connsiteX5" fmla="*/ 1256099 w 1378188"/>
                  <a:gd name="connsiteY5" fmla="*/ 0 h 2914765"/>
                  <a:gd name="connsiteX6" fmla="*/ 1378189 w 1378188"/>
                  <a:gd name="connsiteY6" fmla="*/ 0 h 2914765"/>
                  <a:gd name="connsiteX7" fmla="*/ 1378189 w 1378188"/>
                  <a:gd name="connsiteY7" fmla="*/ 622550 h 2914765"/>
                  <a:gd name="connsiteX8" fmla="*/ 995419 w 1378188"/>
                  <a:gd name="connsiteY8" fmla="*/ 564255 h 2914765"/>
                  <a:gd name="connsiteX9" fmla="*/ 596152 w 1378188"/>
                  <a:gd name="connsiteY9" fmla="*/ 947024 h 2914765"/>
                  <a:gd name="connsiteX10" fmla="*/ 596152 w 1378188"/>
                  <a:gd name="connsiteY10" fmla="*/ 2914766 h 2914765"/>
                  <a:gd name="connsiteX11" fmla="*/ 0 w 1378188"/>
                  <a:gd name="connsiteY11" fmla="*/ 2914766 h 29147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378188" h="2914765">
                    <a:moveTo>
                      <a:pt x="1099" y="2914766"/>
                    </a:moveTo>
                    <a:lnTo>
                      <a:pt x="1099" y="52796"/>
                    </a:lnTo>
                    <a:lnTo>
                      <a:pt x="569754" y="52796"/>
                    </a:lnTo>
                    <a:lnTo>
                      <a:pt x="569754" y="388269"/>
                    </a:lnTo>
                    <a:lnTo>
                      <a:pt x="580753" y="388269"/>
                    </a:lnTo>
                    <a:cubicBezTo>
                      <a:pt x="724841" y="144088"/>
                      <a:pt x="974522" y="0"/>
                      <a:pt x="1256099" y="0"/>
                    </a:cubicBezTo>
                    <a:lnTo>
                      <a:pt x="1378189" y="0"/>
                    </a:lnTo>
                    <a:lnTo>
                      <a:pt x="1378189" y="622550"/>
                    </a:lnTo>
                    <a:cubicBezTo>
                      <a:pt x="1271497" y="596152"/>
                      <a:pt x="1170306" y="564255"/>
                      <a:pt x="995419" y="564255"/>
                    </a:cubicBezTo>
                    <a:cubicBezTo>
                      <a:pt x="793036" y="564255"/>
                      <a:pt x="596152" y="691844"/>
                      <a:pt x="596152" y="947024"/>
                    </a:cubicBezTo>
                    <a:lnTo>
                      <a:pt x="596152" y="2914766"/>
                    </a:lnTo>
                    <a:lnTo>
                      <a:pt x="0" y="2914766"/>
                    </a:lnTo>
                    <a:close/>
                  </a:path>
                </a:pathLst>
              </a:custGeom>
              <a:grpFill/>
              <a:ln w="1099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B3007910-2C98-F257-F80E-7D5D4EA5F143}"/>
                  </a:ext>
                </a:extLst>
              </p:cNvPr>
              <p:cNvSpPr/>
              <p:nvPr/>
            </p:nvSpPr>
            <p:spPr>
              <a:xfrm>
                <a:off x="15914481" y="2685548"/>
                <a:ext cx="1963342" cy="2861969"/>
              </a:xfrm>
              <a:custGeom>
                <a:avLst/>
                <a:gdLst>
                  <a:gd name="connsiteX0" fmla="*/ 1357291 w 1963342"/>
                  <a:gd name="connsiteY0" fmla="*/ 0 h 2861969"/>
                  <a:gd name="connsiteX1" fmla="*/ 1963343 w 1963342"/>
                  <a:gd name="connsiteY1" fmla="*/ 0 h 2861969"/>
                  <a:gd name="connsiteX2" fmla="*/ 1271498 w 1963342"/>
                  <a:gd name="connsiteY2" fmla="*/ 2861970 h 2861969"/>
                  <a:gd name="connsiteX3" fmla="*/ 691844 w 1963342"/>
                  <a:gd name="connsiteY3" fmla="*/ 2861970 h 2861969"/>
                  <a:gd name="connsiteX4" fmla="*/ 0 w 1963342"/>
                  <a:gd name="connsiteY4" fmla="*/ 0 h 2861969"/>
                  <a:gd name="connsiteX5" fmla="*/ 607152 w 1963342"/>
                  <a:gd name="connsiteY5" fmla="*/ 0 h 2861969"/>
                  <a:gd name="connsiteX6" fmla="*/ 973422 w 1963342"/>
                  <a:gd name="connsiteY6" fmla="*/ 1914946 h 2861969"/>
                  <a:gd name="connsiteX7" fmla="*/ 984421 w 1963342"/>
                  <a:gd name="connsiteY7" fmla="*/ 1914946 h 2861969"/>
                  <a:gd name="connsiteX8" fmla="*/ 1357291 w 1963342"/>
                  <a:gd name="connsiteY8" fmla="*/ 0 h 28619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963342" h="2861969">
                    <a:moveTo>
                      <a:pt x="1357291" y="0"/>
                    </a:moveTo>
                    <a:lnTo>
                      <a:pt x="1963343" y="0"/>
                    </a:lnTo>
                    <a:lnTo>
                      <a:pt x="1271498" y="2861970"/>
                    </a:lnTo>
                    <a:lnTo>
                      <a:pt x="691844" y="2861970"/>
                    </a:lnTo>
                    <a:lnTo>
                      <a:pt x="0" y="0"/>
                    </a:lnTo>
                    <a:lnTo>
                      <a:pt x="607152" y="0"/>
                    </a:lnTo>
                    <a:lnTo>
                      <a:pt x="973422" y="1914946"/>
                    </a:lnTo>
                    <a:lnTo>
                      <a:pt x="984421" y="1914946"/>
                    </a:lnTo>
                    <a:lnTo>
                      <a:pt x="1357291" y="0"/>
                    </a:lnTo>
                    <a:close/>
                  </a:path>
                </a:pathLst>
              </a:custGeom>
              <a:grpFill/>
              <a:ln w="1099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E936E005-0091-5736-6645-B7B3B31564F1}"/>
                </a:ext>
              </a:extLst>
            </p:cNvPr>
            <p:cNvGrpSpPr/>
            <p:nvPr userDrawn="1"/>
          </p:nvGrpSpPr>
          <p:grpSpPr>
            <a:xfrm>
              <a:off x="442913" y="277013"/>
              <a:ext cx="308613" cy="200306"/>
              <a:chOff x="4076136" y="2685548"/>
              <a:chExt cx="4791213" cy="2863070"/>
            </a:xfrm>
            <a:solidFill>
              <a:schemeClr val="bg1"/>
            </a:solidFill>
          </p:grpSpPr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30A72A5D-2174-D97B-F1E4-E990F9E0A311}"/>
                  </a:ext>
                </a:extLst>
              </p:cNvPr>
              <p:cNvSpPr/>
              <p:nvPr/>
            </p:nvSpPr>
            <p:spPr>
              <a:xfrm>
                <a:off x="4076136" y="4923868"/>
                <a:ext cx="1927044" cy="107791"/>
              </a:xfrm>
              <a:custGeom>
                <a:avLst/>
                <a:gdLst>
                  <a:gd name="connsiteX0" fmla="*/ 0 w 1927044"/>
                  <a:gd name="connsiteY0" fmla="*/ 0 h 107791"/>
                  <a:gd name="connsiteX1" fmla="*/ 1927045 w 1927044"/>
                  <a:gd name="connsiteY1" fmla="*/ 0 h 107791"/>
                  <a:gd name="connsiteX2" fmla="*/ 1927045 w 1927044"/>
                  <a:gd name="connsiteY2" fmla="*/ 107791 h 107791"/>
                  <a:gd name="connsiteX3" fmla="*/ 0 w 1927044"/>
                  <a:gd name="connsiteY3" fmla="*/ 107791 h 107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7044" h="107791">
                    <a:moveTo>
                      <a:pt x="0" y="0"/>
                    </a:moveTo>
                    <a:lnTo>
                      <a:pt x="1927045" y="0"/>
                    </a:lnTo>
                    <a:lnTo>
                      <a:pt x="1927045" y="107791"/>
                    </a:lnTo>
                    <a:lnTo>
                      <a:pt x="0" y="107791"/>
                    </a:lnTo>
                    <a:close/>
                  </a:path>
                </a:pathLst>
              </a:custGeom>
              <a:grpFill/>
              <a:ln w="1099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C790DEE9-16EE-4BCE-A02A-16FFCB93C1D5}"/>
                  </a:ext>
                </a:extLst>
              </p:cNvPr>
              <p:cNvSpPr/>
              <p:nvPr/>
            </p:nvSpPr>
            <p:spPr>
              <a:xfrm>
                <a:off x="6940305" y="3374093"/>
                <a:ext cx="1927044" cy="107791"/>
              </a:xfrm>
              <a:custGeom>
                <a:avLst/>
                <a:gdLst>
                  <a:gd name="connsiteX0" fmla="*/ 0 w 1927044"/>
                  <a:gd name="connsiteY0" fmla="*/ 0 h 107791"/>
                  <a:gd name="connsiteX1" fmla="*/ 1927045 w 1927044"/>
                  <a:gd name="connsiteY1" fmla="*/ 0 h 107791"/>
                  <a:gd name="connsiteX2" fmla="*/ 1927045 w 1927044"/>
                  <a:gd name="connsiteY2" fmla="*/ 107791 h 107791"/>
                  <a:gd name="connsiteX3" fmla="*/ 0 w 1927044"/>
                  <a:gd name="connsiteY3" fmla="*/ 107791 h 107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7044" h="107791">
                    <a:moveTo>
                      <a:pt x="0" y="0"/>
                    </a:moveTo>
                    <a:lnTo>
                      <a:pt x="1927045" y="0"/>
                    </a:lnTo>
                    <a:lnTo>
                      <a:pt x="1927045" y="107791"/>
                    </a:lnTo>
                    <a:lnTo>
                      <a:pt x="0" y="107791"/>
                    </a:lnTo>
                    <a:close/>
                  </a:path>
                </a:pathLst>
              </a:custGeom>
              <a:grpFill/>
              <a:ln w="1099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150335C9-1B04-9B31-8FE0-02F2A29D3B14}"/>
                  </a:ext>
                </a:extLst>
              </p:cNvPr>
              <p:cNvSpPr/>
              <p:nvPr/>
            </p:nvSpPr>
            <p:spPr>
              <a:xfrm>
                <a:off x="6940305" y="3546779"/>
                <a:ext cx="1927044" cy="107791"/>
              </a:xfrm>
              <a:custGeom>
                <a:avLst/>
                <a:gdLst>
                  <a:gd name="connsiteX0" fmla="*/ 0 w 1927044"/>
                  <a:gd name="connsiteY0" fmla="*/ 0 h 107791"/>
                  <a:gd name="connsiteX1" fmla="*/ 1927045 w 1927044"/>
                  <a:gd name="connsiteY1" fmla="*/ 0 h 107791"/>
                  <a:gd name="connsiteX2" fmla="*/ 1927045 w 1927044"/>
                  <a:gd name="connsiteY2" fmla="*/ 107791 h 107791"/>
                  <a:gd name="connsiteX3" fmla="*/ 0 w 1927044"/>
                  <a:gd name="connsiteY3" fmla="*/ 107791 h 107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7044" h="107791">
                    <a:moveTo>
                      <a:pt x="0" y="0"/>
                    </a:moveTo>
                    <a:lnTo>
                      <a:pt x="1927045" y="0"/>
                    </a:lnTo>
                    <a:lnTo>
                      <a:pt x="1927045" y="107791"/>
                    </a:lnTo>
                    <a:lnTo>
                      <a:pt x="0" y="107791"/>
                    </a:lnTo>
                    <a:close/>
                  </a:path>
                </a:pathLst>
              </a:custGeom>
              <a:grpFill/>
              <a:ln w="1099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17F15B89-7B75-78EE-6A43-381C344D9C5E}"/>
                  </a:ext>
                </a:extLst>
              </p:cNvPr>
              <p:cNvSpPr/>
              <p:nvPr/>
            </p:nvSpPr>
            <p:spPr>
              <a:xfrm>
                <a:off x="4076136" y="5096554"/>
                <a:ext cx="1927044" cy="107791"/>
              </a:xfrm>
              <a:custGeom>
                <a:avLst/>
                <a:gdLst>
                  <a:gd name="connsiteX0" fmla="*/ 0 w 1927044"/>
                  <a:gd name="connsiteY0" fmla="*/ 0 h 107791"/>
                  <a:gd name="connsiteX1" fmla="*/ 1927045 w 1927044"/>
                  <a:gd name="connsiteY1" fmla="*/ 0 h 107791"/>
                  <a:gd name="connsiteX2" fmla="*/ 1927045 w 1927044"/>
                  <a:gd name="connsiteY2" fmla="*/ 107791 h 107791"/>
                  <a:gd name="connsiteX3" fmla="*/ 0 w 1927044"/>
                  <a:gd name="connsiteY3" fmla="*/ 107791 h 107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7044" h="107791">
                    <a:moveTo>
                      <a:pt x="0" y="0"/>
                    </a:moveTo>
                    <a:lnTo>
                      <a:pt x="1927045" y="0"/>
                    </a:lnTo>
                    <a:lnTo>
                      <a:pt x="1927045" y="107791"/>
                    </a:lnTo>
                    <a:lnTo>
                      <a:pt x="0" y="107791"/>
                    </a:lnTo>
                    <a:close/>
                  </a:path>
                </a:pathLst>
              </a:custGeom>
              <a:grpFill/>
              <a:ln w="1099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F231797-B319-075D-C556-1FB766F8A3A3}"/>
                  </a:ext>
                </a:extLst>
              </p:cNvPr>
              <p:cNvSpPr/>
              <p:nvPr/>
            </p:nvSpPr>
            <p:spPr>
              <a:xfrm>
                <a:off x="7897228" y="3718365"/>
                <a:ext cx="970121" cy="107791"/>
              </a:xfrm>
              <a:custGeom>
                <a:avLst/>
                <a:gdLst>
                  <a:gd name="connsiteX0" fmla="*/ 0 w 970121"/>
                  <a:gd name="connsiteY0" fmla="*/ 0 h 107791"/>
                  <a:gd name="connsiteX1" fmla="*/ 970122 w 970121"/>
                  <a:gd name="connsiteY1" fmla="*/ 0 h 107791"/>
                  <a:gd name="connsiteX2" fmla="*/ 970122 w 970121"/>
                  <a:gd name="connsiteY2" fmla="*/ 107791 h 107791"/>
                  <a:gd name="connsiteX3" fmla="*/ 0 w 970121"/>
                  <a:gd name="connsiteY3" fmla="*/ 107791 h 107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70121" h="107791">
                    <a:moveTo>
                      <a:pt x="0" y="0"/>
                    </a:moveTo>
                    <a:lnTo>
                      <a:pt x="970122" y="0"/>
                    </a:lnTo>
                    <a:lnTo>
                      <a:pt x="970122" y="107791"/>
                    </a:lnTo>
                    <a:lnTo>
                      <a:pt x="0" y="107791"/>
                    </a:lnTo>
                    <a:close/>
                  </a:path>
                </a:pathLst>
              </a:custGeom>
              <a:grpFill/>
              <a:ln w="1099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D3B4EA05-2DEA-D065-77AE-9CFCBC05FD6A}"/>
                  </a:ext>
                </a:extLst>
              </p:cNvPr>
              <p:cNvSpPr/>
              <p:nvPr/>
            </p:nvSpPr>
            <p:spPr>
              <a:xfrm>
                <a:off x="4076136" y="4752282"/>
                <a:ext cx="1927044" cy="107791"/>
              </a:xfrm>
              <a:custGeom>
                <a:avLst/>
                <a:gdLst>
                  <a:gd name="connsiteX0" fmla="*/ 0 w 1927044"/>
                  <a:gd name="connsiteY0" fmla="*/ 0 h 107791"/>
                  <a:gd name="connsiteX1" fmla="*/ 1927045 w 1927044"/>
                  <a:gd name="connsiteY1" fmla="*/ 0 h 107791"/>
                  <a:gd name="connsiteX2" fmla="*/ 1927045 w 1927044"/>
                  <a:gd name="connsiteY2" fmla="*/ 107791 h 107791"/>
                  <a:gd name="connsiteX3" fmla="*/ 0 w 1927044"/>
                  <a:gd name="connsiteY3" fmla="*/ 107791 h 107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7044" h="107791">
                    <a:moveTo>
                      <a:pt x="0" y="0"/>
                    </a:moveTo>
                    <a:lnTo>
                      <a:pt x="1927045" y="0"/>
                    </a:lnTo>
                    <a:lnTo>
                      <a:pt x="1927045" y="107791"/>
                    </a:lnTo>
                    <a:lnTo>
                      <a:pt x="0" y="107791"/>
                    </a:lnTo>
                    <a:close/>
                  </a:path>
                </a:pathLst>
              </a:custGeom>
              <a:grpFill/>
              <a:ln w="1099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BD990C89-0355-0D72-7C8F-F22102D43F1E}"/>
                  </a:ext>
                </a:extLst>
              </p:cNvPr>
              <p:cNvSpPr/>
              <p:nvPr/>
            </p:nvSpPr>
            <p:spPr>
              <a:xfrm>
                <a:off x="4076136" y="5268140"/>
                <a:ext cx="1927044" cy="107791"/>
              </a:xfrm>
              <a:custGeom>
                <a:avLst/>
                <a:gdLst>
                  <a:gd name="connsiteX0" fmla="*/ 0 w 1927044"/>
                  <a:gd name="connsiteY0" fmla="*/ 0 h 107791"/>
                  <a:gd name="connsiteX1" fmla="*/ 1927045 w 1927044"/>
                  <a:gd name="connsiteY1" fmla="*/ 0 h 107791"/>
                  <a:gd name="connsiteX2" fmla="*/ 1927045 w 1927044"/>
                  <a:gd name="connsiteY2" fmla="*/ 107791 h 107791"/>
                  <a:gd name="connsiteX3" fmla="*/ 0 w 1927044"/>
                  <a:gd name="connsiteY3" fmla="*/ 107791 h 107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7044" h="107791">
                    <a:moveTo>
                      <a:pt x="0" y="0"/>
                    </a:moveTo>
                    <a:lnTo>
                      <a:pt x="1927045" y="0"/>
                    </a:lnTo>
                    <a:lnTo>
                      <a:pt x="1927045" y="107791"/>
                    </a:lnTo>
                    <a:lnTo>
                      <a:pt x="0" y="107791"/>
                    </a:lnTo>
                    <a:close/>
                  </a:path>
                </a:pathLst>
              </a:custGeom>
              <a:grpFill/>
              <a:ln w="1099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8C8485AD-C003-E37D-27C9-507C62F2A94F}"/>
                  </a:ext>
                </a:extLst>
              </p:cNvPr>
              <p:cNvSpPr/>
              <p:nvPr/>
            </p:nvSpPr>
            <p:spPr>
              <a:xfrm>
                <a:off x="6940305" y="3029821"/>
                <a:ext cx="1927044" cy="107791"/>
              </a:xfrm>
              <a:custGeom>
                <a:avLst/>
                <a:gdLst>
                  <a:gd name="connsiteX0" fmla="*/ 0 w 1927044"/>
                  <a:gd name="connsiteY0" fmla="*/ 0 h 107791"/>
                  <a:gd name="connsiteX1" fmla="*/ 1927045 w 1927044"/>
                  <a:gd name="connsiteY1" fmla="*/ 0 h 107791"/>
                  <a:gd name="connsiteX2" fmla="*/ 1927045 w 1927044"/>
                  <a:gd name="connsiteY2" fmla="*/ 107791 h 107791"/>
                  <a:gd name="connsiteX3" fmla="*/ 0 w 1927044"/>
                  <a:gd name="connsiteY3" fmla="*/ 107791 h 107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7044" h="107791">
                    <a:moveTo>
                      <a:pt x="0" y="0"/>
                    </a:moveTo>
                    <a:lnTo>
                      <a:pt x="1927045" y="0"/>
                    </a:lnTo>
                    <a:lnTo>
                      <a:pt x="1927045" y="107791"/>
                    </a:lnTo>
                    <a:lnTo>
                      <a:pt x="0" y="107791"/>
                    </a:lnTo>
                    <a:close/>
                  </a:path>
                </a:pathLst>
              </a:custGeom>
              <a:grpFill/>
              <a:ln w="1099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D30B9011-515B-EBDF-4C86-3906707655EF}"/>
                  </a:ext>
                </a:extLst>
              </p:cNvPr>
              <p:cNvSpPr/>
              <p:nvPr/>
            </p:nvSpPr>
            <p:spPr>
              <a:xfrm>
                <a:off x="4076136" y="4579596"/>
                <a:ext cx="1927044" cy="107791"/>
              </a:xfrm>
              <a:custGeom>
                <a:avLst/>
                <a:gdLst>
                  <a:gd name="connsiteX0" fmla="*/ 0 w 1927044"/>
                  <a:gd name="connsiteY0" fmla="*/ 0 h 107791"/>
                  <a:gd name="connsiteX1" fmla="*/ 1927045 w 1927044"/>
                  <a:gd name="connsiteY1" fmla="*/ 0 h 107791"/>
                  <a:gd name="connsiteX2" fmla="*/ 1927045 w 1927044"/>
                  <a:gd name="connsiteY2" fmla="*/ 107791 h 107791"/>
                  <a:gd name="connsiteX3" fmla="*/ 0 w 1927044"/>
                  <a:gd name="connsiteY3" fmla="*/ 107791 h 107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7044" h="107791">
                    <a:moveTo>
                      <a:pt x="0" y="0"/>
                    </a:moveTo>
                    <a:lnTo>
                      <a:pt x="1927045" y="0"/>
                    </a:lnTo>
                    <a:lnTo>
                      <a:pt x="1927045" y="107791"/>
                    </a:lnTo>
                    <a:lnTo>
                      <a:pt x="0" y="107791"/>
                    </a:lnTo>
                    <a:close/>
                  </a:path>
                </a:pathLst>
              </a:custGeom>
              <a:grpFill/>
              <a:ln w="1099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B481EC96-0B93-6643-9DDB-0FBE13837A55}"/>
                  </a:ext>
                </a:extLst>
              </p:cNvPr>
              <p:cNvSpPr/>
              <p:nvPr/>
            </p:nvSpPr>
            <p:spPr>
              <a:xfrm>
                <a:off x="6940305" y="3202507"/>
                <a:ext cx="1927044" cy="107791"/>
              </a:xfrm>
              <a:custGeom>
                <a:avLst/>
                <a:gdLst>
                  <a:gd name="connsiteX0" fmla="*/ 0 w 1927044"/>
                  <a:gd name="connsiteY0" fmla="*/ 0 h 107791"/>
                  <a:gd name="connsiteX1" fmla="*/ 1927045 w 1927044"/>
                  <a:gd name="connsiteY1" fmla="*/ 0 h 107791"/>
                  <a:gd name="connsiteX2" fmla="*/ 1927045 w 1927044"/>
                  <a:gd name="connsiteY2" fmla="*/ 107791 h 107791"/>
                  <a:gd name="connsiteX3" fmla="*/ 0 w 1927044"/>
                  <a:gd name="connsiteY3" fmla="*/ 107791 h 107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7044" h="107791">
                    <a:moveTo>
                      <a:pt x="0" y="0"/>
                    </a:moveTo>
                    <a:lnTo>
                      <a:pt x="1927045" y="0"/>
                    </a:lnTo>
                    <a:lnTo>
                      <a:pt x="1927045" y="107791"/>
                    </a:lnTo>
                    <a:lnTo>
                      <a:pt x="0" y="107791"/>
                    </a:lnTo>
                    <a:close/>
                  </a:path>
                </a:pathLst>
              </a:custGeom>
              <a:grpFill/>
              <a:ln w="1099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E153DD19-D081-EC8D-AF52-2C320FEDCA46}"/>
                  </a:ext>
                </a:extLst>
              </p:cNvPr>
              <p:cNvSpPr/>
              <p:nvPr/>
            </p:nvSpPr>
            <p:spPr>
              <a:xfrm>
                <a:off x="6941405" y="5440827"/>
                <a:ext cx="1925944" cy="107791"/>
              </a:xfrm>
              <a:custGeom>
                <a:avLst/>
                <a:gdLst>
                  <a:gd name="connsiteX0" fmla="*/ 0 w 1925944"/>
                  <a:gd name="connsiteY0" fmla="*/ 0 h 107791"/>
                  <a:gd name="connsiteX1" fmla="*/ 1925945 w 1925944"/>
                  <a:gd name="connsiteY1" fmla="*/ 0 h 107791"/>
                  <a:gd name="connsiteX2" fmla="*/ 1925945 w 1925944"/>
                  <a:gd name="connsiteY2" fmla="*/ 107791 h 107791"/>
                  <a:gd name="connsiteX3" fmla="*/ 0 w 1925944"/>
                  <a:gd name="connsiteY3" fmla="*/ 107791 h 107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5944" h="107791">
                    <a:moveTo>
                      <a:pt x="0" y="0"/>
                    </a:moveTo>
                    <a:lnTo>
                      <a:pt x="1925945" y="0"/>
                    </a:lnTo>
                    <a:lnTo>
                      <a:pt x="1925945" y="107791"/>
                    </a:lnTo>
                    <a:lnTo>
                      <a:pt x="0" y="107791"/>
                    </a:lnTo>
                    <a:close/>
                  </a:path>
                </a:pathLst>
              </a:custGeom>
              <a:grpFill/>
              <a:ln w="1099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8ED0DE5B-0DF5-24DC-567A-DBB867CC372A}"/>
                  </a:ext>
                </a:extLst>
              </p:cNvPr>
              <p:cNvSpPr/>
              <p:nvPr/>
            </p:nvSpPr>
            <p:spPr>
              <a:xfrm>
                <a:off x="6941405" y="4752282"/>
                <a:ext cx="1925944" cy="107791"/>
              </a:xfrm>
              <a:custGeom>
                <a:avLst/>
                <a:gdLst>
                  <a:gd name="connsiteX0" fmla="*/ 0 w 1925944"/>
                  <a:gd name="connsiteY0" fmla="*/ 0 h 107791"/>
                  <a:gd name="connsiteX1" fmla="*/ 1925945 w 1925944"/>
                  <a:gd name="connsiteY1" fmla="*/ 0 h 107791"/>
                  <a:gd name="connsiteX2" fmla="*/ 1925945 w 1925944"/>
                  <a:gd name="connsiteY2" fmla="*/ 107791 h 107791"/>
                  <a:gd name="connsiteX3" fmla="*/ 0 w 1925944"/>
                  <a:gd name="connsiteY3" fmla="*/ 107791 h 107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5944" h="107791">
                    <a:moveTo>
                      <a:pt x="0" y="0"/>
                    </a:moveTo>
                    <a:lnTo>
                      <a:pt x="1925945" y="0"/>
                    </a:lnTo>
                    <a:lnTo>
                      <a:pt x="1925945" y="107791"/>
                    </a:lnTo>
                    <a:lnTo>
                      <a:pt x="0" y="107791"/>
                    </a:lnTo>
                    <a:close/>
                  </a:path>
                </a:pathLst>
              </a:custGeom>
              <a:grpFill/>
              <a:ln w="1099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4325736D-D837-7569-6AA6-E03C993A4BA2}"/>
                  </a:ext>
                </a:extLst>
              </p:cNvPr>
              <p:cNvSpPr/>
              <p:nvPr/>
            </p:nvSpPr>
            <p:spPr>
              <a:xfrm>
                <a:off x="6941405" y="5096554"/>
                <a:ext cx="1925944" cy="107791"/>
              </a:xfrm>
              <a:custGeom>
                <a:avLst/>
                <a:gdLst>
                  <a:gd name="connsiteX0" fmla="*/ 0 w 1925944"/>
                  <a:gd name="connsiteY0" fmla="*/ 0 h 107791"/>
                  <a:gd name="connsiteX1" fmla="*/ 1925945 w 1925944"/>
                  <a:gd name="connsiteY1" fmla="*/ 0 h 107791"/>
                  <a:gd name="connsiteX2" fmla="*/ 1925945 w 1925944"/>
                  <a:gd name="connsiteY2" fmla="*/ 107791 h 107791"/>
                  <a:gd name="connsiteX3" fmla="*/ 0 w 1925944"/>
                  <a:gd name="connsiteY3" fmla="*/ 107791 h 107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5944" h="107791">
                    <a:moveTo>
                      <a:pt x="0" y="0"/>
                    </a:moveTo>
                    <a:lnTo>
                      <a:pt x="1925945" y="0"/>
                    </a:lnTo>
                    <a:lnTo>
                      <a:pt x="1925945" y="107791"/>
                    </a:lnTo>
                    <a:lnTo>
                      <a:pt x="0" y="107791"/>
                    </a:lnTo>
                    <a:close/>
                  </a:path>
                </a:pathLst>
              </a:custGeom>
              <a:grpFill/>
              <a:ln w="1099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69259DC8-3BA2-9060-15F3-6E5959EA5BA5}"/>
                  </a:ext>
                </a:extLst>
              </p:cNvPr>
              <p:cNvSpPr/>
              <p:nvPr/>
            </p:nvSpPr>
            <p:spPr>
              <a:xfrm>
                <a:off x="6941405" y="4579596"/>
                <a:ext cx="1925944" cy="107791"/>
              </a:xfrm>
              <a:custGeom>
                <a:avLst/>
                <a:gdLst>
                  <a:gd name="connsiteX0" fmla="*/ 0 w 1925944"/>
                  <a:gd name="connsiteY0" fmla="*/ 0 h 107791"/>
                  <a:gd name="connsiteX1" fmla="*/ 1925945 w 1925944"/>
                  <a:gd name="connsiteY1" fmla="*/ 0 h 107791"/>
                  <a:gd name="connsiteX2" fmla="*/ 1925945 w 1925944"/>
                  <a:gd name="connsiteY2" fmla="*/ 107791 h 107791"/>
                  <a:gd name="connsiteX3" fmla="*/ 0 w 1925944"/>
                  <a:gd name="connsiteY3" fmla="*/ 107791 h 107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5944" h="107791">
                    <a:moveTo>
                      <a:pt x="0" y="0"/>
                    </a:moveTo>
                    <a:lnTo>
                      <a:pt x="1925945" y="0"/>
                    </a:lnTo>
                    <a:lnTo>
                      <a:pt x="1925945" y="107791"/>
                    </a:lnTo>
                    <a:lnTo>
                      <a:pt x="0" y="107791"/>
                    </a:lnTo>
                    <a:close/>
                  </a:path>
                </a:pathLst>
              </a:custGeom>
              <a:grpFill/>
              <a:ln w="1099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7F101A23-DCEF-B4D4-6B13-9754D13A7944}"/>
                  </a:ext>
                </a:extLst>
              </p:cNvPr>
              <p:cNvSpPr/>
              <p:nvPr/>
            </p:nvSpPr>
            <p:spPr>
              <a:xfrm>
                <a:off x="6941405" y="4923868"/>
                <a:ext cx="1925944" cy="107791"/>
              </a:xfrm>
              <a:custGeom>
                <a:avLst/>
                <a:gdLst>
                  <a:gd name="connsiteX0" fmla="*/ 0 w 1925944"/>
                  <a:gd name="connsiteY0" fmla="*/ 0 h 107791"/>
                  <a:gd name="connsiteX1" fmla="*/ 1925945 w 1925944"/>
                  <a:gd name="connsiteY1" fmla="*/ 0 h 107791"/>
                  <a:gd name="connsiteX2" fmla="*/ 1925945 w 1925944"/>
                  <a:gd name="connsiteY2" fmla="*/ 107791 h 107791"/>
                  <a:gd name="connsiteX3" fmla="*/ 0 w 1925944"/>
                  <a:gd name="connsiteY3" fmla="*/ 107791 h 107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5944" h="107791">
                    <a:moveTo>
                      <a:pt x="0" y="0"/>
                    </a:moveTo>
                    <a:lnTo>
                      <a:pt x="1925945" y="0"/>
                    </a:lnTo>
                    <a:lnTo>
                      <a:pt x="1925945" y="107791"/>
                    </a:lnTo>
                    <a:lnTo>
                      <a:pt x="0" y="107791"/>
                    </a:lnTo>
                    <a:close/>
                  </a:path>
                </a:pathLst>
              </a:custGeom>
              <a:grpFill/>
              <a:ln w="1099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DF297094-FB97-232C-F445-135B047920A2}"/>
                  </a:ext>
                </a:extLst>
              </p:cNvPr>
              <p:cNvSpPr/>
              <p:nvPr/>
            </p:nvSpPr>
            <p:spPr>
              <a:xfrm>
                <a:off x="7897228" y="3891051"/>
                <a:ext cx="970121" cy="107791"/>
              </a:xfrm>
              <a:custGeom>
                <a:avLst/>
                <a:gdLst>
                  <a:gd name="connsiteX0" fmla="*/ 0 w 970121"/>
                  <a:gd name="connsiteY0" fmla="*/ 0 h 107791"/>
                  <a:gd name="connsiteX1" fmla="*/ 970122 w 970121"/>
                  <a:gd name="connsiteY1" fmla="*/ 0 h 107791"/>
                  <a:gd name="connsiteX2" fmla="*/ 970122 w 970121"/>
                  <a:gd name="connsiteY2" fmla="*/ 107791 h 107791"/>
                  <a:gd name="connsiteX3" fmla="*/ 0 w 970121"/>
                  <a:gd name="connsiteY3" fmla="*/ 107791 h 107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70121" h="107791">
                    <a:moveTo>
                      <a:pt x="0" y="0"/>
                    </a:moveTo>
                    <a:lnTo>
                      <a:pt x="970122" y="0"/>
                    </a:lnTo>
                    <a:lnTo>
                      <a:pt x="970122" y="107791"/>
                    </a:lnTo>
                    <a:lnTo>
                      <a:pt x="0" y="107791"/>
                    </a:lnTo>
                    <a:close/>
                  </a:path>
                </a:pathLst>
              </a:custGeom>
              <a:grpFill/>
              <a:ln w="1099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80E437CE-86E7-10D5-CD0A-C99D5E0AE03F}"/>
                  </a:ext>
                </a:extLst>
              </p:cNvPr>
              <p:cNvSpPr/>
              <p:nvPr/>
            </p:nvSpPr>
            <p:spPr>
              <a:xfrm>
                <a:off x="6941405" y="5268140"/>
                <a:ext cx="1925944" cy="107791"/>
              </a:xfrm>
              <a:custGeom>
                <a:avLst/>
                <a:gdLst>
                  <a:gd name="connsiteX0" fmla="*/ 0 w 1925944"/>
                  <a:gd name="connsiteY0" fmla="*/ 0 h 107791"/>
                  <a:gd name="connsiteX1" fmla="*/ 1925945 w 1925944"/>
                  <a:gd name="connsiteY1" fmla="*/ 0 h 107791"/>
                  <a:gd name="connsiteX2" fmla="*/ 1925945 w 1925944"/>
                  <a:gd name="connsiteY2" fmla="*/ 107791 h 107791"/>
                  <a:gd name="connsiteX3" fmla="*/ 0 w 1925944"/>
                  <a:gd name="connsiteY3" fmla="*/ 107791 h 107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5944" h="107791">
                    <a:moveTo>
                      <a:pt x="0" y="0"/>
                    </a:moveTo>
                    <a:lnTo>
                      <a:pt x="1925945" y="0"/>
                    </a:lnTo>
                    <a:lnTo>
                      <a:pt x="1925945" y="107791"/>
                    </a:lnTo>
                    <a:lnTo>
                      <a:pt x="0" y="107791"/>
                    </a:lnTo>
                    <a:close/>
                  </a:path>
                </a:pathLst>
              </a:custGeom>
              <a:grpFill/>
              <a:ln w="1099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96BB6ADE-242F-B23C-8384-761C458F25AD}"/>
                  </a:ext>
                </a:extLst>
              </p:cNvPr>
              <p:cNvSpPr/>
              <p:nvPr/>
            </p:nvSpPr>
            <p:spPr>
              <a:xfrm>
                <a:off x="7897228" y="4062637"/>
                <a:ext cx="970121" cy="106691"/>
              </a:xfrm>
              <a:custGeom>
                <a:avLst/>
                <a:gdLst>
                  <a:gd name="connsiteX0" fmla="*/ 0 w 970121"/>
                  <a:gd name="connsiteY0" fmla="*/ 0 h 106691"/>
                  <a:gd name="connsiteX1" fmla="*/ 970122 w 970121"/>
                  <a:gd name="connsiteY1" fmla="*/ 0 h 106691"/>
                  <a:gd name="connsiteX2" fmla="*/ 970122 w 970121"/>
                  <a:gd name="connsiteY2" fmla="*/ 106691 h 106691"/>
                  <a:gd name="connsiteX3" fmla="*/ 0 w 970121"/>
                  <a:gd name="connsiteY3" fmla="*/ 106691 h 1066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70121" h="106691">
                    <a:moveTo>
                      <a:pt x="0" y="0"/>
                    </a:moveTo>
                    <a:lnTo>
                      <a:pt x="970122" y="0"/>
                    </a:lnTo>
                    <a:lnTo>
                      <a:pt x="970122" y="106691"/>
                    </a:lnTo>
                    <a:lnTo>
                      <a:pt x="0" y="106691"/>
                    </a:lnTo>
                    <a:close/>
                  </a:path>
                </a:pathLst>
              </a:custGeom>
              <a:grpFill/>
              <a:ln w="1099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0916CC82-9AF3-43C4-A8FD-91A53958585C}"/>
                  </a:ext>
                </a:extLst>
              </p:cNvPr>
              <p:cNvSpPr/>
              <p:nvPr/>
            </p:nvSpPr>
            <p:spPr>
              <a:xfrm>
                <a:off x="4076136" y="5440827"/>
                <a:ext cx="1927044" cy="107791"/>
              </a:xfrm>
              <a:custGeom>
                <a:avLst/>
                <a:gdLst>
                  <a:gd name="connsiteX0" fmla="*/ 0 w 1927044"/>
                  <a:gd name="connsiteY0" fmla="*/ 0 h 107791"/>
                  <a:gd name="connsiteX1" fmla="*/ 1927045 w 1927044"/>
                  <a:gd name="connsiteY1" fmla="*/ 0 h 107791"/>
                  <a:gd name="connsiteX2" fmla="*/ 1927045 w 1927044"/>
                  <a:gd name="connsiteY2" fmla="*/ 107791 h 107791"/>
                  <a:gd name="connsiteX3" fmla="*/ 0 w 1927044"/>
                  <a:gd name="connsiteY3" fmla="*/ 107791 h 107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7044" h="107791">
                    <a:moveTo>
                      <a:pt x="0" y="0"/>
                    </a:moveTo>
                    <a:lnTo>
                      <a:pt x="1927045" y="0"/>
                    </a:lnTo>
                    <a:lnTo>
                      <a:pt x="1927045" y="107791"/>
                    </a:lnTo>
                    <a:lnTo>
                      <a:pt x="0" y="107791"/>
                    </a:lnTo>
                    <a:close/>
                  </a:path>
                </a:pathLst>
              </a:custGeom>
              <a:grpFill/>
              <a:ln w="1099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9D5F0522-FF82-9FBD-626F-970E80DA7073}"/>
                  </a:ext>
                </a:extLst>
              </p:cNvPr>
              <p:cNvSpPr/>
              <p:nvPr/>
            </p:nvSpPr>
            <p:spPr>
              <a:xfrm>
                <a:off x="4076136" y="4406910"/>
                <a:ext cx="970121" cy="107791"/>
              </a:xfrm>
              <a:custGeom>
                <a:avLst/>
                <a:gdLst>
                  <a:gd name="connsiteX0" fmla="*/ 0 w 970121"/>
                  <a:gd name="connsiteY0" fmla="*/ 0 h 107791"/>
                  <a:gd name="connsiteX1" fmla="*/ 970122 w 970121"/>
                  <a:gd name="connsiteY1" fmla="*/ 0 h 107791"/>
                  <a:gd name="connsiteX2" fmla="*/ 970122 w 970121"/>
                  <a:gd name="connsiteY2" fmla="*/ 107791 h 107791"/>
                  <a:gd name="connsiteX3" fmla="*/ 0 w 970121"/>
                  <a:gd name="connsiteY3" fmla="*/ 107791 h 107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70121" h="107791">
                    <a:moveTo>
                      <a:pt x="0" y="0"/>
                    </a:moveTo>
                    <a:lnTo>
                      <a:pt x="970122" y="0"/>
                    </a:lnTo>
                    <a:lnTo>
                      <a:pt x="970122" y="107791"/>
                    </a:lnTo>
                    <a:lnTo>
                      <a:pt x="0" y="107791"/>
                    </a:lnTo>
                    <a:close/>
                  </a:path>
                </a:pathLst>
              </a:custGeom>
              <a:grpFill/>
              <a:ln w="1099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60A2E348-035E-DBD2-226A-893099ADD363}"/>
                  </a:ext>
                </a:extLst>
              </p:cNvPr>
              <p:cNvSpPr/>
              <p:nvPr/>
            </p:nvSpPr>
            <p:spPr>
              <a:xfrm>
                <a:off x="7897228" y="4235324"/>
                <a:ext cx="970121" cy="107791"/>
              </a:xfrm>
              <a:custGeom>
                <a:avLst/>
                <a:gdLst>
                  <a:gd name="connsiteX0" fmla="*/ 0 w 970121"/>
                  <a:gd name="connsiteY0" fmla="*/ 0 h 107791"/>
                  <a:gd name="connsiteX1" fmla="*/ 970122 w 970121"/>
                  <a:gd name="connsiteY1" fmla="*/ 0 h 107791"/>
                  <a:gd name="connsiteX2" fmla="*/ 970122 w 970121"/>
                  <a:gd name="connsiteY2" fmla="*/ 107791 h 107791"/>
                  <a:gd name="connsiteX3" fmla="*/ 0 w 970121"/>
                  <a:gd name="connsiteY3" fmla="*/ 107791 h 107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70121" h="107791">
                    <a:moveTo>
                      <a:pt x="0" y="0"/>
                    </a:moveTo>
                    <a:lnTo>
                      <a:pt x="970122" y="0"/>
                    </a:lnTo>
                    <a:lnTo>
                      <a:pt x="970122" y="107791"/>
                    </a:lnTo>
                    <a:lnTo>
                      <a:pt x="0" y="107791"/>
                    </a:lnTo>
                    <a:close/>
                  </a:path>
                </a:pathLst>
              </a:custGeom>
              <a:grpFill/>
              <a:ln w="1099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A693F8C4-24E3-22B6-EA71-051CCEEC1164}"/>
                  </a:ext>
                </a:extLst>
              </p:cNvPr>
              <p:cNvSpPr/>
              <p:nvPr/>
            </p:nvSpPr>
            <p:spPr>
              <a:xfrm>
                <a:off x="7897228" y="4406910"/>
                <a:ext cx="970121" cy="107791"/>
              </a:xfrm>
              <a:custGeom>
                <a:avLst/>
                <a:gdLst>
                  <a:gd name="connsiteX0" fmla="*/ 0 w 970121"/>
                  <a:gd name="connsiteY0" fmla="*/ 0 h 107791"/>
                  <a:gd name="connsiteX1" fmla="*/ 970122 w 970121"/>
                  <a:gd name="connsiteY1" fmla="*/ 0 h 107791"/>
                  <a:gd name="connsiteX2" fmla="*/ 970122 w 970121"/>
                  <a:gd name="connsiteY2" fmla="*/ 107791 h 107791"/>
                  <a:gd name="connsiteX3" fmla="*/ 0 w 970121"/>
                  <a:gd name="connsiteY3" fmla="*/ 107791 h 107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70121" h="107791">
                    <a:moveTo>
                      <a:pt x="0" y="0"/>
                    </a:moveTo>
                    <a:lnTo>
                      <a:pt x="970122" y="0"/>
                    </a:lnTo>
                    <a:lnTo>
                      <a:pt x="970122" y="107791"/>
                    </a:lnTo>
                    <a:lnTo>
                      <a:pt x="0" y="107791"/>
                    </a:lnTo>
                    <a:close/>
                  </a:path>
                </a:pathLst>
              </a:custGeom>
              <a:grpFill/>
              <a:ln w="1099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9045CA0B-B6C6-F215-7058-E2F72FA7B23D}"/>
                  </a:ext>
                </a:extLst>
              </p:cNvPr>
              <p:cNvSpPr/>
              <p:nvPr/>
            </p:nvSpPr>
            <p:spPr>
              <a:xfrm>
                <a:off x="6940305" y="2857134"/>
                <a:ext cx="1927044" cy="107791"/>
              </a:xfrm>
              <a:custGeom>
                <a:avLst/>
                <a:gdLst>
                  <a:gd name="connsiteX0" fmla="*/ 0 w 1927044"/>
                  <a:gd name="connsiteY0" fmla="*/ 0 h 107791"/>
                  <a:gd name="connsiteX1" fmla="*/ 1927045 w 1927044"/>
                  <a:gd name="connsiteY1" fmla="*/ 0 h 107791"/>
                  <a:gd name="connsiteX2" fmla="*/ 1927045 w 1927044"/>
                  <a:gd name="connsiteY2" fmla="*/ 107791 h 107791"/>
                  <a:gd name="connsiteX3" fmla="*/ 0 w 1927044"/>
                  <a:gd name="connsiteY3" fmla="*/ 107791 h 107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7044" h="107791">
                    <a:moveTo>
                      <a:pt x="0" y="0"/>
                    </a:moveTo>
                    <a:lnTo>
                      <a:pt x="1927045" y="0"/>
                    </a:lnTo>
                    <a:lnTo>
                      <a:pt x="1927045" y="107791"/>
                    </a:lnTo>
                    <a:lnTo>
                      <a:pt x="0" y="107791"/>
                    </a:lnTo>
                    <a:close/>
                  </a:path>
                </a:pathLst>
              </a:custGeom>
              <a:grpFill/>
              <a:ln w="1099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EA717792-D824-5E22-8478-E774FB384163}"/>
                  </a:ext>
                </a:extLst>
              </p:cNvPr>
              <p:cNvSpPr/>
              <p:nvPr/>
            </p:nvSpPr>
            <p:spPr>
              <a:xfrm>
                <a:off x="6940305" y="2685548"/>
                <a:ext cx="1927044" cy="107791"/>
              </a:xfrm>
              <a:custGeom>
                <a:avLst/>
                <a:gdLst>
                  <a:gd name="connsiteX0" fmla="*/ 0 w 1927044"/>
                  <a:gd name="connsiteY0" fmla="*/ 0 h 107791"/>
                  <a:gd name="connsiteX1" fmla="*/ 1927045 w 1927044"/>
                  <a:gd name="connsiteY1" fmla="*/ 0 h 107791"/>
                  <a:gd name="connsiteX2" fmla="*/ 1927045 w 1927044"/>
                  <a:gd name="connsiteY2" fmla="*/ 107791 h 107791"/>
                  <a:gd name="connsiteX3" fmla="*/ 0 w 1927044"/>
                  <a:gd name="connsiteY3" fmla="*/ 107791 h 107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7044" h="107791">
                    <a:moveTo>
                      <a:pt x="0" y="0"/>
                    </a:moveTo>
                    <a:lnTo>
                      <a:pt x="1927045" y="0"/>
                    </a:lnTo>
                    <a:lnTo>
                      <a:pt x="1927045" y="107791"/>
                    </a:lnTo>
                    <a:lnTo>
                      <a:pt x="0" y="107791"/>
                    </a:lnTo>
                    <a:close/>
                  </a:path>
                </a:pathLst>
              </a:custGeom>
              <a:grpFill/>
              <a:ln w="1099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49A05EA2-93E2-D88D-4EE1-1A5CE6DE6A8F}"/>
                  </a:ext>
                </a:extLst>
              </p:cNvPr>
              <p:cNvSpPr/>
              <p:nvPr/>
            </p:nvSpPr>
            <p:spPr>
              <a:xfrm>
                <a:off x="4076136" y="3546779"/>
                <a:ext cx="1925944" cy="107791"/>
              </a:xfrm>
              <a:custGeom>
                <a:avLst/>
                <a:gdLst>
                  <a:gd name="connsiteX0" fmla="*/ 0 w 1925944"/>
                  <a:gd name="connsiteY0" fmla="*/ 0 h 107791"/>
                  <a:gd name="connsiteX1" fmla="*/ 1925945 w 1925944"/>
                  <a:gd name="connsiteY1" fmla="*/ 0 h 107791"/>
                  <a:gd name="connsiteX2" fmla="*/ 1925945 w 1925944"/>
                  <a:gd name="connsiteY2" fmla="*/ 107791 h 107791"/>
                  <a:gd name="connsiteX3" fmla="*/ 0 w 1925944"/>
                  <a:gd name="connsiteY3" fmla="*/ 107791 h 107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5944" h="107791">
                    <a:moveTo>
                      <a:pt x="0" y="0"/>
                    </a:moveTo>
                    <a:lnTo>
                      <a:pt x="1925945" y="0"/>
                    </a:lnTo>
                    <a:lnTo>
                      <a:pt x="1925945" y="107791"/>
                    </a:lnTo>
                    <a:lnTo>
                      <a:pt x="0" y="107791"/>
                    </a:lnTo>
                    <a:close/>
                  </a:path>
                </a:pathLst>
              </a:custGeom>
              <a:grpFill/>
              <a:ln w="1099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05412359-87C7-9FF3-8879-97668EA78F69}"/>
                  </a:ext>
                </a:extLst>
              </p:cNvPr>
              <p:cNvSpPr/>
              <p:nvPr/>
            </p:nvSpPr>
            <p:spPr>
              <a:xfrm>
                <a:off x="4076136" y="3374093"/>
                <a:ext cx="1925944" cy="107791"/>
              </a:xfrm>
              <a:custGeom>
                <a:avLst/>
                <a:gdLst>
                  <a:gd name="connsiteX0" fmla="*/ 0 w 1925944"/>
                  <a:gd name="connsiteY0" fmla="*/ 0 h 107791"/>
                  <a:gd name="connsiteX1" fmla="*/ 1925945 w 1925944"/>
                  <a:gd name="connsiteY1" fmla="*/ 0 h 107791"/>
                  <a:gd name="connsiteX2" fmla="*/ 1925945 w 1925944"/>
                  <a:gd name="connsiteY2" fmla="*/ 107791 h 107791"/>
                  <a:gd name="connsiteX3" fmla="*/ 0 w 1925944"/>
                  <a:gd name="connsiteY3" fmla="*/ 107791 h 107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5944" h="107791">
                    <a:moveTo>
                      <a:pt x="0" y="0"/>
                    </a:moveTo>
                    <a:lnTo>
                      <a:pt x="1925945" y="0"/>
                    </a:lnTo>
                    <a:lnTo>
                      <a:pt x="1925945" y="107791"/>
                    </a:lnTo>
                    <a:lnTo>
                      <a:pt x="0" y="107791"/>
                    </a:lnTo>
                    <a:close/>
                  </a:path>
                </a:pathLst>
              </a:custGeom>
              <a:grpFill/>
              <a:ln w="1099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561F51AD-2B1A-C349-695C-78399711D4D0}"/>
                  </a:ext>
                </a:extLst>
              </p:cNvPr>
              <p:cNvSpPr/>
              <p:nvPr/>
            </p:nvSpPr>
            <p:spPr>
              <a:xfrm>
                <a:off x="4076136" y="3029821"/>
                <a:ext cx="1925944" cy="107791"/>
              </a:xfrm>
              <a:custGeom>
                <a:avLst/>
                <a:gdLst>
                  <a:gd name="connsiteX0" fmla="*/ 0 w 1925944"/>
                  <a:gd name="connsiteY0" fmla="*/ 0 h 107791"/>
                  <a:gd name="connsiteX1" fmla="*/ 1925945 w 1925944"/>
                  <a:gd name="connsiteY1" fmla="*/ 0 h 107791"/>
                  <a:gd name="connsiteX2" fmla="*/ 1925945 w 1925944"/>
                  <a:gd name="connsiteY2" fmla="*/ 107791 h 107791"/>
                  <a:gd name="connsiteX3" fmla="*/ 0 w 1925944"/>
                  <a:gd name="connsiteY3" fmla="*/ 107791 h 107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5944" h="107791">
                    <a:moveTo>
                      <a:pt x="0" y="0"/>
                    </a:moveTo>
                    <a:lnTo>
                      <a:pt x="1925945" y="0"/>
                    </a:lnTo>
                    <a:lnTo>
                      <a:pt x="1925945" y="107791"/>
                    </a:lnTo>
                    <a:lnTo>
                      <a:pt x="0" y="107791"/>
                    </a:lnTo>
                    <a:close/>
                  </a:path>
                </a:pathLst>
              </a:custGeom>
              <a:grpFill/>
              <a:ln w="1099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6C704043-4D20-00B5-55D0-486AA875A893}"/>
                  </a:ext>
                </a:extLst>
              </p:cNvPr>
              <p:cNvSpPr/>
              <p:nvPr/>
            </p:nvSpPr>
            <p:spPr>
              <a:xfrm>
                <a:off x="4076136" y="2857134"/>
                <a:ext cx="1925944" cy="107791"/>
              </a:xfrm>
              <a:custGeom>
                <a:avLst/>
                <a:gdLst>
                  <a:gd name="connsiteX0" fmla="*/ 0 w 1925944"/>
                  <a:gd name="connsiteY0" fmla="*/ 0 h 107791"/>
                  <a:gd name="connsiteX1" fmla="*/ 1925945 w 1925944"/>
                  <a:gd name="connsiteY1" fmla="*/ 0 h 107791"/>
                  <a:gd name="connsiteX2" fmla="*/ 1925945 w 1925944"/>
                  <a:gd name="connsiteY2" fmla="*/ 107791 h 107791"/>
                  <a:gd name="connsiteX3" fmla="*/ 0 w 1925944"/>
                  <a:gd name="connsiteY3" fmla="*/ 107791 h 107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5944" h="107791">
                    <a:moveTo>
                      <a:pt x="0" y="0"/>
                    </a:moveTo>
                    <a:lnTo>
                      <a:pt x="1925945" y="0"/>
                    </a:lnTo>
                    <a:lnTo>
                      <a:pt x="1925945" y="107791"/>
                    </a:lnTo>
                    <a:lnTo>
                      <a:pt x="0" y="107791"/>
                    </a:lnTo>
                    <a:close/>
                  </a:path>
                </a:pathLst>
              </a:custGeom>
              <a:grpFill/>
              <a:ln w="1099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DD50AE58-CE3E-F3BC-AFC3-AE71028C309F}"/>
                  </a:ext>
                </a:extLst>
              </p:cNvPr>
              <p:cNvSpPr/>
              <p:nvPr/>
            </p:nvSpPr>
            <p:spPr>
              <a:xfrm>
                <a:off x="4076136" y="2685548"/>
                <a:ext cx="1925944" cy="107791"/>
              </a:xfrm>
              <a:custGeom>
                <a:avLst/>
                <a:gdLst>
                  <a:gd name="connsiteX0" fmla="*/ 0 w 1925944"/>
                  <a:gd name="connsiteY0" fmla="*/ 0 h 107791"/>
                  <a:gd name="connsiteX1" fmla="*/ 1925945 w 1925944"/>
                  <a:gd name="connsiteY1" fmla="*/ 0 h 107791"/>
                  <a:gd name="connsiteX2" fmla="*/ 1925945 w 1925944"/>
                  <a:gd name="connsiteY2" fmla="*/ 107791 h 107791"/>
                  <a:gd name="connsiteX3" fmla="*/ 0 w 1925944"/>
                  <a:gd name="connsiteY3" fmla="*/ 107791 h 107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5944" h="107791">
                    <a:moveTo>
                      <a:pt x="0" y="0"/>
                    </a:moveTo>
                    <a:lnTo>
                      <a:pt x="1925945" y="0"/>
                    </a:lnTo>
                    <a:lnTo>
                      <a:pt x="1925945" y="107791"/>
                    </a:lnTo>
                    <a:lnTo>
                      <a:pt x="0" y="107791"/>
                    </a:lnTo>
                    <a:close/>
                  </a:path>
                </a:pathLst>
              </a:custGeom>
              <a:grpFill/>
              <a:ln w="1099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F069A1F4-BA88-5EFD-0976-BFF6FF68FD43}"/>
                  </a:ext>
                </a:extLst>
              </p:cNvPr>
              <p:cNvSpPr/>
              <p:nvPr/>
            </p:nvSpPr>
            <p:spPr>
              <a:xfrm>
                <a:off x="4076136" y="3202507"/>
                <a:ext cx="1925944" cy="107791"/>
              </a:xfrm>
              <a:custGeom>
                <a:avLst/>
                <a:gdLst>
                  <a:gd name="connsiteX0" fmla="*/ 0 w 1925944"/>
                  <a:gd name="connsiteY0" fmla="*/ 0 h 107791"/>
                  <a:gd name="connsiteX1" fmla="*/ 1925945 w 1925944"/>
                  <a:gd name="connsiteY1" fmla="*/ 0 h 107791"/>
                  <a:gd name="connsiteX2" fmla="*/ 1925945 w 1925944"/>
                  <a:gd name="connsiteY2" fmla="*/ 107791 h 107791"/>
                  <a:gd name="connsiteX3" fmla="*/ 0 w 1925944"/>
                  <a:gd name="connsiteY3" fmla="*/ 107791 h 107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5944" h="107791">
                    <a:moveTo>
                      <a:pt x="0" y="0"/>
                    </a:moveTo>
                    <a:lnTo>
                      <a:pt x="1925945" y="0"/>
                    </a:lnTo>
                    <a:lnTo>
                      <a:pt x="1925945" y="107791"/>
                    </a:lnTo>
                    <a:lnTo>
                      <a:pt x="0" y="107791"/>
                    </a:lnTo>
                    <a:close/>
                  </a:path>
                </a:pathLst>
              </a:custGeom>
              <a:grpFill/>
              <a:ln w="1099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275F193D-406C-F404-4B28-7A1E72FF011F}"/>
                  </a:ext>
                </a:extLst>
              </p:cNvPr>
              <p:cNvSpPr/>
              <p:nvPr/>
            </p:nvSpPr>
            <p:spPr>
              <a:xfrm>
                <a:off x="4076136" y="4235324"/>
                <a:ext cx="970121" cy="107791"/>
              </a:xfrm>
              <a:custGeom>
                <a:avLst/>
                <a:gdLst>
                  <a:gd name="connsiteX0" fmla="*/ 0 w 970121"/>
                  <a:gd name="connsiteY0" fmla="*/ 0 h 107791"/>
                  <a:gd name="connsiteX1" fmla="*/ 970122 w 970121"/>
                  <a:gd name="connsiteY1" fmla="*/ 0 h 107791"/>
                  <a:gd name="connsiteX2" fmla="*/ 970122 w 970121"/>
                  <a:gd name="connsiteY2" fmla="*/ 107791 h 107791"/>
                  <a:gd name="connsiteX3" fmla="*/ 0 w 970121"/>
                  <a:gd name="connsiteY3" fmla="*/ 107791 h 107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70121" h="107791">
                    <a:moveTo>
                      <a:pt x="0" y="0"/>
                    </a:moveTo>
                    <a:lnTo>
                      <a:pt x="970122" y="0"/>
                    </a:lnTo>
                    <a:lnTo>
                      <a:pt x="970122" y="107791"/>
                    </a:lnTo>
                    <a:lnTo>
                      <a:pt x="0" y="107791"/>
                    </a:lnTo>
                    <a:close/>
                  </a:path>
                </a:pathLst>
              </a:custGeom>
              <a:grpFill/>
              <a:ln w="1099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CD7F7DBC-5AB0-7705-1311-66B45389E711}"/>
                  </a:ext>
                </a:extLst>
              </p:cNvPr>
              <p:cNvSpPr/>
              <p:nvPr/>
            </p:nvSpPr>
            <p:spPr>
              <a:xfrm>
                <a:off x="4076136" y="3891051"/>
                <a:ext cx="970121" cy="107791"/>
              </a:xfrm>
              <a:custGeom>
                <a:avLst/>
                <a:gdLst>
                  <a:gd name="connsiteX0" fmla="*/ 0 w 970121"/>
                  <a:gd name="connsiteY0" fmla="*/ 0 h 107791"/>
                  <a:gd name="connsiteX1" fmla="*/ 970122 w 970121"/>
                  <a:gd name="connsiteY1" fmla="*/ 0 h 107791"/>
                  <a:gd name="connsiteX2" fmla="*/ 970122 w 970121"/>
                  <a:gd name="connsiteY2" fmla="*/ 107791 h 107791"/>
                  <a:gd name="connsiteX3" fmla="*/ 0 w 970121"/>
                  <a:gd name="connsiteY3" fmla="*/ 107791 h 107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70121" h="107791">
                    <a:moveTo>
                      <a:pt x="0" y="0"/>
                    </a:moveTo>
                    <a:lnTo>
                      <a:pt x="970122" y="0"/>
                    </a:lnTo>
                    <a:lnTo>
                      <a:pt x="970122" y="107791"/>
                    </a:lnTo>
                    <a:lnTo>
                      <a:pt x="0" y="107791"/>
                    </a:lnTo>
                    <a:close/>
                  </a:path>
                </a:pathLst>
              </a:custGeom>
              <a:grpFill/>
              <a:ln w="1099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CDE36767-571D-8173-C2F6-30EE6B72ACFB}"/>
                  </a:ext>
                </a:extLst>
              </p:cNvPr>
              <p:cNvSpPr/>
              <p:nvPr/>
            </p:nvSpPr>
            <p:spPr>
              <a:xfrm>
                <a:off x="4076136" y="4063737"/>
                <a:ext cx="970121" cy="106691"/>
              </a:xfrm>
              <a:custGeom>
                <a:avLst/>
                <a:gdLst>
                  <a:gd name="connsiteX0" fmla="*/ 0 w 970121"/>
                  <a:gd name="connsiteY0" fmla="*/ 0 h 106691"/>
                  <a:gd name="connsiteX1" fmla="*/ 970122 w 970121"/>
                  <a:gd name="connsiteY1" fmla="*/ 0 h 106691"/>
                  <a:gd name="connsiteX2" fmla="*/ 970122 w 970121"/>
                  <a:gd name="connsiteY2" fmla="*/ 106691 h 106691"/>
                  <a:gd name="connsiteX3" fmla="*/ 0 w 970121"/>
                  <a:gd name="connsiteY3" fmla="*/ 106691 h 1066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70121" h="106691">
                    <a:moveTo>
                      <a:pt x="0" y="0"/>
                    </a:moveTo>
                    <a:lnTo>
                      <a:pt x="970122" y="0"/>
                    </a:lnTo>
                    <a:lnTo>
                      <a:pt x="970122" y="106691"/>
                    </a:lnTo>
                    <a:lnTo>
                      <a:pt x="0" y="106691"/>
                    </a:lnTo>
                    <a:close/>
                  </a:path>
                </a:pathLst>
              </a:custGeom>
              <a:grpFill/>
              <a:ln w="1099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2204CA86-3A5E-F301-69A6-45F5D0616316}"/>
                  </a:ext>
                </a:extLst>
              </p:cNvPr>
              <p:cNvSpPr/>
              <p:nvPr/>
            </p:nvSpPr>
            <p:spPr>
              <a:xfrm>
                <a:off x="4076136" y="3718365"/>
                <a:ext cx="970121" cy="107791"/>
              </a:xfrm>
              <a:custGeom>
                <a:avLst/>
                <a:gdLst>
                  <a:gd name="connsiteX0" fmla="*/ 0 w 970121"/>
                  <a:gd name="connsiteY0" fmla="*/ 0 h 107791"/>
                  <a:gd name="connsiteX1" fmla="*/ 970122 w 970121"/>
                  <a:gd name="connsiteY1" fmla="*/ 0 h 107791"/>
                  <a:gd name="connsiteX2" fmla="*/ 970122 w 970121"/>
                  <a:gd name="connsiteY2" fmla="*/ 107791 h 107791"/>
                  <a:gd name="connsiteX3" fmla="*/ 0 w 970121"/>
                  <a:gd name="connsiteY3" fmla="*/ 107791 h 107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70121" h="107791">
                    <a:moveTo>
                      <a:pt x="0" y="0"/>
                    </a:moveTo>
                    <a:lnTo>
                      <a:pt x="970122" y="0"/>
                    </a:lnTo>
                    <a:lnTo>
                      <a:pt x="970122" y="107791"/>
                    </a:lnTo>
                    <a:lnTo>
                      <a:pt x="0" y="107791"/>
                    </a:lnTo>
                    <a:close/>
                  </a:path>
                </a:pathLst>
              </a:custGeom>
              <a:grpFill/>
              <a:ln w="1099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A4F79417-4C16-3C65-9AAC-2F20B02BFB65}"/>
                  </a:ext>
                </a:extLst>
              </p:cNvPr>
              <p:cNvSpPr/>
              <p:nvPr/>
            </p:nvSpPr>
            <p:spPr>
              <a:xfrm>
                <a:off x="4076136" y="4923868"/>
                <a:ext cx="1927044" cy="107791"/>
              </a:xfrm>
              <a:custGeom>
                <a:avLst/>
                <a:gdLst>
                  <a:gd name="connsiteX0" fmla="*/ 0 w 1927044"/>
                  <a:gd name="connsiteY0" fmla="*/ 0 h 107791"/>
                  <a:gd name="connsiteX1" fmla="*/ 1927045 w 1927044"/>
                  <a:gd name="connsiteY1" fmla="*/ 0 h 107791"/>
                  <a:gd name="connsiteX2" fmla="*/ 1927045 w 1927044"/>
                  <a:gd name="connsiteY2" fmla="*/ 107791 h 107791"/>
                  <a:gd name="connsiteX3" fmla="*/ 0 w 1927044"/>
                  <a:gd name="connsiteY3" fmla="*/ 107791 h 107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7044" h="107791">
                    <a:moveTo>
                      <a:pt x="0" y="0"/>
                    </a:moveTo>
                    <a:lnTo>
                      <a:pt x="1927045" y="0"/>
                    </a:lnTo>
                    <a:lnTo>
                      <a:pt x="1927045" y="107791"/>
                    </a:lnTo>
                    <a:lnTo>
                      <a:pt x="0" y="107791"/>
                    </a:lnTo>
                    <a:close/>
                  </a:path>
                </a:pathLst>
              </a:custGeom>
              <a:grpFill/>
              <a:ln w="1099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CD0D4C87-F87F-1338-3F83-495F499E26D9}"/>
                  </a:ext>
                </a:extLst>
              </p:cNvPr>
              <p:cNvSpPr/>
              <p:nvPr/>
            </p:nvSpPr>
            <p:spPr>
              <a:xfrm>
                <a:off x="6940305" y="3374093"/>
                <a:ext cx="1927044" cy="107791"/>
              </a:xfrm>
              <a:custGeom>
                <a:avLst/>
                <a:gdLst>
                  <a:gd name="connsiteX0" fmla="*/ 0 w 1927044"/>
                  <a:gd name="connsiteY0" fmla="*/ 0 h 107791"/>
                  <a:gd name="connsiteX1" fmla="*/ 1927045 w 1927044"/>
                  <a:gd name="connsiteY1" fmla="*/ 0 h 107791"/>
                  <a:gd name="connsiteX2" fmla="*/ 1927045 w 1927044"/>
                  <a:gd name="connsiteY2" fmla="*/ 107791 h 107791"/>
                  <a:gd name="connsiteX3" fmla="*/ 0 w 1927044"/>
                  <a:gd name="connsiteY3" fmla="*/ 107791 h 107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7044" h="107791">
                    <a:moveTo>
                      <a:pt x="0" y="0"/>
                    </a:moveTo>
                    <a:lnTo>
                      <a:pt x="1927045" y="0"/>
                    </a:lnTo>
                    <a:lnTo>
                      <a:pt x="1927045" y="107791"/>
                    </a:lnTo>
                    <a:lnTo>
                      <a:pt x="0" y="107791"/>
                    </a:lnTo>
                    <a:close/>
                  </a:path>
                </a:pathLst>
              </a:custGeom>
              <a:grpFill/>
              <a:ln w="1099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7A37FE41-0F8B-CC67-0EF0-BEF9F97A4F49}"/>
                  </a:ext>
                </a:extLst>
              </p:cNvPr>
              <p:cNvSpPr/>
              <p:nvPr/>
            </p:nvSpPr>
            <p:spPr>
              <a:xfrm>
                <a:off x="6940305" y="3546779"/>
                <a:ext cx="1927044" cy="107791"/>
              </a:xfrm>
              <a:custGeom>
                <a:avLst/>
                <a:gdLst>
                  <a:gd name="connsiteX0" fmla="*/ 0 w 1927044"/>
                  <a:gd name="connsiteY0" fmla="*/ 0 h 107791"/>
                  <a:gd name="connsiteX1" fmla="*/ 1927045 w 1927044"/>
                  <a:gd name="connsiteY1" fmla="*/ 0 h 107791"/>
                  <a:gd name="connsiteX2" fmla="*/ 1927045 w 1927044"/>
                  <a:gd name="connsiteY2" fmla="*/ 107791 h 107791"/>
                  <a:gd name="connsiteX3" fmla="*/ 0 w 1927044"/>
                  <a:gd name="connsiteY3" fmla="*/ 107791 h 107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7044" h="107791">
                    <a:moveTo>
                      <a:pt x="0" y="0"/>
                    </a:moveTo>
                    <a:lnTo>
                      <a:pt x="1927045" y="0"/>
                    </a:lnTo>
                    <a:lnTo>
                      <a:pt x="1927045" y="107791"/>
                    </a:lnTo>
                    <a:lnTo>
                      <a:pt x="0" y="107791"/>
                    </a:lnTo>
                    <a:close/>
                  </a:path>
                </a:pathLst>
              </a:custGeom>
              <a:grpFill/>
              <a:ln w="1099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0BAA9767-C435-AEB9-2CF9-B464160E1FD0}"/>
                  </a:ext>
                </a:extLst>
              </p:cNvPr>
              <p:cNvSpPr/>
              <p:nvPr/>
            </p:nvSpPr>
            <p:spPr>
              <a:xfrm>
                <a:off x="4076136" y="5096554"/>
                <a:ext cx="1927044" cy="107791"/>
              </a:xfrm>
              <a:custGeom>
                <a:avLst/>
                <a:gdLst>
                  <a:gd name="connsiteX0" fmla="*/ 0 w 1927044"/>
                  <a:gd name="connsiteY0" fmla="*/ 0 h 107791"/>
                  <a:gd name="connsiteX1" fmla="*/ 1927045 w 1927044"/>
                  <a:gd name="connsiteY1" fmla="*/ 0 h 107791"/>
                  <a:gd name="connsiteX2" fmla="*/ 1927045 w 1927044"/>
                  <a:gd name="connsiteY2" fmla="*/ 107791 h 107791"/>
                  <a:gd name="connsiteX3" fmla="*/ 0 w 1927044"/>
                  <a:gd name="connsiteY3" fmla="*/ 107791 h 107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7044" h="107791">
                    <a:moveTo>
                      <a:pt x="0" y="0"/>
                    </a:moveTo>
                    <a:lnTo>
                      <a:pt x="1927045" y="0"/>
                    </a:lnTo>
                    <a:lnTo>
                      <a:pt x="1927045" y="107791"/>
                    </a:lnTo>
                    <a:lnTo>
                      <a:pt x="0" y="107791"/>
                    </a:lnTo>
                    <a:close/>
                  </a:path>
                </a:pathLst>
              </a:custGeom>
              <a:grpFill/>
              <a:ln w="1099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3C074009-4D6D-2BAC-4072-A51FA79BDE0B}"/>
                  </a:ext>
                </a:extLst>
              </p:cNvPr>
              <p:cNvSpPr/>
              <p:nvPr/>
            </p:nvSpPr>
            <p:spPr>
              <a:xfrm>
                <a:off x="7897228" y="3718365"/>
                <a:ext cx="970121" cy="107791"/>
              </a:xfrm>
              <a:custGeom>
                <a:avLst/>
                <a:gdLst>
                  <a:gd name="connsiteX0" fmla="*/ 0 w 970121"/>
                  <a:gd name="connsiteY0" fmla="*/ 0 h 107791"/>
                  <a:gd name="connsiteX1" fmla="*/ 970122 w 970121"/>
                  <a:gd name="connsiteY1" fmla="*/ 0 h 107791"/>
                  <a:gd name="connsiteX2" fmla="*/ 970122 w 970121"/>
                  <a:gd name="connsiteY2" fmla="*/ 107791 h 107791"/>
                  <a:gd name="connsiteX3" fmla="*/ 0 w 970121"/>
                  <a:gd name="connsiteY3" fmla="*/ 107791 h 107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70121" h="107791">
                    <a:moveTo>
                      <a:pt x="0" y="0"/>
                    </a:moveTo>
                    <a:lnTo>
                      <a:pt x="970122" y="0"/>
                    </a:lnTo>
                    <a:lnTo>
                      <a:pt x="970122" y="107791"/>
                    </a:lnTo>
                    <a:lnTo>
                      <a:pt x="0" y="107791"/>
                    </a:lnTo>
                    <a:close/>
                  </a:path>
                </a:pathLst>
              </a:custGeom>
              <a:grpFill/>
              <a:ln w="1099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BE4A93EF-F03E-75E0-4C05-292F6AA6B4BA}"/>
                  </a:ext>
                </a:extLst>
              </p:cNvPr>
              <p:cNvSpPr/>
              <p:nvPr/>
            </p:nvSpPr>
            <p:spPr>
              <a:xfrm>
                <a:off x="4076136" y="4752282"/>
                <a:ext cx="1927044" cy="107791"/>
              </a:xfrm>
              <a:custGeom>
                <a:avLst/>
                <a:gdLst>
                  <a:gd name="connsiteX0" fmla="*/ 0 w 1927044"/>
                  <a:gd name="connsiteY0" fmla="*/ 0 h 107791"/>
                  <a:gd name="connsiteX1" fmla="*/ 1927045 w 1927044"/>
                  <a:gd name="connsiteY1" fmla="*/ 0 h 107791"/>
                  <a:gd name="connsiteX2" fmla="*/ 1927045 w 1927044"/>
                  <a:gd name="connsiteY2" fmla="*/ 107791 h 107791"/>
                  <a:gd name="connsiteX3" fmla="*/ 0 w 1927044"/>
                  <a:gd name="connsiteY3" fmla="*/ 107791 h 107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7044" h="107791">
                    <a:moveTo>
                      <a:pt x="0" y="0"/>
                    </a:moveTo>
                    <a:lnTo>
                      <a:pt x="1927045" y="0"/>
                    </a:lnTo>
                    <a:lnTo>
                      <a:pt x="1927045" y="107791"/>
                    </a:lnTo>
                    <a:lnTo>
                      <a:pt x="0" y="107791"/>
                    </a:lnTo>
                    <a:close/>
                  </a:path>
                </a:pathLst>
              </a:custGeom>
              <a:grpFill/>
              <a:ln w="1099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45E6A6C0-C909-203C-A987-3FCF1737B5DC}"/>
                  </a:ext>
                </a:extLst>
              </p:cNvPr>
              <p:cNvSpPr/>
              <p:nvPr/>
            </p:nvSpPr>
            <p:spPr>
              <a:xfrm>
                <a:off x="4076136" y="5268140"/>
                <a:ext cx="1927044" cy="107791"/>
              </a:xfrm>
              <a:custGeom>
                <a:avLst/>
                <a:gdLst>
                  <a:gd name="connsiteX0" fmla="*/ 0 w 1927044"/>
                  <a:gd name="connsiteY0" fmla="*/ 0 h 107791"/>
                  <a:gd name="connsiteX1" fmla="*/ 1927045 w 1927044"/>
                  <a:gd name="connsiteY1" fmla="*/ 0 h 107791"/>
                  <a:gd name="connsiteX2" fmla="*/ 1927045 w 1927044"/>
                  <a:gd name="connsiteY2" fmla="*/ 107791 h 107791"/>
                  <a:gd name="connsiteX3" fmla="*/ 0 w 1927044"/>
                  <a:gd name="connsiteY3" fmla="*/ 107791 h 107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7044" h="107791">
                    <a:moveTo>
                      <a:pt x="0" y="0"/>
                    </a:moveTo>
                    <a:lnTo>
                      <a:pt x="1927045" y="0"/>
                    </a:lnTo>
                    <a:lnTo>
                      <a:pt x="1927045" y="107791"/>
                    </a:lnTo>
                    <a:lnTo>
                      <a:pt x="0" y="107791"/>
                    </a:lnTo>
                    <a:close/>
                  </a:path>
                </a:pathLst>
              </a:custGeom>
              <a:grpFill/>
              <a:ln w="1099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1E0E8333-33EA-8A26-F58F-CD7C3C70F184}"/>
                  </a:ext>
                </a:extLst>
              </p:cNvPr>
              <p:cNvSpPr/>
              <p:nvPr/>
            </p:nvSpPr>
            <p:spPr>
              <a:xfrm>
                <a:off x="6940305" y="3029821"/>
                <a:ext cx="1927044" cy="107791"/>
              </a:xfrm>
              <a:custGeom>
                <a:avLst/>
                <a:gdLst>
                  <a:gd name="connsiteX0" fmla="*/ 0 w 1927044"/>
                  <a:gd name="connsiteY0" fmla="*/ 0 h 107791"/>
                  <a:gd name="connsiteX1" fmla="*/ 1927045 w 1927044"/>
                  <a:gd name="connsiteY1" fmla="*/ 0 h 107791"/>
                  <a:gd name="connsiteX2" fmla="*/ 1927045 w 1927044"/>
                  <a:gd name="connsiteY2" fmla="*/ 107791 h 107791"/>
                  <a:gd name="connsiteX3" fmla="*/ 0 w 1927044"/>
                  <a:gd name="connsiteY3" fmla="*/ 107791 h 107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7044" h="107791">
                    <a:moveTo>
                      <a:pt x="0" y="0"/>
                    </a:moveTo>
                    <a:lnTo>
                      <a:pt x="1927045" y="0"/>
                    </a:lnTo>
                    <a:lnTo>
                      <a:pt x="1927045" y="107791"/>
                    </a:lnTo>
                    <a:lnTo>
                      <a:pt x="0" y="107791"/>
                    </a:lnTo>
                    <a:close/>
                  </a:path>
                </a:pathLst>
              </a:custGeom>
              <a:grpFill/>
              <a:ln w="1099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6C69897B-F96A-A77B-F76A-4D271FEB5F9A}"/>
                  </a:ext>
                </a:extLst>
              </p:cNvPr>
              <p:cNvSpPr/>
              <p:nvPr/>
            </p:nvSpPr>
            <p:spPr>
              <a:xfrm>
                <a:off x="4076136" y="4579596"/>
                <a:ext cx="1927044" cy="107791"/>
              </a:xfrm>
              <a:custGeom>
                <a:avLst/>
                <a:gdLst>
                  <a:gd name="connsiteX0" fmla="*/ 0 w 1927044"/>
                  <a:gd name="connsiteY0" fmla="*/ 0 h 107791"/>
                  <a:gd name="connsiteX1" fmla="*/ 1927045 w 1927044"/>
                  <a:gd name="connsiteY1" fmla="*/ 0 h 107791"/>
                  <a:gd name="connsiteX2" fmla="*/ 1927045 w 1927044"/>
                  <a:gd name="connsiteY2" fmla="*/ 107791 h 107791"/>
                  <a:gd name="connsiteX3" fmla="*/ 0 w 1927044"/>
                  <a:gd name="connsiteY3" fmla="*/ 107791 h 107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7044" h="107791">
                    <a:moveTo>
                      <a:pt x="0" y="0"/>
                    </a:moveTo>
                    <a:lnTo>
                      <a:pt x="1927045" y="0"/>
                    </a:lnTo>
                    <a:lnTo>
                      <a:pt x="1927045" y="107791"/>
                    </a:lnTo>
                    <a:lnTo>
                      <a:pt x="0" y="107791"/>
                    </a:lnTo>
                    <a:close/>
                  </a:path>
                </a:pathLst>
              </a:custGeom>
              <a:grpFill/>
              <a:ln w="1099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8F30E396-D3BA-9AD9-2182-EB6DA2DE48A4}"/>
                  </a:ext>
                </a:extLst>
              </p:cNvPr>
              <p:cNvSpPr/>
              <p:nvPr/>
            </p:nvSpPr>
            <p:spPr>
              <a:xfrm>
                <a:off x="6940305" y="3202507"/>
                <a:ext cx="1927044" cy="107791"/>
              </a:xfrm>
              <a:custGeom>
                <a:avLst/>
                <a:gdLst>
                  <a:gd name="connsiteX0" fmla="*/ 0 w 1927044"/>
                  <a:gd name="connsiteY0" fmla="*/ 0 h 107791"/>
                  <a:gd name="connsiteX1" fmla="*/ 1927045 w 1927044"/>
                  <a:gd name="connsiteY1" fmla="*/ 0 h 107791"/>
                  <a:gd name="connsiteX2" fmla="*/ 1927045 w 1927044"/>
                  <a:gd name="connsiteY2" fmla="*/ 107791 h 107791"/>
                  <a:gd name="connsiteX3" fmla="*/ 0 w 1927044"/>
                  <a:gd name="connsiteY3" fmla="*/ 107791 h 107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7044" h="107791">
                    <a:moveTo>
                      <a:pt x="0" y="0"/>
                    </a:moveTo>
                    <a:lnTo>
                      <a:pt x="1927045" y="0"/>
                    </a:lnTo>
                    <a:lnTo>
                      <a:pt x="1927045" y="107791"/>
                    </a:lnTo>
                    <a:lnTo>
                      <a:pt x="0" y="107791"/>
                    </a:lnTo>
                    <a:close/>
                  </a:path>
                </a:pathLst>
              </a:custGeom>
              <a:grpFill/>
              <a:ln w="1099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78E99EA1-6F75-61D1-1DBF-6B57A9C77A1A}"/>
                  </a:ext>
                </a:extLst>
              </p:cNvPr>
              <p:cNvSpPr/>
              <p:nvPr/>
            </p:nvSpPr>
            <p:spPr>
              <a:xfrm>
                <a:off x="6941405" y="5440827"/>
                <a:ext cx="1925944" cy="107791"/>
              </a:xfrm>
              <a:custGeom>
                <a:avLst/>
                <a:gdLst>
                  <a:gd name="connsiteX0" fmla="*/ 0 w 1925944"/>
                  <a:gd name="connsiteY0" fmla="*/ 0 h 107791"/>
                  <a:gd name="connsiteX1" fmla="*/ 1925945 w 1925944"/>
                  <a:gd name="connsiteY1" fmla="*/ 0 h 107791"/>
                  <a:gd name="connsiteX2" fmla="*/ 1925945 w 1925944"/>
                  <a:gd name="connsiteY2" fmla="*/ 107791 h 107791"/>
                  <a:gd name="connsiteX3" fmla="*/ 0 w 1925944"/>
                  <a:gd name="connsiteY3" fmla="*/ 107791 h 107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5944" h="107791">
                    <a:moveTo>
                      <a:pt x="0" y="0"/>
                    </a:moveTo>
                    <a:lnTo>
                      <a:pt x="1925945" y="0"/>
                    </a:lnTo>
                    <a:lnTo>
                      <a:pt x="1925945" y="107791"/>
                    </a:lnTo>
                    <a:lnTo>
                      <a:pt x="0" y="107791"/>
                    </a:lnTo>
                    <a:close/>
                  </a:path>
                </a:pathLst>
              </a:custGeom>
              <a:grpFill/>
              <a:ln w="1099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988B2AF2-7902-711F-1B7A-87EE1AF9E549}"/>
                  </a:ext>
                </a:extLst>
              </p:cNvPr>
              <p:cNvSpPr/>
              <p:nvPr/>
            </p:nvSpPr>
            <p:spPr>
              <a:xfrm>
                <a:off x="6941405" y="4752282"/>
                <a:ext cx="1925944" cy="107791"/>
              </a:xfrm>
              <a:custGeom>
                <a:avLst/>
                <a:gdLst>
                  <a:gd name="connsiteX0" fmla="*/ 0 w 1925944"/>
                  <a:gd name="connsiteY0" fmla="*/ 0 h 107791"/>
                  <a:gd name="connsiteX1" fmla="*/ 1925945 w 1925944"/>
                  <a:gd name="connsiteY1" fmla="*/ 0 h 107791"/>
                  <a:gd name="connsiteX2" fmla="*/ 1925945 w 1925944"/>
                  <a:gd name="connsiteY2" fmla="*/ 107791 h 107791"/>
                  <a:gd name="connsiteX3" fmla="*/ 0 w 1925944"/>
                  <a:gd name="connsiteY3" fmla="*/ 107791 h 107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5944" h="107791">
                    <a:moveTo>
                      <a:pt x="0" y="0"/>
                    </a:moveTo>
                    <a:lnTo>
                      <a:pt x="1925945" y="0"/>
                    </a:lnTo>
                    <a:lnTo>
                      <a:pt x="1925945" y="107791"/>
                    </a:lnTo>
                    <a:lnTo>
                      <a:pt x="0" y="107791"/>
                    </a:lnTo>
                    <a:close/>
                  </a:path>
                </a:pathLst>
              </a:custGeom>
              <a:grpFill/>
              <a:ln w="1099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59750119-230D-5E68-7318-AE032C9E3D10}"/>
                  </a:ext>
                </a:extLst>
              </p:cNvPr>
              <p:cNvSpPr/>
              <p:nvPr/>
            </p:nvSpPr>
            <p:spPr>
              <a:xfrm>
                <a:off x="6941405" y="5096554"/>
                <a:ext cx="1925944" cy="107791"/>
              </a:xfrm>
              <a:custGeom>
                <a:avLst/>
                <a:gdLst>
                  <a:gd name="connsiteX0" fmla="*/ 0 w 1925944"/>
                  <a:gd name="connsiteY0" fmla="*/ 0 h 107791"/>
                  <a:gd name="connsiteX1" fmla="*/ 1925945 w 1925944"/>
                  <a:gd name="connsiteY1" fmla="*/ 0 h 107791"/>
                  <a:gd name="connsiteX2" fmla="*/ 1925945 w 1925944"/>
                  <a:gd name="connsiteY2" fmla="*/ 107791 h 107791"/>
                  <a:gd name="connsiteX3" fmla="*/ 0 w 1925944"/>
                  <a:gd name="connsiteY3" fmla="*/ 107791 h 107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5944" h="107791">
                    <a:moveTo>
                      <a:pt x="0" y="0"/>
                    </a:moveTo>
                    <a:lnTo>
                      <a:pt x="1925945" y="0"/>
                    </a:lnTo>
                    <a:lnTo>
                      <a:pt x="1925945" y="107791"/>
                    </a:lnTo>
                    <a:lnTo>
                      <a:pt x="0" y="107791"/>
                    </a:lnTo>
                    <a:close/>
                  </a:path>
                </a:pathLst>
              </a:custGeom>
              <a:grpFill/>
              <a:ln w="1099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760EB6CC-C2D9-1627-3470-7467FCBFF382}"/>
                  </a:ext>
                </a:extLst>
              </p:cNvPr>
              <p:cNvSpPr/>
              <p:nvPr/>
            </p:nvSpPr>
            <p:spPr>
              <a:xfrm>
                <a:off x="6941405" y="4579596"/>
                <a:ext cx="1925944" cy="107791"/>
              </a:xfrm>
              <a:custGeom>
                <a:avLst/>
                <a:gdLst>
                  <a:gd name="connsiteX0" fmla="*/ 0 w 1925944"/>
                  <a:gd name="connsiteY0" fmla="*/ 0 h 107791"/>
                  <a:gd name="connsiteX1" fmla="*/ 1925945 w 1925944"/>
                  <a:gd name="connsiteY1" fmla="*/ 0 h 107791"/>
                  <a:gd name="connsiteX2" fmla="*/ 1925945 w 1925944"/>
                  <a:gd name="connsiteY2" fmla="*/ 107791 h 107791"/>
                  <a:gd name="connsiteX3" fmla="*/ 0 w 1925944"/>
                  <a:gd name="connsiteY3" fmla="*/ 107791 h 107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5944" h="107791">
                    <a:moveTo>
                      <a:pt x="0" y="0"/>
                    </a:moveTo>
                    <a:lnTo>
                      <a:pt x="1925945" y="0"/>
                    </a:lnTo>
                    <a:lnTo>
                      <a:pt x="1925945" y="107791"/>
                    </a:lnTo>
                    <a:lnTo>
                      <a:pt x="0" y="107791"/>
                    </a:lnTo>
                    <a:close/>
                  </a:path>
                </a:pathLst>
              </a:custGeom>
              <a:grpFill/>
              <a:ln w="1099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66085764-CBFC-129D-C4C3-1693B79FC420}"/>
                  </a:ext>
                </a:extLst>
              </p:cNvPr>
              <p:cNvSpPr/>
              <p:nvPr/>
            </p:nvSpPr>
            <p:spPr>
              <a:xfrm>
                <a:off x="6941405" y="4923868"/>
                <a:ext cx="1925944" cy="107791"/>
              </a:xfrm>
              <a:custGeom>
                <a:avLst/>
                <a:gdLst>
                  <a:gd name="connsiteX0" fmla="*/ 0 w 1925944"/>
                  <a:gd name="connsiteY0" fmla="*/ 0 h 107791"/>
                  <a:gd name="connsiteX1" fmla="*/ 1925945 w 1925944"/>
                  <a:gd name="connsiteY1" fmla="*/ 0 h 107791"/>
                  <a:gd name="connsiteX2" fmla="*/ 1925945 w 1925944"/>
                  <a:gd name="connsiteY2" fmla="*/ 107791 h 107791"/>
                  <a:gd name="connsiteX3" fmla="*/ 0 w 1925944"/>
                  <a:gd name="connsiteY3" fmla="*/ 107791 h 107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5944" h="107791">
                    <a:moveTo>
                      <a:pt x="0" y="0"/>
                    </a:moveTo>
                    <a:lnTo>
                      <a:pt x="1925945" y="0"/>
                    </a:lnTo>
                    <a:lnTo>
                      <a:pt x="1925945" y="107791"/>
                    </a:lnTo>
                    <a:lnTo>
                      <a:pt x="0" y="107791"/>
                    </a:lnTo>
                    <a:close/>
                  </a:path>
                </a:pathLst>
              </a:custGeom>
              <a:grpFill/>
              <a:ln w="1099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07F5A198-71F9-FF06-8F55-D1D9CFE9DB37}"/>
                  </a:ext>
                </a:extLst>
              </p:cNvPr>
              <p:cNvSpPr/>
              <p:nvPr/>
            </p:nvSpPr>
            <p:spPr>
              <a:xfrm>
                <a:off x="7897228" y="3891051"/>
                <a:ext cx="970121" cy="107791"/>
              </a:xfrm>
              <a:custGeom>
                <a:avLst/>
                <a:gdLst>
                  <a:gd name="connsiteX0" fmla="*/ 0 w 970121"/>
                  <a:gd name="connsiteY0" fmla="*/ 0 h 107791"/>
                  <a:gd name="connsiteX1" fmla="*/ 970122 w 970121"/>
                  <a:gd name="connsiteY1" fmla="*/ 0 h 107791"/>
                  <a:gd name="connsiteX2" fmla="*/ 970122 w 970121"/>
                  <a:gd name="connsiteY2" fmla="*/ 107791 h 107791"/>
                  <a:gd name="connsiteX3" fmla="*/ 0 w 970121"/>
                  <a:gd name="connsiteY3" fmla="*/ 107791 h 107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70121" h="107791">
                    <a:moveTo>
                      <a:pt x="0" y="0"/>
                    </a:moveTo>
                    <a:lnTo>
                      <a:pt x="970122" y="0"/>
                    </a:lnTo>
                    <a:lnTo>
                      <a:pt x="970122" y="107791"/>
                    </a:lnTo>
                    <a:lnTo>
                      <a:pt x="0" y="107791"/>
                    </a:lnTo>
                    <a:close/>
                  </a:path>
                </a:pathLst>
              </a:custGeom>
              <a:grpFill/>
              <a:ln w="1099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D4A1FC14-71B5-B08C-7A4E-1A37ADB7CA34}"/>
                  </a:ext>
                </a:extLst>
              </p:cNvPr>
              <p:cNvSpPr/>
              <p:nvPr/>
            </p:nvSpPr>
            <p:spPr>
              <a:xfrm>
                <a:off x="6941405" y="5268140"/>
                <a:ext cx="1925944" cy="107791"/>
              </a:xfrm>
              <a:custGeom>
                <a:avLst/>
                <a:gdLst>
                  <a:gd name="connsiteX0" fmla="*/ 0 w 1925944"/>
                  <a:gd name="connsiteY0" fmla="*/ 0 h 107791"/>
                  <a:gd name="connsiteX1" fmla="*/ 1925945 w 1925944"/>
                  <a:gd name="connsiteY1" fmla="*/ 0 h 107791"/>
                  <a:gd name="connsiteX2" fmla="*/ 1925945 w 1925944"/>
                  <a:gd name="connsiteY2" fmla="*/ 107791 h 107791"/>
                  <a:gd name="connsiteX3" fmla="*/ 0 w 1925944"/>
                  <a:gd name="connsiteY3" fmla="*/ 107791 h 107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5944" h="107791">
                    <a:moveTo>
                      <a:pt x="0" y="0"/>
                    </a:moveTo>
                    <a:lnTo>
                      <a:pt x="1925945" y="0"/>
                    </a:lnTo>
                    <a:lnTo>
                      <a:pt x="1925945" y="107791"/>
                    </a:lnTo>
                    <a:lnTo>
                      <a:pt x="0" y="107791"/>
                    </a:lnTo>
                    <a:close/>
                  </a:path>
                </a:pathLst>
              </a:custGeom>
              <a:grpFill/>
              <a:ln w="1099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3CF253A3-C761-35E2-B944-3BFF2CBE341D}"/>
                  </a:ext>
                </a:extLst>
              </p:cNvPr>
              <p:cNvSpPr/>
              <p:nvPr/>
            </p:nvSpPr>
            <p:spPr>
              <a:xfrm>
                <a:off x="7897228" y="4062637"/>
                <a:ext cx="970121" cy="106691"/>
              </a:xfrm>
              <a:custGeom>
                <a:avLst/>
                <a:gdLst>
                  <a:gd name="connsiteX0" fmla="*/ 0 w 970121"/>
                  <a:gd name="connsiteY0" fmla="*/ 0 h 106691"/>
                  <a:gd name="connsiteX1" fmla="*/ 970122 w 970121"/>
                  <a:gd name="connsiteY1" fmla="*/ 0 h 106691"/>
                  <a:gd name="connsiteX2" fmla="*/ 970122 w 970121"/>
                  <a:gd name="connsiteY2" fmla="*/ 106691 h 106691"/>
                  <a:gd name="connsiteX3" fmla="*/ 0 w 970121"/>
                  <a:gd name="connsiteY3" fmla="*/ 106691 h 1066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70121" h="106691">
                    <a:moveTo>
                      <a:pt x="0" y="0"/>
                    </a:moveTo>
                    <a:lnTo>
                      <a:pt x="970122" y="0"/>
                    </a:lnTo>
                    <a:lnTo>
                      <a:pt x="970122" y="106691"/>
                    </a:lnTo>
                    <a:lnTo>
                      <a:pt x="0" y="106691"/>
                    </a:lnTo>
                    <a:close/>
                  </a:path>
                </a:pathLst>
              </a:custGeom>
              <a:grpFill/>
              <a:ln w="1099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FFA45497-14F5-CDB1-F6DC-60A23F163ED3}"/>
                  </a:ext>
                </a:extLst>
              </p:cNvPr>
              <p:cNvSpPr/>
              <p:nvPr/>
            </p:nvSpPr>
            <p:spPr>
              <a:xfrm>
                <a:off x="4076136" y="5440827"/>
                <a:ext cx="1927044" cy="107791"/>
              </a:xfrm>
              <a:custGeom>
                <a:avLst/>
                <a:gdLst>
                  <a:gd name="connsiteX0" fmla="*/ 0 w 1927044"/>
                  <a:gd name="connsiteY0" fmla="*/ 0 h 107791"/>
                  <a:gd name="connsiteX1" fmla="*/ 1927045 w 1927044"/>
                  <a:gd name="connsiteY1" fmla="*/ 0 h 107791"/>
                  <a:gd name="connsiteX2" fmla="*/ 1927045 w 1927044"/>
                  <a:gd name="connsiteY2" fmla="*/ 107791 h 107791"/>
                  <a:gd name="connsiteX3" fmla="*/ 0 w 1927044"/>
                  <a:gd name="connsiteY3" fmla="*/ 107791 h 107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7044" h="107791">
                    <a:moveTo>
                      <a:pt x="0" y="0"/>
                    </a:moveTo>
                    <a:lnTo>
                      <a:pt x="1927045" y="0"/>
                    </a:lnTo>
                    <a:lnTo>
                      <a:pt x="1927045" y="107791"/>
                    </a:lnTo>
                    <a:lnTo>
                      <a:pt x="0" y="107791"/>
                    </a:lnTo>
                    <a:close/>
                  </a:path>
                </a:pathLst>
              </a:custGeom>
              <a:grpFill/>
              <a:ln w="1099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F3C4F048-BA60-0CA2-C4CD-F1E15E44E095}"/>
                  </a:ext>
                </a:extLst>
              </p:cNvPr>
              <p:cNvSpPr/>
              <p:nvPr/>
            </p:nvSpPr>
            <p:spPr>
              <a:xfrm>
                <a:off x="4076136" y="4406910"/>
                <a:ext cx="970121" cy="107791"/>
              </a:xfrm>
              <a:custGeom>
                <a:avLst/>
                <a:gdLst>
                  <a:gd name="connsiteX0" fmla="*/ 0 w 970121"/>
                  <a:gd name="connsiteY0" fmla="*/ 0 h 107791"/>
                  <a:gd name="connsiteX1" fmla="*/ 970122 w 970121"/>
                  <a:gd name="connsiteY1" fmla="*/ 0 h 107791"/>
                  <a:gd name="connsiteX2" fmla="*/ 970122 w 970121"/>
                  <a:gd name="connsiteY2" fmla="*/ 107791 h 107791"/>
                  <a:gd name="connsiteX3" fmla="*/ 0 w 970121"/>
                  <a:gd name="connsiteY3" fmla="*/ 107791 h 107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70121" h="107791">
                    <a:moveTo>
                      <a:pt x="0" y="0"/>
                    </a:moveTo>
                    <a:lnTo>
                      <a:pt x="970122" y="0"/>
                    </a:lnTo>
                    <a:lnTo>
                      <a:pt x="970122" y="107791"/>
                    </a:lnTo>
                    <a:lnTo>
                      <a:pt x="0" y="107791"/>
                    </a:lnTo>
                    <a:close/>
                  </a:path>
                </a:pathLst>
              </a:custGeom>
              <a:grpFill/>
              <a:ln w="1099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4F827493-0925-AC40-28A7-97CB86DF57A6}"/>
                  </a:ext>
                </a:extLst>
              </p:cNvPr>
              <p:cNvSpPr/>
              <p:nvPr/>
            </p:nvSpPr>
            <p:spPr>
              <a:xfrm>
                <a:off x="7897228" y="4235324"/>
                <a:ext cx="970121" cy="107791"/>
              </a:xfrm>
              <a:custGeom>
                <a:avLst/>
                <a:gdLst>
                  <a:gd name="connsiteX0" fmla="*/ 0 w 970121"/>
                  <a:gd name="connsiteY0" fmla="*/ 0 h 107791"/>
                  <a:gd name="connsiteX1" fmla="*/ 970122 w 970121"/>
                  <a:gd name="connsiteY1" fmla="*/ 0 h 107791"/>
                  <a:gd name="connsiteX2" fmla="*/ 970122 w 970121"/>
                  <a:gd name="connsiteY2" fmla="*/ 107791 h 107791"/>
                  <a:gd name="connsiteX3" fmla="*/ 0 w 970121"/>
                  <a:gd name="connsiteY3" fmla="*/ 107791 h 107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70121" h="107791">
                    <a:moveTo>
                      <a:pt x="0" y="0"/>
                    </a:moveTo>
                    <a:lnTo>
                      <a:pt x="970122" y="0"/>
                    </a:lnTo>
                    <a:lnTo>
                      <a:pt x="970122" y="107791"/>
                    </a:lnTo>
                    <a:lnTo>
                      <a:pt x="0" y="107791"/>
                    </a:lnTo>
                    <a:close/>
                  </a:path>
                </a:pathLst>
              </a:custGeom>
              <a:grpFill/>
              <a:ln w="1099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43C50B20-ABFE-2038-1958-D0568961C064}"/>
                  </a:ext>
                </a:extLst>
              </p:cNvPr>
              <p:cNvSpPr/>
              <p:nvPr/>
            </p:nvSpPr>
            <p:spPr>
              <a:xfrm>
                <a:off x="7897228" y="4406910"/>
                <a:ext cx="970121" cy="107791"/>
              </a:xfrm>
              <a:custGeom>
                <a:avLst/>
                <a:gdLst>
                  <a:gd name="connsiteX0" fmla="*/ 0 w 970121"/>
                  <a:gd name="connsiteY0" fmla="*/ 0 h 107791"/>
                  <a:gd name="connsiteX1" fmla="*/ 970122 w 970121"/>
                  <a:gd name="connsiteY1" fmla="*/ 0 h 107791"/>
                  <a:gd name="connsiteX2" fmla="*/ 970122 w 970121"/>
                  <a:gd name="connsiteY2" fmla="*/ 107791 h 107791"/>
                  <a:gd name="connsiteX3" fmla="*/ 0 w 970121"/>
                  <a:gd name="connsiteY3" fmla="*/ 107791 h 107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70121" h="107791">
                    <a:moveTo>
                      <a:pt x="0" y="0"/>
                    </a:moveTo>
                    <a:lnTo>
                      <a:pt x="970122" y="0"/>
                    </a:lnTo>
                    <a:lnTo>
                      <a:pt x="970122" y="107791"/>
                    </a:lnTo>
                    <a:lnTo>
                      <a:pt x="0" y="107791"/>
                    </a:lnTo>
                    <a:close/>
                  </a:path>
                </a:pathLst>
              </a:custGeom>
              <a:grpFill/>
              <a:ln w="1099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1E162A04-C567-519D-80F4-3613C15EF3D5}"/>
                  </a:ext>
                </a:extLst>
              </p:cNvPr>
              <p:cNvSpPr/>
              <p:nvPr/>
            </p:nvSpPr>
            <p:spPr>
              <a:xfrm>
                <a:off x="6940305" y="2857134"/>
                <a:ext cx="1927044" cy="107791"/>
              </a:xfrm>
              <a:custGeom>
                <a:avLst/>
                <a:gdLst>
                  <a:gd name="connsiteX0" fmla="*/ 0 w 1927044"/>
                  <a:gd name="connsiteY0" fmla="*/ 0 h 107791"/>
                  <a:gd name="connsiteX1" fmla="*/ 1927045 w 1927044"/>
                  <a:gd name="connsiteY1" fmla="*/ 0 h 107791"/>
                  <a:gd name="connsiteX2" fmla="*/ 1927045 w 1927044"/>
                  <a:gd name="connsiteY2" fmla="*/ 107791 h 107791"/>
                  <a:gd name="connsiteX3" fmla="*/ 0 w 1927044"/>
                  <a:gd name="connsiteY3" fmla="*/ 107791 h 107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7044" h="107791">
                    <a:moveTo>
                      <a:pt x="0" y="0"/>
                    </a:moveTo>
                    <a:lnTo>
                      <a:pt x="1927045" y="0"/>
                    </a:lnTo>
                    <a:lnTo>
                      <a:pt x="1927045" y="107791"/>
                    </a:lnTo>
                    <a:lnTo>
                      <a:pt x="0" y="107791"/>
                    </a:lnTo>
                    <a:close/>
                  </a:path>
                </a:pathLst>
              </a:custGeom>
              <a:grpFill/>
              <a:ln w="1099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A3589FE7-B629-2829-A86E-F9E66BEA81E0}"/>
                  </a:ext>
                </a:extLst>
              </p:cNvPr>
              <p:cNvSpPr/>
              <p:nvPr/>
            </p:nvSpPr>
            <p:spPr>
              <a:xfrm>
                <a:off x="6940305" y="2685548"/>
                <a:ext cx="1927044" cy="107791"/>
              </a:xfrm>
              <a:custGeom>
                <a:avLst/>
                <a:gdLst>
                  <a:gd name="connsiteX0" fmla="*/ 0 w 1927044"/>
                  <a:gd name="connsiteY0" fmla="*/ 0 h 107791"/>
                  <a:gd name="connsiteX1" fmla="*/ 1927045 w 1927044"/>
                  <a:gd name="connsiteY1" fmla="*/ 0 h 107791"/>
                  <a:gd name="connsiteX2" fmla="*/ 1927045 w 1927044"/>
                  <a:gd name="connsiteY2" fmla="*/ 107791 h 107791"/>
                  <a:gd name="connsiteX3" fmla="*/ 0 w 1927044"/>
                  <a:gd name="connsiteY3" fmla="*/ 107791 h 107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7044" h="107791">
                    <a:moveTo>
                      <a:pt x="0" y="0"/>
                    </a:moveTo>
                    <a:lnTo>
                      <a:pt x="1927045" y="0"/>
                    </a:lnTo>
                    <a:lnTo>
                      <a:pt x="1927045" y="107791"/>
                    </a:lnTo>
                    <a:lnTo>
                      <a:pt x="0" y="107791"/>
                    </a:lnTo>
                    <a:close/>
                  </a:path>
                </a:pathLst>
              </a:custGeom>
              <a:grpFill/>
              <a:ln w="1099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3D345666-7C65-6E58-0200-2ECB63A53877}"/>
                  </a:ext>
                </a:extLst>
              </p:cNvPr>
              <p:cNvSpPr/>
              <p:nvPr/>
            </p:nvSpPr>
            <p:spPr>
              <a:xfrm>
                <a:off x="4076136" y="3546779"/>
                <a:ext cx="1925944" cy="107791"/>
              </a:xfrm>
              <a:custGeom>
                <a:avLst/>
                <a:gdLst>
                  <a:gd name="connsiteX0" fmla="*/ 0 w 1925944"/>
                  <a:gd name="connsiteY0" fmla="*/ 0 h 107791"/>
                  <a:gd name="connsiteX1" fmla="*/ 1925945 w 1925944"/>
                  <a:gd name="connsiteY1" fmla="*/ 0 h 107791"/>
                  <a:gd name="connsiteX2" fmla="*/ 1925945 w 1925944"/>
                  <a:gd name="connsiteY2" fmla="*/ 107791 h 107791"/>
                  <a:gd name="connsiteX3" fmla="*/ 0 w 1925944"/>
                  <a:gd name="connsiteY3" fmla="*/ 107791 h 107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5944" h="107791">
                    <a:moveTo>
                      <a:pt x="0" y="0"/>
                    </a:moveTo>
                    <a:lnTo>
                      <a:pt x="1925945" y="0"/>
                    </a:lnTo>
                    <a:lnTo>
                      <a:pt x="1925945" y="107791"/>
                    </a:lnTo>
                    <a:lnTo>
                      <a:pt x="0" y="107791"/>
                    </a:lnTo>
                    <a:close/>
                  </a:path>
                </a:pathLst>
              </a:custGeom>
              <a:grpFill/>
              <a:ln w="1099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A7FC86A1-15B1-B513-7F5E-76B087D1CAB0}"/>
                  </a:ext>
                </a:extLst>
              </p:cNvPr>
              <p:cNvSpPr/>
              <p:nvPr/>
            </p:nvSpPr>
            <p:spPr>
              <a:xfrm>
                <a:off x="4076136" y="3374093"/>
                <a:ext cx="1925944" cy="107791"/>
              </a:xfrm>
              <a:custGeom>
                <a:avLst/>
                <a:gdLst>
                  <a:gd name="connsiteX0" fmla="*/ 0 w 1925944"/>
                  <a:gd name="connsiteY0" fmla="*/ 0 h 107791"/>
                  <a:gd name="connsiteX1" fmla="*/ 1925945 w 1925944"/>
                  <a:gd name="connsiteY1" fmla="*/ 0 h 107791"/>
                  <a:gd name="connsiteX2" fmla="*/ 1925945 w 1925944"/>
                  <a:gd name="connsiteY2" fmla="*/ 107791 h 107791"/>
                  <a:gd name="connsiteX3" fmla="*/ 0 w 1925944"/>
                  <a:gd name="connsiteY3" fmla="*/ 107791 h 107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5944" h="107791">
                    <a:moveTo>
                      <a:pt x="0" y="0"/>
                    </a:moveTo>
                    <a:lnTo>
                      <a:pt x="1925945" y="0"/>
                    </a:lnTo>
                    <a:lnTo>
                      <a:pt x="1925945" y="107791"/>
                    </a:lnTo>
                    <a:lnTo>
                      <a:pt x="0" y="107791"/>
                    </a:lnTo>
                    <a:close/>
                  </a:path>
                </a:pathLst>
              </a:custGeom>
              <a:grpFill/>
              <a:ln w="1099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61B78375-205E-FB3F-3616-CE0EE9E4DCF7}"/>
                  </a:ext>
                </a:extLst>
              </p:cNvPr>
              <p:cNvSpPr/>
              <p:nvPr/>
            </p:nvSpPr>
            <p:spPr>
              <a:xfrm>
                <a:off x="4076136" y="3029821"/>
                <a:ext cx="1925944" cy="107791"/>
              </a:xfrm>
              <a:custGeom>
                <a:avLst/>
                <a:gdLst>
                  <a:gd name="connsiteX0" fmla="*/ 0 w 1925944"/>
                  <a:gd name="connsiteY0" fmla="*/ 0 h 107791"/>
                  <a:gd name="connsiteX1" fmla="*/ 1925945 w 1925944"/>
                  <a:gd name="connsiteY1" fmla="*/ 0 h 107791"/>
                  <a:gd name="connsiteX2" fmla="*/ 1925945 w 1925944"/>
                  <a:gd name="connsiteY2" fmla="*/ 107791 h 107791"/>
                  <a:gd name="connsiteX3" fmla="*/ 0 w 1925944"/>
                  <a:gd name="connsiteY3" fmla="*/ 107791 h 107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5944" h="107791">
                    <a:moveTo>
                      <a:pt x="0" y="0"/>
                    </a:moveTo>
                    <a:lnTo>
                      <a:pt x="1925945" y="0"/>
                    </a:lnTo>
                    <a:lnTo>
                      <a:pt x="1925945" y="107791"/>
                    </a:lnTo>
                    <a:lnTo>
                      <a:pt x="0" y="107791"/>
                    </a:lnTo>
                    <a:close/>
                  </a:path>
                </a:pathLst>
              </a:custGeom>
              <a:grpFill/>
              <a:ln w="1099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4C2422E7-653D-41E9-7A43-168C00ECCFF6}"/>
                  </a:ext>
                </a:extLst>
              </p:cNvPr>
              <p:cNvSpPr/>
              <p:nvPr/>
            </p:nvSpPr>
            <p:spPr>
              <a:xfrm>
                <a:off x="4076136" y="2857134"/>
                <a:ext cx="1925944" cy="107791"/>
              </a:xfrm>
              <a:custGeom>
                <a:avLst/>
                <a:gdLst>
                  <a:gd name="connsiteX0" fmla="*/ 0 w 1925944"/>
                  <a:gd name="connsiteY0" fmla="*/ 0 h 107791"/>
                  <a:gd name="connsiteX1" fmla="*/ 1925945 w 1925944"/>
                  <a:gd name="connsiteY1" fmla="*/ 0 h 107791"/>
                  <a:gd name="connsiteX2" fmla="*/ 1925945 w 1925944"/>
                  <a:gd name="connsiteY2" fmla="*/ 107791 h 107791"/>
                  <a:gd name="connsiteX3" fmla="*/ 0 w 1925944"/>
                  <a:gd name="connsiteY3" fmla="*/ 107791 h 107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5944" h="107791">
                    <a:moveTo>
                      <a:pt x="0" y="0"/>
                    </a:moveTo>
                    <a:lnTo>
                      <a:pt x="1925945" y="0"/>
                    </a:lnTo>
                    <a:lnTo>
                      <a:pt x="1925945" y="107791"/>
                    </a:lnTo>
                    <a:lnTo>
                      <a:pt x="0" y="107791"/>
                    </a:lnTo>
                    <a:close/>
                  </a:path>
                </a:pathLst>
              </a:custGeom>
              <a:grpFill/>
              <a:ln w="1099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79D08664-B1CB-D433-1BD0-CD9CA4DA5A80}"/>
                  </a:ext>
                </a:extLst>
              </p:cNvPr>
              <p:cNvSpPr/>
              <p:nvPr/>
            </p:nvSpPr>
            <p:spPr>
              <a:xfrm>
                <a:off x="4076136" y="2685548"/>
                <a:ext cx="1925944" cy="107791"/>
              </a:xfrm>
              <a:custGeom>
                <a:avLst/>
                <a:gdLst>
                  <a:gd name="connsiteX0" fmla="*/ 0 w 1925944"/>
                  <a:gd name="connsiteY0" fmla="*/ 0 h 107791"/>
                  <a:gd name="connsiteX1" fmla="*/ 1925945 w 1925944"/>
                  <a:gd name="connsiteY1" fmla="*/ 0 h 107791"/>
                  <a:gd name="connsiteX2" fmla="*/ 1925945 w 1925944"/>
                  <a:gd name="connsiteY2" fmla="*/ 107791 h 107791"/>
                  <a:gd name="connsiteX3" fmla="*/ 0 w 1925944"/>
                  <a:gd name="connsiteY3" fmla="*/ 107791 h 107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5944" h="107791">
                    <a:moveTo>
                      <a:pt x="0" y="0"/>
                    </a:moveTo>
                    <a:lnTo>
                      <a:pt x="1925945" y="0"/>
                    </a:lnTo>
                    <a:lnTo>
                      <a:pt x="1925945" y="107791"/>
                    </a:lnTo>
                    <a:lnTo>
                      <a:pt x="0" y="107791"/>
                    </a:lnTo>
                    <a:close/>
                  </a:path>
                </a:pathLst>
              </a:custGeom>
              <a:grpFill/>
              <a:ln w="1099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735054C5-DBFE-A126-27B3-2D6FC2237443}"/>
                  </a:ext>
                </a:extLst>
              </p:cNvPr>
              <p:cNvSpPr/>
              <p:nvPr/>
            </p:nvSpPr>
            <p:spPr>
              <a:xfrm>
                <a:off x="4076136" y="3202507"/>
                <a:ext cx="1925944" cy="107791"/>
              </a:xfrm>
              <a:custGeom>
                <a:avLst/>
                <a:gdLst>
                  <a:gd name="connsiteX0" fmla="*/ 0 w 1925944"/>
                  <a:gd name="connsiteY0" fmla="*/ 0 h 107791"/>
                  <a:gd name="connsiteX1" fmla="*/ 1925945 w 1925944"/>
                  <a:gd name="connsiteY1" fmla="*/ 0 h 107791"/>
                  <a:gd name="connsiteX2" fmla="*/ 1925945 w 1925944"/>
                  <a:gd name="connsiteY2" fmla="*/ 107791 h 107791"/>
                  <a:gd name="connsiteX3" fmla="*/ 0 w 1925944"/>
                  <a:gd name="connsiteY3" fmla="*/ 107791 h 107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5944" h="107791">
                    <a:moveTo>
                      <a:pt x="0" y="0"/>
                    </a:moveTo>
                    <a:lnTo>
                      <a:pt x="1925945" y="0"/>
                    </a:lnTo>
                    <a:lnTo>
                      <a:pt x="1925945" y="107791"/>
                    </a:lnTo>
                    <a:lnTo>
                      <a:pt x="0" y="107791"/>
                    </a:lnTo>
                    <a:close/>
                  </a:path>
                </a:pathLst>
              </a:custGeom>
              <a:grpFill/>
              <a:ln w="1099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965F23CD-1F9A-F660-D2B0-CF367C142B6C}"/>
                  </a:ext>
                </a:extLst>
              </p:cNvPr>
              <p:cNvSpPr/>
              <p:nvPr/>
            </p:nvSpPr>
            <p:spPr>
              <a:xfrm>
                <a:off x="4076136" y="4235324"/>
                <a:ext cx="970121" cy="107791"/>
              </a:xfrm>
              <a:custGeom>
                <a:avLst/>
                <a:gdLst>
                  <a:gd name="connsiteX0" fmla="*/ 0 w 970121"/>
                  <a:gd name="connsiteY0" fmla="*/ 0 h 107791"/>
                  <a:gd name="connsiteX1" fmla="*/ 970122 w 970121"/>
                  <a:gd name="connsiteY1" fmla="*/ 0 h 107791"/>
                  <a:gd name="connsiteX2" fmla="*/ 970122 w 970121"/>
                  <a:gd name="connsiteY2" fmla="*/ 107791 h 107791"/>
                  <a:gd name="connsiteX3" fmla="*/ 0 w 970121"/>
                  <a:gd name="connsiteY3" fmla="*/ 107791 h 107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70121" h="107791">
                    <a:moveTo>
                      <a:pt x="0" y="0"/>
                    </a:moveTo>
                    <a:lnTo>
                      <a:pt x="970122" y="0"/>
                    </a:lnTo>
                    <a:lnTo>
                      <a:pt x="970122" y="107791"/>
                    </a:lnTo>
                    <a:lnTo>
                      <a:pt x="0" y="107791"/>
                    </a:lnTo>
                    <a:close/>
                  </a:path>
                </a:pathLst>
              </a:custGeom>
              <a:grpFill/>
              <a:ln w="1099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FB8F1E64-EA26-854D-BD3F-48E08A6EEFEE}"/>
                  </a:ext>
                </a:extLst>
              </p:cNvPr>
              <p:cNvSpPr/>
              <p:nvPr/>
            </p:nvSpPr>
            <p:spPr>
              <a:xfrm>
                <a:off x="4076136" y="3891051"/>
                <a:ext cx="970121" cy="107791"/>
              </a:xfrm>
              <a:custGeom>
                <a:avLst/>
                <a:gdLst>
                  <a:gd name="connsiteX0" fmla="*/ 0 w 970121"/>
                  <a:gd name="connsiteY0" fmla="*/ 0 h 107791"/>
                  <a:gd name="connsiteX1" fmla="*/ 970122 w 970121"/>
                  <a:gd name="connsiteY1" fmla="*/ 0 h 107791"/>
                  <a:gd name="connsiteX2" fmla="*/ 970122 w 970121"/>
                  <a:gd name="connsiteY2" fmla="*/ 107791 h 107791"/>
                  <a:gd name="connsiteX3" fmla="*/ 0 w 970121"/>
                  <a:gd name="connsiteY3" fmla="*/ 107791 h 107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70121" h="107791">
                    <a:moveTo>
                      <a:pt x="0" y="0"/>
                    </a:moveTo>
                    <a:lnTo>
                      <a:pt x="970122" y="0"/>
                    </a:lnTo>
                    <a:lnTo>
                      <a:pt x="970122" y="107791"/>
                    </a:lnTo>
                    <a:lnTo>
                      <a:pt x="0" y="107791"/>
                    </a:lnTo>
                    <a:close/>
                  </a:path>
                </a:pathLst>
              </a:custGeom>
              <a:grpFill/>
              <a:ln w="1099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A5CD5079-6297-C6FC-C749-D2CBA7FEAD9B}"/>
                  </a:ext>
                </a:extLst>
              </p:cNvPr>
              <p:cNvSpPr/>
              <p:nvPr/>
            </p:nvSpPr>
            <p:spPr>
              <a:xfrm>
                <a:off x="4076136" y="4063737"/>
                <a:ext cx="970121" cy="106691"/>
              </a:xfrm>
              <a:custGeom>
                <a:avLst/>
                <a:gdLst>
                  <a:gd name="connsiteX0" fmla="*/ 0 w 970121"/>
                  <a:gd name="connsiteY0" fmla="*/ 0 h 106691"/>
                  <a:gd name="connsiteX1" fmla="*/ 970122 w 970121"/>
                  <a:gd name="connsiteY1" fmla="*/ 0 h 106691"/>
                  <a:gd name="connsiteX2" fmla="*/ 970122 w 970121"/>
                  <a:gd name="connsiteY2" fmla="*/ 106691 h 106691"/>
                  <a:gd name="connsiteX3" fmla="*/ 0 w 970121"/>
                  <a:gd name="connsiteY3" fmla="*/ 106691 h 1066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70121" h="106691">
                    <a:moveTo>
                      <a:pt x="0" y="0"/>
                    </a:moveTo>
                    <a:lnTo>
                      <a:pt x="970122" y="0"/>
                    </a:lnTo>
                    <a:lnTo>
                      <a:pt x="970122" y="106691"/>
                    </a:lnTo>
                    <a:lnTo>
                      <a:pt x="0" y="106691"/>
                    </a:lnTo>
                    <a:close/>
                  </a:path>
                </a:pathLst>
              </a:custGeom>
              <a:grpFill/>
              <a:ln w="1099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C0FF0167-A9C1-E755-5077-07AF4D5E2963}"/>
                  </a:ext>
                </a:extLst>
              </p:cNvPr>
              <p:cNvSpPr/>
              <p:nvPr/>
            </p:nvSpPr>
            <p:spPr>
              <a:xfrm>
                <a:off x="4076136" y="3718365"/>
                <a:ext cx="970121" cy="107791"/>
              </a:xfrm>
              <a:custGeom>
                <a:avLst/>
                <a:gdLst>
                  <a:gd name="connsiteX0" fmla="*/ 0 w 970121"/>
                  <a:gd name="connsiteY0" fmla="*/ 0 h 107791"/>
                  <a:gd name="connsiteX1" fmla="*/ 970122 w 970121"/>
                  <a:gd name="connsiteY1" fmla="*/ 0 h 107791"/>
                  <a:gd name="connsiteX2" fmla="*/ 970122 w 970121"/>
                  <a:gd name="connsiteY2" fmla="*/ 107791 h 107791"/>
                  <a:gd name="connsiteX3" fmla="*/ 0 w 970121"/>
                  <a:gd name="connsiteY3" fmla="*/ 107791 h 107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70121" h="107791">
                    <a:moveTo>
                      <a:pt x="0" y="0"/>
                    </a:moveTo>
                    <a:lnTo>
                      <a:pt x="970122" y="0"/>
                    </a:lnTo>
                    <a:lnTo>
                      <a:pt x="970122" y="107791"/>
                    </a:lnTo>
                    <a:lnTo>
                      <a:pt x="0" y="107791"/>
                    </a:lnTo>
                    <a:close/>
                  </a:path>
                </a:pathLst>
              </a:custGeom>
              <a:grpFill/>
              <a:ln w="1099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85" name="Footer Placeholder 3">
            <a:extLst>
              <a:ext uri="{FF2B5EF4-FFF2-40B4-BE49-F238E27FC236}">
                <a16:creationId xmlns:a16="http://schemas.microsoft.com/office/drawing/2014/main" id="{BF5F00DD-F80D-30DA-494D-9F779058A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86263" y="6381748"/>
            <a:ext cx="4443413" cy="483831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US"/>
              <a:t>Title of your presentation</a:t>
            </a:r>
            <a:endParaRPr lang="en-US" dirty="0"/>
          </a:p>
        </p:txBody>
      </p:sp>
      <p:sp>
        <p:nvSpPr>
          <p:cNvPr id="87" name="Text Placeholder 13">
            <a:extLst>
              <a:ext uri="{FF2B5EF4-FFF2-40B4-BE49-F238E27FC236}">
                <a16:creationId xmlns:a16="http://schemas.microsoft.com/office/drawing/2014/main" id="{A5A5F43B-5090-86F5-DFAC-B4AB42EA44C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96075" y="1528763"/>
            <a:ext cx="2809971" cy="1777214"/>
          </a:xfrm>
        </p:spPr>
        <p:txBody>
          <a:bodyPr anchor="ctr"/>
          <a:lstStyle>
            <a:lvl1pPr marL="0" indent="0" algn="l">
              <a:buClr>
                <a:schemeClr val="accent1"/>
              </a:buClr>
              <a:buFont typeface="+mj-lt"/>
              <a:buNone/>
              <a:defRPr sz="9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#00</a:t>
            </a:r>
          </a:p>
        </p:txBody>
      </p:sp>
      <p:sp>
        <p:nvSpPr>
          <p:cNvPr id="88" name="Text Placeholder 13">
            <a:extLst>
              <a:ext uri="{FF2B5EF4-FFF2-40B4-BE49-F238E27FC236}">
                <a16:creationId xmlns:a16="http://schemas.microsoft.com/office/drawing/2014/main" id="{811FE150-F41E-6F3C-D23C-34A937D084D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96075" y="5135189"/>
            <a:ext cx="4391025" cy="1065586"/>
          </a:xfrm>
        </p:spPr>
        <p:txBody>
          <a:bodyPr/>
          <a:lstStyle>
            <a:lvl1pPr algn="l"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1" name="Text Placeholder 90">
            <a:extLst>
              <a:ext uri="{FF2B5EF4-FFF2-40B4-BE49-F238E27FC236}">
                <a16:creationId xmlns:a16="http://schemas.microsoft.com/office/drawing/2014/main" id="{1A195171-9438-81DF-2370-94B1253F704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2913" y="1321203"/>
            <a:ext cx="3965460" cy="2651616"/>
          </a:xfrm>
        </p:spPr>
        <p:txBody>
          <a:bodyPr/>
          <a:lstStyle>
            <a:lvl1pPr marL="809625" indent="0">
              <a:spcBef>
                <a:spcPts val="0"/>
              </a:spcBef>
              <a:spcAft>
                <a:spcPts val="1800"/>
              </a:spcAft>
              <a:tabLst>
                <a:tab pos="809625" algn="l"/>
              </a:tabLst>
              <a:defRPr sz="1600">
                <a:solidFill>
                  <a:schemeClr val="tx1"/>
                </a:solidFill>
              </a:defRPr>
            </a:lvl1pPr>
            <a:lvl2pPr marL="809625" indent="-809625">
              <a:spcBef>
                <a:spcPts val="0"/>
              </a:spcBef>
              <a:spcAft>
                <a:spcPts val="1800"/>
              </a:spcAft>
              <a:buClr>
                <a:schemeClr val="bg1"/>
              </a:buClr>
              <a:buSzPct val="100000"/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tabLst>
                <a:tab pos="990600" algn="l"/>
              </a:tabLst>
              <a:defRPr sz="1600">
                <a:solidFill>
                  <a:schemeClr val="tx1"/>
                </a:solidFill>
              </a:defRPr>
            </a:lvl2pPr>
            <a:lvl3pPr marL="0" indent="0">
              <a:buNone/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Chapter name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" name="Freihandform: Form 3">
            <a:extLst>
              <a:ext uri="{FF2B5EF4-FFF2-40B4-BE49-F238E27FC236}">
                <a16:creationId xmlns:a16="http://schemas.microsoft.com/office/drawing/2014/main" id="{7C054A42-7AEF-6614-877C-0C3EDD2C6E42}"/>
              </a:ext>
            </a:extLst>
          </p:cNvPr>
          <p:cNvSpPr/>
          <p:nvPr userDrawn="1"/>
        </p:nvSpPr>
        <p:spPr>
          <a:xfrm>
            <a:off x="6235700" y="0"/>
            <a:ext cx="5956300" cy="4787900"/>
          </a:xfrm>
          <a:custGeom>
            <a:avLst/>
            <a:gdLst>
              <a:gd name="connsiteX0" fmla="*/ 0 w 5956300"/>
              <a:gd name="connsiteY0" fmla="*/ 0 h 4787900"/>
              <a:gd name="connsiteX1" fmla="*/ 5956300 w 5956300"/>
              <a:gd name="connsiteY1" fmla="*/ 0 h 4787900"/>
              <a:gd name="connsiteX2" fmla="*/ 5956300 w 5956300"/>
              <a:gd name="connsiteY2" fmla="*/ 4787900 h 4787900"/>
              <a:gd name="connsiteX3" fmla="*/ 5516563 w 5956300"/>
              <a:gd name="connsiteY3" fmla="*/ 4787900 h 4787900"/>
              <a:gd name="connsiteX4" fmla="*/ 5516563 w 5956300"/>
              <a:gd name="connsiteY4" fmla="*/ 476250 h 4787900"/>
              <a:gd name="connsiteX5" fmla="*/ 431801 w 5956300"/>
              <a:gd name="connsiteY5" fmla="*/ 476250 h 4787900"/>
              <a:gd name="connsiteX6" fmla="*/ 0 w 5956300"/>
              <a:gd name="connsiteY6" fmla="*/ 476250 h 4787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56300" h="4787900">
                <a:moveTo>
                  <a:pt x="0" y="0"/>
                </a:moveTo>
                <a:lnTo>
                  <a:pt x="5956300" y="0"/>
                </a:lnTo>
                <a:lnTo>
                  <a:pt x="5956300" y="4787900"/>
                </a:lnTo>
                <a:lnTo>
                  <a:pt x="5516563" y="4787900"/>
                </a:lnTo>
                <a:lnTo>
                  <a:pt x="5516563" y="476250"/>
                </a:lnTo>
                <a:lnTo>
                  <a:pt x="431801" y="476250"/>
                </a:lnTo>
                <a:lnTo>
                  <a:pt x="0" y="476250"/>
                </a:lnTo>
                <a:close/>
              </a:path>
            </a:pathLst>
          </a:custGeom>
          <a:solidFill>
            <a:srgbClr val="D708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86" name="Grafik 85">
            <a:extLst>
              <a:ext uri="{FF2B5EF4-FFF2-40B4-BE49-F238E27FC236}">
                <a16:creationId xmlns:a16="http://schemas.microsoft.com/office/drawing/2014/main" id="{A6FB5873-58F1-6183-7CB3-D3E7E689A1A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2913" y="286802"/>
            <a:ext cx="895350" cy="193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220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>
        <p:tmplLst>
          <p:tmpl>
            <p:tnLst>
              <p:par>
                <p:cTn presetID="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8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8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8" grpId="0">
        <p:tmplLst>
          <p:tmpl>
            <p:tnLst>
              <p:par>
                <p:cTn presetID="2" presetClass="entr" presetSubtype="2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8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8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A2555-40FD-2CD8-85B7-0E3AC4C38F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913" y="1043535"/>
            <a:ext cx="11306175" cy="483831"/>
          </a:xfrm>
        </p:spPr>
        <p:txBody>
          <a:bodyPr anchor="t"/>
          <a:lstStyle>
            <a:lvl1pPr>
              <a:defRPr sz="2800" b="1"/>
            </a:lvl1pPr>
          </a:lstStyle>
          <a:p>
            <a:r>
              <a:rPr lang="en-US" dirty="0"/>
              <a:t>Here goes your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99B2EE-1CF5-1183-4D21-2A3552531C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3" y="1994263"/>
            <a:ext cx="11306175" cy="420651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BFDE1-0A12-5286-F412-1B528C0D0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 October 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F9F030-8170-471D-9309-55313734D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your presentation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201532-1450-F931-5759-31972D85F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9AB5E-215F-4BC4-9EB7-C8883DA834C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BC64090-F77C-EFCD-9D0E-7478FDF9F11F}"/>
              </a:ext>
            </a:extLst>
          </p:cNvPr>
          <p:cNvCxnSpPr>
            <a:cxnSpLocks/>
          </p:cNvCxnSpPr>
          <p:nvPr userDrawn="1"/>
        </p:nvCxnSpPr>
        <p:spPr>
          <a:xfrm>
            <a:off x="0" y="822321"/>
            <a:ext cx="982913" cy="0"/>
          </a:xfrm>
          <a:prstGeom prst="line">
            <a:avLst/>
          </a:prstGeom>
          <a:ln w="28575">
            <a:solidFill>
              <a:srgbClr val="D7081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0470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A2555-40FD-2CD8-85B7-0E3AC4C38F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913" y="1043535"/>
            <a:ext cx="5652000" cy="483831"/>
          </a:xfrm>
        </p:spPr>
        <p:txBody>
          <a:bodyPr anchor="t"/>
          <a:lstStyle>
            <a:lvl1pPr>
              <a:defRPr sz="2800" b="1"/>
            </a:lvl1pPr>
          </a:lstStyle>
          <a:p>
            <a:r>
              <a:rPr lang="en-US" dirty="0"/>
              <a:t>Here goes your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99B2EE-1CF5-1183-4D21-2A3552531C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3" y="1994263"/>
            <a:ext cx="5652000" cy="420651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BFDE1-0A12-5286-F412-1B528C0D0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 October 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F9F030-8170-471D-9309-55313734D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your presentation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201532-1450-F931-5759-31972D85F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2639AB5E-215F-4BC4-9EB7-C8883DA834C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BC64090-F77C-EFCD-9D0E-7478FDF9F11F}"/>
              </a:ext>
            </a:extLst>
          </p:cNvPr>
          <p:cNvCxnSpPr>
            <a:cxnSpLocks/>
          </p:cNvCxnSpPr>
          <p:nvPr userDrawn="1"/>
        </p:nvCxnSpPr>
        <p:spPr>
          <a:xfrm>
            <a:off x="0" y="822321"/>
            <a:ext cx="982913" cy="0"/>
          </a:xfrm>
          <a:prstGeom prst="line">
            <a:avLst/>
          </a:prstGeom>
          <a:ln w="28575">
            <a:solidFill>
              <a:srgbClr val="D7081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Bildplatzhalter 87">
            <a:extLst>
              <a:ext uri="{FF2B5EF4-FFF2-40B4-BE49-F238E27FC236}">
                <a16:creationId xmlns:a16="http://schemas.microsoft.com/office/drawing/2014/main" id="{8F08C1A5-630B-E9A8-F846-AF8B9B5B53E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343775" y="0"/>
            <a:ext cx="4848225" cy="6858000"/>
          </a:xfrm>
          <a:solidFill>
            <a:srgbClr val="E7E6E6"/>
          </a:solidFill>
        </p:spPr>
        <p:txBody>
          <a:bodyPr bIns="720000" anchor="ctr"/>
          <a:lstStyle>
            <a:lvl1pPr algn="ctr">
              <a:defRPr/>
            </a:lvl1pPr>
          </a:lstStyle>
          <a:p>
            <a:r>
              <a:rPr lang="en-GB" noProof="0"/>
              <a:t>Insert image by clicking on the symbol</a:t>
            </a:r>
          </a:p>
        </p:txBody>
      </p:sp>
    </p:spTree>
    <p:extLst>
      <p:ext uri="{BB962C8B-B14F-4D97-AF65-F5344CB8AC3E}">
        <p14:creationId xmlns:p14="http://schemas.microsoft.com/office/powerpoint/2010/main" val="2310813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4625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small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8">
            <a:extLst>
              <a:ext uri="{FF2B5EF4-FFF2-40B4-BE49-F238E27FC236}">
                <a16:creationId xmlns:a16="http://schemas.microsoft.com/office/drawing/2014/main" id="{AE3F2003-E8DE-20D3-D6B5-143B330916BF}"/>
              </a:ext>
            </a:extLst>
          </p:cNvPr>
          <p:cNvSpPr/>
          <p:nvPr userDrawn="1"/>
        </p:nvSpPr>
        <p:spPr>
          <a:xfrm>
            <a:off x="7798437" y="3704413"/>
            <a:ext cx="1286415" cy="1286415"/>
          </a:xfrm>
          <a:prstGeom prst="rect">
            <a:avLst/>
          </a:prstGeom>
          <a:solidFill>
            <a:srgbClr val="D708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Picture Placeholder 6">
            <a:extLst>
              <a:ext uri="{FF2B5EF4-FFF2-40B4-BE49-F238E27FC236}">
                <a16:creationId xmlns:a16="http://schemas.microsoft.com/office/drawing/2014/main" id="{5925B5B1-DC8D-8736-3E47-C145052FB13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77200" y="1042988"/>
            <a:ext cx="3675063" cy="3671883"/>
          </a:xfrm>
          <a:solidFill>
            <a:schemeClr val="bg2"/>
          </a:solidFill>
        </p:spPr>
        <p:txBody>
          <a:bodyPr bIns="720000" anchor="ctr"/>
          <a:lstStyle>
            <a:lvl1pPr algn="ctr"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noProof="0" dirty="0"/>
              <a:t>Insert image by clicking on the symbol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0A2555-40FD-2CD8-85B7-0E3AC4C38F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913" y="1043535"/>
            <a:ext cx="5652000" cy="483831"/>
          </a:xfrm>
        </p:spPr>
        <p:txBody>
          <a:bodyPr anchor="t"/>
          <a:lstStyle>
            <a:lvl1pPr>
              <a:defRPr sz="2800" b="1"/>
            </a:lvl1pPr>
          </a:lstStyle>
          <a:p>
            <a:r>
              <a:rPr lang="en-US" dirty="0"/>
              <a:t>Here goes your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99B2EE-1CF5-1183-4D21-2A3552531C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2" y="1994263"/>
            <a:ext cx="6899275" cy="420651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BFDE1-0A12-5286-F412-1B528C0D0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 October 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F9F030-8170-471D-9309-55313734D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your presentation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201532-1450-F931-5759-31972D85F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2639AB5E-215F-4BC4-9EB7-C8883DA834C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BC64090-F77C-EFCD-9D0E-7478FDF9F11F}"/>
              </a:ext>
            </a:extLst>
          </p:cNvPr>
          <p:cNvCxnSpPr>
            <a:cxnSpLocks/>
          </p:cNvCxnSpPr>
          <p:nvPr userDrawn="1"/>
        </p:nvCxnSpPr>
        <p:spPr>
          <a:xfrm>
            <a:off x="0" y="822321"/>
            <a:ext cx="982913" cy="0"/>
          </a:xfrm>
          <a:prstGeom prst="line">
            <a:avLst/>
          </a:prstGeom>
          <a:ln w="28575">
            <a:solidFill>
              <a:srgbClr val="D7081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platzhalter 90">
            <a:extLst>
              <a:ext uri="{FF2B5EF4-FFF2-40B4-BE49-F238E27FC236}">
                <a16:creationId xmlns:a16="http://schemas.microsoft.com/office/drawing/2014/main" id="{75F00198-3827-32E6-40F2-7AB4B592AF9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077200" y="5181600"/>
            <a:ext cx="3675063" cy="1019174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de-DE" dirty="0"/>
              <a:t>Insert Text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374619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" grpId="0" animBg="1"/>
      <p:bldP spid="3" grpId="0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2" pos="462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4FDBC0-5783-C529-BE56-8D33152C2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 October 2024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3AA577-0C8F-8E7E-75F3-4C9AEA810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your presentation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CA347F-E2F4-402A-83CD-959E64CF1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9AB5E-215F-4BC4-9EB7-C8883DA834C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FE2073D6-EBF9-D858-F210-8C738213284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993901"/>
            <a:ext cx="4019550" cy="4864100"/>
          </a:xfrm>
          <a:solidFill>
            <a:schemeClr val="bg2"/>
          </a:solidFill>
        </p:spPr>
        <p:txBody>
          <a:bodyPr bIns="720000" anchor="ctr"/>
          <a:lstStyle>
            <a:lvl1pPr algn="ctr"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noProof="0" dirty="0"/>
              <a:t>Insert image by clicking on the symbol</a:t>
            </a:r>
          </a:p>
        </p:txBody>
      </p:sp>
      <p:sp>
        <p:nvSpPr>
          <p:cNvPr id="10" name="Chart Placeholder 9">
            <a:extLst>
              <a:ext uri="{FF2B5EF4-FFF2-40B4-BE49-F238E27FC236}">
                <a16:creationId xmlns:a16="http://schemas.microsoft.com/office/drawing/2014/main" id="{83C798E3-BB63-C1DE-621F-B27731D7EB49}"/>
              </a:ext>
            </a:extLst>
          </p:cNvPr>
          <p:cNvSpPr>
            <a:spLocks noGrp="1"/>
          </p:cNvSpPr>
          <p:nvPr>
            <p:ph type="chart" sz="quarter" idx="15" hasCustomPrompt="1"/>
          </p:nvPr>
        </p:nvSpPr>
        <p:spPr>
          <a:xfrm>
            <a:off x="4572000" y="1993901"/>
            <a:ext cx="7179469" cy="4206874"/>
          </a:xfrm>
        </p:spPr>
        <p:txBody>
          <a:bodyPr bIns="720000" anchor="ctr"/>
          <a:lstStyle>
            <a:lvl1pPr algn="ctr">
              <a:defRPr/>
            </a:lvl1pPr>
          </a:lstStyle>
          <a:p>
            <a:r>
              <a:rPr lang="en-US" dirty="0" err="1"/>
              <a:t>Diagramm</a:t>
            </a:r>
            <a:r>
              <a:rPr lang="en-US" dirty="0"/>
              <a:t> </a:t>
            </a:r>
            <a:r>
              <a:rPr lang="en-US" dirty="0" err="1"/>
              <a:t>einfügen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3E07F67-D62F-3C1C-7A83-2C18A1E0D4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913" y="1043535"/>
            <a:ext cx="11309350" cy="483831"/>
          </a:xfrm>
        </p:spPr>
        <p:txBody>
          <a:bodyPr anchor="t"/>
          <a:lstStyle>
            <a:lvl1pPr>
              <a:defRPr sz="2800" b="1"/>
            </a:lvl1pPr>
          </a:lstStyle>
          <a:p>
            <a:r>
              <a:rPr lang="en-US" dirty="0"/>
              <a:t>Here goes your title</a:t>
            </a:r>
          </a:p>
        </p:txBody>
      </p:sp>
    </p:spTree>
    <p:extLst>
      <p:ext uri="{BB962C8B-B14F-4D97-AF65-F5344CB8AC3E}">
        <p14:creationId xmlns:p14="http://schemas.microsoft.com/office/powerpoint/2010/main" val="1384194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lide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4FDBC0-5783-C529-BE56-8D33152C2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 October 2024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3AA577-0C8F-8E7E-75F3-4C9AEA810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your presentation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CA347F-E2F4-402A-83CD-959E64CF1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9AB5E-215F-4BC4-9EB7-C8883DA834C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3E07F67-D62F-3C1C-7A83-2C18A1E0D4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913" y="1043535"/>
            <a:ext cx="11309350" cy="483831"/>
          </a:xfrm>
        </p:spPr>
        <p:txBody>
          <a:bodyPr anchor="t"/>
          <a:lstStyle>
            <a:lvl1pPr>
              <a:defRPr sz="2800" b="1"/>
            </a:lvl1pPr>
          </a:lstStyle>
          <a:p>
            <a:r>
              <a:rPr lang="en-US" dirty="0"/>
              <a:t>Here goes your title</a:t>
            </a:r>
          </a:p>
        </p:txBody>
      </p:sp>
      <p:sp>
        <p:nvSpPr>
          <p:cNvPr id="8" name="Chart Placeholder 9">
            <a:extLst>
              <a:ext uri="{FF2B5EF4-FFF2-40B4-BE49-F238E27FC236}">
                <a16:creationId xmlns:a16="http://schemas.microsoft.com/office/drawing/2014/main" id="{96F779C3-9BF2-3876-EAA9-77EE3A03A285}"/>
              </a:ext>
            </a:extLst>
          </p:cNvPr>
          <p:cNvSpPr>
            <a:spLocks noGrp="1"/>
          </p:cNvSpPr>
          <p:nvPr>
            <p:ph type="chart" sz="quarter" idx="15" hasCustomPrompt="1"/>
          </p:nvPr>
        </p:nvSpPr>
        <p:spPr>
          <a:xfrm>
            <a:off x="4572000" y="1993901"/>
            <a:ext cx="7179469" cy="4206874"/>
          </a:xfrm>
        </p:spPr>
        <p:txBody>
          <a:bodyPr bIns="720000" anchor="ctr"/>
          <a:lstStyle>
            <a:lvl1pPr algn="ctr">
              <a:defRPr/>
            </a:lvl1pPr>
          </a:lstStyle>
          <a:p>
            <a:r>
              <a:rPr lang="en-US" dirty="0" err="1"/>
              <a:t>Diagramm</a:t>
            </a:r>
            <a:r>
              <a:rPr lang="en-US" dirty="0"/>
              <a:t> </a:t>
            </a:r>
            <a:r>
              <a:rPr lang="en-US" dirty="0" err="1"/>
              <a:t>einfügen</a:t>
            </a:r>
            <a:endParaRPr lang="en-US" dirty="0"/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31BDCA81-77CA-F2E3-1635-7B31037E3B3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2912" y="1993899"/>
            <a:ext cx="3576638" cy="420687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85956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D428D5A-1849-E34F-B7A2-F850A2FC05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12192000" cy="6858000"/>
          </a:xfrm>
          <a:solidFill>
            <a:schemeClr val="bg2"/>
          </a:solidFill>
        </p:spPr>
        <p:txBody>
          <a:bodyPr bIns="720000" anchor="ctr"/>
          <a:lstStyle>
            <a:lvl1pPr algn="ctr"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noProof="0" dirty="0"/>
              <a:t>Insert image by clicking on the symbol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6707E0-6184-CD07-7055-3AA9BD009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 October 2024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A1C63D-D26D-127F-96FB-FDB2804DE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9AB5E-215F-4BC4-9EB7-C8883DA834C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1F19128C-A67D-68FF-2731-1E4697999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86263" y="6381748"/>
            <a:ext cx="4443413" cy="483831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US"/>
              <a:t>Title of your presentation</a:t>
            </a:r>
            <a:endParaRPr lang="en-US" dirty="0"/>
          </a:p>
        </p:txBody>
      </p:sp>
      <p:sp>
        <p:nvSpPr>
          <p:cNvPr id="89" name="Text Placeholder 13">
            <a:extLst>
              <a:ext uri="{FF2B5EF4-FFF2-40B4-BE49-F238E27FC236}">
                <a16:creationId xmlns:a16="http://schemas.microsoft.com/office/drawing/2014/main" id="{0AD5DE39-40AD-1026-F52D-191F0308279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40400" y="4775201"/>
            <a:ext cx="6451601" cy="1606547"/>
          </a:xfrm>
          <a:solidFill>
            <a:schemeClr val="accent1">
              <a:alpha val="60000"/>
            </a:schemeClr>
          </a:solidFill>
        </p:spPr>
        <p:txBody>
          <a:bodyPr lIns="216000" tIns="216000" rIns="216000" bIns="216000" anchor="ctr"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Text Placeholder 87">
            <a:extLst>
              <a:ext uri="{FF2B5EF4-FFF2-40B4-BE49-F238E27FC236}">
                <a16:creationId xmlns:a16="http://schemas.microsoft.com/office/drawing/2014/main" id="{1E1C71AD-7E8C-E565-3E21-E95E8A126F41}"/>
              </a:ext>
            </a:extLst>
          </p:cNvPr>
          <p:cNvSpPr txBox="1">
            <a:spLocks/>
          </p:cNvSpPr>
          <p:nvPr userDrawn="1"/>
        </p:nvSpPr>
        <p:spPr>
          <a:xfrm>
            <a:off x="442914" y="286801"/>
            <a:ext cx="895350" cy="196631"/>
          </a:xfrm>
          <a:prstGeom prst="rect">
            <a:avLst/>
          </a:pr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600" kern="1200">
                <a:noFill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800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000" indent="-1800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800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6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600" b="1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20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989289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 animBg="1">
        <p:tmplLst>
          <p:tmpl>
            <p:tnLst>
              <p:par>
                <p:cTn presetID="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8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8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nly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D428D5A-1849-E34F-B7A2-F850A2FC05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12192000" cy="6858000"/>
          </a:xfrm>
          <a:solidFill>
            <a:schemeClr val="bg2"/>
          </a:solidFill>
        </p:spPr>
        <p:txBody>
          <a:bodyPr bIns="720000" anchor="ctr"/>
          <a:lstStyle>
            <a:lvl1pPr algn="ctr"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noProof="0" dirty="0"/>
              <a:t>Insert image by clicking on the symbol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6707E0-6184-CD07-7055-3AA9BD009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 October 2024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A1C63D-D26D-127F-96FB-FDB2804DE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9AB5E-215F-4BC4-9EB7-C8883DA834C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1F19128C-A67D-68FF-2731-1E4697999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86263" y="6381748"/>
            <a:ext cx="4443413" cy="483831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US"/>
              <a:t>Title of your presentation</a:t>
            </a:r>
            <a:endParaRPr lang="en-US" dirty="0"/>
          </a:p>
        </p:txBody>
      </p:sp>
      <p:sp>
        <p:nvSpPr>
          <p:cNvPr id="4" name="Text Placeholder 87">
            <a:extLst>
              <a:ext uri="{FF2B5EF4-FFF2-40B4-BE49-F238E27FC236}">
                <a16:creationId xmlns:a16="http://schemas.microsoft.com/office/drawing/2014/main" id="{BB333F90-4878-E01F-C4E1-CBD405F74461}"/>
              </a:ext>
            </a:extLst>
          </p:cNvPr>
          <p:cNvSpPr txBox="1">
            <a:spLocks/>
          </p:cNvSpPr>
          <p:nvPr userDrawn="1"/>
        </p:nvSpPr>
        <p:spPr>
          <a:xfrm>
            <a:off x="442914" y="286801"/>
            <a:ext cx="895350" cy="196631"/>
          </a:xfrm>
          <a:prstGeom prst="rect">
            <a:avLst/>
          </a:pr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600" kern="1200">
                <a:noFill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800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000" indent="-1800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800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6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600" b="1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20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144700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5C132-ED57-FCAD-097E-3864FEB5EA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t"/>
          <a:lstStyle/>
          <a:p>
            <a:r>
              <a:rPr lang="en-US" dirty="0"/>
              <a:t>Here goes your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F511F5-62D1-619F-AE19-A66F11AAF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 October 2024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5B5FD3-A993-2F0F-B657-6A4FDB292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your presentation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62D6C5-F074-9BDB-9416-7A6CA1F27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9AB5E-215F-4BC4-9EB7-C8883DA834C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9525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AD682FA-A5FD-C1FA-5D36-06ECBDB00533}"/>
              </a:ext>
            </a:extLst>
          </p:cNvPr>
          <p:cNvSpPr/>
          <p:nvPr userDrawn="1"/>
        </p:nvSpPr>
        <p:spPr>
          <a:xfrm>
            <a:off x="442913" y="3505075"/>
            <a:ext cx="8443181" cy="269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02D752-276E-D022-1B25-7097C181B9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8850" y="3851366"/>
            <a:ext cx="6648162" cy="677108"/>
          </a:xfrm>
        </p:spPr>
        <p:txBody>
          <a:bodyPr/>
          <a:lstStyle>
            <a:lvl1pPr>
              <a:defRPr sz="44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Contact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30BC8E-B528-0CE1-E2B4-DEEA75E81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 October 2024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06E0FA-F8D6-7B46-9497-51573EB54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9AB5E-215F-4BC4-9EB7-C8883DA834C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296F2F46-F1FA-61D6-9D0C-477858871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86263" y="6381748"/>
            <a:ext cx="4443413" cy="483831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US"/>
              <a:t>Title of your presentation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150C261-6127-51D7-3C5F-FDBE133CEC2E}"/>
              </a:ext>
            </a:extLst>
          </p:cNvPr>
          <p:cNvCxnSpPr>
            <a:cxnSpLocks/>
          </p:cNvCxnSpPr>
          <p:nvPr userDrawn="1"/>
        </p:nvCxnSpPr>
        <p:spPr>
          <a:xfrm>
            <a:off x="908850" y="4881828"/>
            <a:ext cx="5400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C0C4DF6-FA5E-B24D-8994-170E9F1A94B7}"/>
              </a:ext>
            </a:extLst>
          </p:cNvPr>
          <p:cNvSpPr txBox="1"/>
          <p:nvPr userDrawn="1"/>
        </p:nvSpPr>
        <p:spPr>
          <a:xfrm>
            <a:off x="908850" y="5275529"/>
            <a:ext cx="1881003" cy="369485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chemeClr val="bg1"/>
                </a:solidFill>
              </a:rPr>
              <a:t>SERV </a:t>
            </a:r>
            <a:r>
              <a:rPr lang="en-US" sz="1200" b="1" dirty="0" err="1">
                <a:solidFill>
                  <a:schemeClr val="bg1"/>
                </a:solidFill>
              </a:rPr>
              <a:t>Schweizerische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Exportrisikoversicherung</a:t>
            </a:r>
            <a:endParaRPr lang="en-US" sz="12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8A1186-D0CA-3BA3-0622-5F4557629A99}"/>
              </a:ext>
            </a:extLst>
          </p:cNvPr>
          <p:cNvSpPr txBox="1"/>
          <p:nvPr userDrawn="1"/>
        </p:nvSpPr>
        <p:spPr>
          <a:xfrm>
            <a:off x="3255792" y="5275529"/>
            <a:ext cx="1512152" cy="369485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bg1"/>
                </a:solidFill>
              </a:rPr>
              <a:t>+41 58 551 55 55</a:t>
            </a:r>
            <a:endParaRPr 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DA5AAB-8F14-ABFB-BA9C-FA8C34D797CA}"/>
              </a:ext>
            </a:extLst>
          </p:cNvPr>
          <p:cNvSpPr txBox="1"/>
          <p:nvPr userDrawn="1"/>
        </p:nvSpPr>
        <p:spPr>
          <a:xfrm>
            <a:off x="4920094" y="5273042"/>
            <a:ext cx="1512152" cy="369485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bg1"/>
                </a:solidFill>
              </a:rPr>
              <a:t>info@serv-ch.com</a:t>
            </a:r>
            <a:endParaRPr 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CD3E06-10B7-E965-F0F3-C2FF8BED81D7}"/>
              </a:ext>
            </a:extLst>
          </p:cNvPr>
          <p:cNvSpPr txBox="1"/>
          <p:nvPr userDrawn="1"/>
        </p:nvSpPr>
        <p:spPr>
          <a:xfrm>
            <a:off x="6584396" y="5273041"/>
            <a:ext cx="1512152" cy="369485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bg1"/>
                </a:solidFill>
              </a:rPr>
              <a:t>www.serv-ch.com</a:t>
            </a:r>
            <a:endParaRPr lang="en-US" sz="1200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4407A343-BD2F-07FF-AC27-852EA9A536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20094" y="5143294"/>
            <a:ext cx="259494" cy="259494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F1EB4A99-D77B-8287-43B3-C3C225A67D7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84396" y="5143294"/>
            <a:ext cx="259494" cy="259494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CA74ED69-9ED0-8E07-9667-6C66C35566E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55791" y="5143294"/>
            <a:ext cx="259494" cy="25949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6812FD9B-FDF9-3F2F-0C7C-24F6A58F9A17}"/>
              </a:ext>
            </a:extLst>
          </p:cNvPr>
          <p:cNvSpPr/>
          <p:nvPr userDrawn="1"/>
        </p:nvSpPr>
        <p:spPr>
          <a:xfrm>
            <a:off x="6173663" y="640494"/>
            <a:ext cx="2712431" cy="271243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Ins="144000" bIns="252000" rtlCol="0" anchor="b"/>
          <a:lstStyle/>
          <a:p>
            <a:pPr algn="r">
              <a:lnSpc>
                <a:spcPct val="110000"/>
              </a:lnSpc>
            </a:pPr>
            <a:r>
              <a:rPr lang="en-US" sz="2800" b="1" dirty="0" err="1">
                <a:solidFill>
                  <a:schemeClr val="tx1"/>
                </a:solidFill>
                <a:latin typeface="Arial" panose="020B0604020202020204" pitchFamily="34" charset="0"/>
                <a:ea typeface="Lato" panose="020F0502020204030203" pitchFamily="34" charset="0"/>
                <a:cs typeface="Arial" panose="020B0604020202020204" pitchFamily="34" charset="0"/>
              </a:rPr>
              <a:t>Minimise</a:t>
            </a: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ea typeface="Lato" panose="020F0502020204030203" pitchFamily="34" charset="0"/>
                <a:cs typeface="Arial" panose="020B0604020202020204" pitchFamily="34" charset="0"/>
              </a:rPr>
              <a:t> risks.</a:t>
            </a:r>
          </a:p>
          <a:p>
            <a:pPr algn="r">
              <a:lnSpc>
                <a:spcPct val="110000"/>
              </a:lnSpc>
            </a:pPr>
            <a:r>
              <a:rPr lang="en-US" sz="2800" b="1" dirty="0" err="1">
                <a:solidFill>
                  <a:schemeClr val="tx1"/>
                </a:solidFill>
                <a:latin typeface="Arial" panose="020B0604020202020204" pitchFamily="34" charset="0"/>
                <a:ea typeface="Lato" panose="020F0502020204030203" pitchFamily="34" charset="0"/>
                <a:cs typeface="Arial" panose="020B0604020202020204" pitchFamily="34" charset="0"/>
              </a:rPr>
              <a:t>Maximise</a:t>
            </a: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ea typeface="Lato" panose="020F0502020204030203" pitchFamily="34" charset="0"/>
                <a:cs typeface="Arial" panose="020B0604020202020204" pitchFamily="34" charset="0"/>
              </a:rPr>
              <a:t> exports.</a:t>
            </a:r>
          </a:p>
        </p:txBody>
      </p:sp>
      <p:sp>
        <p:nvSpPr>
          <p:cNvPr id="17" name="Picture Placeholder 6">
            <a:extLst>
              <a:ext uri="{FF2B5EF4-FFF2-40B4-BE49-F238E27FC236}">
                <a16:creationId xmlns:a16="http://schemas.microsoft.com/office/drawing/2014/main" id="{FD92DD42-75C7-3AF1-D950-9F212546E10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42914" y="640494"/>
            <a:ext cx="2712430" cy="2712430"/>
          </a:xfrm>
          <a:solidFill>
            <a:schemeClr val="bg2"/>
          </a:solidFill>
        </p:spPr>
        <p:txBody>
          <a:bodyPr bIns="720000" anchor="ctr"/>
          <a:lstStyle>
            <a:lvl1pPr marL="0" marR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noProof="0" dirty="0"/>
              <a:t>Insert image by clicking on the symbol</a:t>
            </a:r>
          </a:p>
        </p:txBody>
      </p:sp>
      <p:sp>
        <p:nvSpPr>
          <p:cNvPr id="18" name="Picture Placeholder 6">
            <a:extLst>
              <a:ext uri="{FF2B5EF4-FFF2-40B4-BE49-F238E27FC236}">
                <a16:creationId xmlns:a16="http://schemas.microsoft.com/office/drawing/2014/main" id="{2F8D8981-245A-EA8A-10FE-36BCABAB6B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308288" y="640494"/>
            <a:ext cx="2712430" cy="2712430"/>
          </a:xfrm>
          <a:solidFill>
            <a:schemeClr val="bg2"/>
          </a:solidFill>
        </p:spPr>
        <p:txBody>
          <a:bodyPr bIns="720000" anchor="ctr"/>
          <a:lstStyle>
            <a:lvl1pPr marL="0" marR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noProof="0" dirty="0"/>
              <a:t>Insert image by clicking on the symbol</a:t>
            </a:r>
          </a:p>
        </p:txBody>
      </p:sp>
      <p:sp>
        <p:nvSpPr>
          <p:cNvPr id="19" name="Picture Placeholder 6">
            <a:extLst>
              <a:ext uri="{FF2B5EF4-FFF2-40B4-BE49-F238E27FC236}">
                <a16:creationId xmlns:a16="http://schemas.microsoft.com/office/drawing/2014/main" id="{15C11C0D-2CF7-B763-0328-AB995737104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039036" y="640494"/>
            <a:ext cx="2712432" cy="2712430"/>
          </a:xfrm>
          <a:solidFill>
            <a:schemeClr val="bg2"/>
          </a:solidFill>
        </p:spPr>
        <p:txBody>
          <a:bodyPr bIns="720000" anchor="ctr"/>
          <a:lstStyle>
            <a:lvl1pPr marL="0" marR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noProof="0" dirty="0"/>
              <a:t>Insert image by clicking on the symbol</a:t>
            </a:r>
          </a:p>
        </p:txBody>
      </p:sp>
      <p:sp>
        <p:nvSpPr>
          <p:cNvPr id="20" name="Picture Placeholder 6">
            <a:extLst>
              <a:ext uri="{FF2B5EF4-FFF2-40B4-BE49-F238E27FC236}">
                <a16:creationId xmlns:a16="http://schemas.microsoft.com/office/drawing/2014/main" id="{6A9786F8-82FF-09A1-7FD9-0D7057E61087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039036" y="3505076"/>
            <a:ext cx="2712432" cy="2695699"/>
          </a:xfrm>
          <a:solidFill>
            <a:schemeClr val="bg2"/>
          </a:solidFill>
        </p:spPr>
        <p:txBody>
          <a:bodyPr bIns="720000" anchor="ctr"/>
          <a:lstStyle>
            <a:lvl1pPr marL="0" marR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noProof="0" dirty="0"/>
              <a:t>Insert image by clicking on the symbol</a:t>
            </a:r>
          </a:p>
        </p:txBody>
      </p:sp>
    </p:spTree>
    <p:extLst>
      <p:ext uri="{BB962C8B-B14F-4D97-AF65-F5344CB8AC3E}">
        <p14:creationId xmlns:p14="http://schemas.microsoft.com/office/powerpoint/2010/main" val="3131126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2895BC-0DC8-5236-73C4-EF07A7E3F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1043535"/>
            <a:ext cx="11306175" cy="48383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Here goes your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01F9CE-0BD6-45C4-E1B8-C423AFA3C5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2913" y="1994263"/>
            <a:ext cx="11306175" cy="42065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AE6E07-F1B3-A3D0-D29E-BFC05F7CA5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42912" y="6381748"/>
            <a:ext cx="3138488" cy="47625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200">
                <a:noFill/>
              </a:defRPr>
            </a:lvl1pPr>
          </a:lstStyle>
          <a:p>
            <a:r>
              <a:rPr lang="en-US"/>
              <a:t>03 October 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6B1A3F-C20D-6613-2421-79162D6F7D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66813" y="704646"/>
            <a:ext cx="4443413" cy="23535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Title of your presentation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77E6F4-DA75-D8B9-C2AC-6E3DED1492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8100" y="6381750"/>
            <a:ext cx="280988" cy="47625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2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39AB5E-215F-4BC4-9EB7-C8883DA834C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48952BA-A326-847E-36AA-8540683B81E1}"/>
              </a:ext>
            </a:extLst>
          </p:cNvPr>
          <p:cNvCxnSpPr>
            <a:cxnSpLocks/>
          </p:cNvCxnSpPr>
          <p:nvPr userDrawn="1"/>
        </p:nvCxnSpPr>
        <p:spPr>
          <a:xfrm>
            <a:off x="0" y="822321"/>
            <a:ext cx="982913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fik 10">
            <a:extLst>
              <a:ext uri="{FF2B5EF4-FFF2-40B4-BE49-F238E27FC236}">
                <a16:creationId xmlns:a16="http://schemas.microsoft.com/office/drawing/2014/main" id="{46CA5267-5F59-97B9-B2B1-C2BD234CC6AA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42913" y="286802"/>
            <a:ext cx="895350" cy="193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132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60" r:id="rId3"/>
    <p:sldLayoutId id="2147483650" r:id="rId4"/>
    <p:sldLayoutId id="2147483654" r:id="rId5"/>
    <p:sldLayoutId id="2147483661" r:id="rId6"/>
    <p:sldLayoutId id="2147483656" r:id="rId7"/>
    <p:sldLayoutId id="2147483662" r:id="rId8"/>
    <p:sldLayoutId id="2147483657" r:id="rId9"/>
    <p:sldLayoutId id="2147483658" r:id="rId10"/>
    <p:sldLayoutId id="2147483655" r:id="rId11"/>
    <p:sldLayoutId id="2147483659" r:id="rId1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6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10000"/>
        </a:lnSpc>
        <a:spcBef>
          <a:spcPts val="6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10000"/>
        </a:lnSpc>
        <a:spcBef>
          <a:spcPts val="6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10000"/>
        </a:lnSpc>
        <a:spcBef>
          <a:spcPts val="600"/>
        </a:spcBef>
        <a:buFont typeface="Arial" panose="020B0604020202020204" pitchFamily="34" charset="0"/>
        <a:buNone/>
        <a:defRPr sz="1600" b="1" kern="1200">
          <a:solidFill>
            <a:schemeClr val="accent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10000"/>
        </a:lnSpc>
        <a:spcBef>
          <a:spcPts val="600"/>
        </a:spcBef>
        <a:buFont typeface="Arial" panose="020B0604020202020204" pitchFamily="34" charset="0"/>
        <a:buNone/>
        <a:defRPr sz="1600" b="1" kern="1200">
          <a:solidFill>
            <a:schemeClr val="accent2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10000"/>
        </a:lnSpc>
        <a:spcBef>
          <a:spcPts val="600"/>
        </a:spcBef>
        <a:buFont typeface="Arial" panose="020B0604020202020204" pitchFamily="34" charset="0"/>
        <a:buNone/>
        <a:defRPr sz="20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10000"/>
        </a:lnSpc>
        <a:spcBef>
          <a:spcPts val="600"/>
        </a:spcBef>
        <a:buFont typeface="Arial" panose="020B0604020202020204" pitchFamily="34" charset="0"/>
        <a:buNone/>
        <a:defRPr sz="2000" kern="1200">
          <a:solidFill>
            <a:schemeClr val="accent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56" userDrawn="1">
          <p15:clr>
            <a:srgbClr val="F26B43"/>
          </p15:clr>
        </p15:guide>
        <p15:guide id="2" orient="horz" pos="3906" userDrawn="1">
          <p15:clr>
            <a:srgbClr val="F26B43"/>
          </p15:clr>
        </p15:guide>
        <p15:guide id="3" orient="horz" pos="4019" userDrawn="1">
          <p15:clr>
            <a:srgbClr val="F26B43"/>
          </p15:clr>
        </p15:guide>
        <p15:guide id="4" orient="horz" pos="963" userDrawn="1">
          <p15:clr>
            <a:srgbClr val="F26B43"/>
          </p15:clr>
        </p15:guide>
        <p15:guide id="5" orient="horz" pos="657" userDrawn="1">
          <p15:clr>
            <a:srgbClr val="F26B43"/>
          </p15:clr>
        </p15:guide>
        <p15:guide id="6" orient="horz" pos="300" userDrawn="1">
          <p15:clr>
            <a:srgbClr val="F26B43"/>
          </p15:clr>
        </p15:guide>
        <p15:guide id="7" pos="279" userDrawn="1">
          <p15:clr>
            <a:srgbClr val="F26B43"/>
          </p15:clr>
        </p15:guide>
        <p15:guide id="8" pos="740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18" Type="http://schemas.openxmlformats.org/officeDocument/2006/relationships/image" Target="../media/image31.png"/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17" Type="http://schemas.openxmlformats.org/officeDocument/2006/relationships/image" Target="../media/image30.png"/><Relationship Id="rId2" Type="http://schemas.openxmlformats.org/officeDocument/2006/relationships/image" Target="../media/image17.png"/><Relationship Id="rId16" Type="http://schemas.openxmlformats.org/officeDocument/2006/relationships/image" Target="../media/image29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0.png"/><Relationship Id="rId11" Type="http://schemas.openxmlformats.org/officeDocument/2006/relationships/image" Target="../media/image25.svg"/><Relationship Id="rId5" Type="http://schemas.openxmlformats.org/officeDocument/2006/relationships/image" Target="../media/image190.png"/><Relationship Id="rId15" Type="http://schemas.openxmlformats.org/officeDocument/2006/relationships/image" Target="../media/image28.png"/><Relationship Id="rId10" Type="http://schemas.openxmlformats.org/officeDocument/2006/relationships/image" Target="../media/image24.png"/><Relationship Id="rId19" Type="http://schemas.openxmlformats.org/officeDocument/2006/relationships/image" Target="../media/image32.png"/><Relationship Id="rId4" Type="http://schemas.openxmlformats.org/officeDocument/2006/relationships/image" Target="../media/image19.png"/><Relationship Id="rId9" Type="http://schemas.openxmlformats.org/officeDocument/2006/relationships/image" Target="../media/image23.svg"/><Relationship Id="rId14" Type="http://schemas.openxmlformats.org/officeDocument/2006/relationships/image" Target="NUL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40.png"/><Relationship Id="rId5" Type="http://schemas.openxmlformats.org/officeDocument/2006/relationships/image" Target="../media/image36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0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00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41.png"/><Relationship Id="rId3" Type="http://schemas.openxmlformats.org/officeDocument/2006/relationships/image" Target="../media/image43.png"/><Relationship Id="rId12" Type="http://schemas.openxmlformats.org/officeDocument/2006/relationships/image" Target="../media/image52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1.xml"/><Relationship Id="rId11" Type="http://schemas.openxmlformats.org/officeDocument/2006/relationships/image" Target="../media/image51.png"/><Relationship Id="rId5" Type="http://schemas.openxmlformats.org/officeDocument/2006/relationships/image" Target="../media/image45.png"/><Relationship Id="rId10" Type="http://schemas.openxmlformats.org/officeDocument/2006/relationships/image" Target="../media/image50.png"/><Relationship Id="rId4" Type="http://schemas.openxmlformats.org/officeDocument/2006/relationships/image" Target="../media/image390.png"/><Relationship Id="rId9" Type="http://schemas.openxmlformats.org/officeDocument/2006/relationships/image" Target="../media/image49.png"/><Relationship Id="rId14" Type="http://schemas.openxmlformats.org/officeDocument/2006/relationships/image" Target="../media/image4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4" Type="http://schemas.openxmlformats.org/officeDocument/2006/relationships/image" Target="../media/image5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7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g"/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4.jpeg"/><Relationship Id="rId4" Type="http://schemas.openxmlformats.org/officeDocument/2006/relationships/image" Target="../media/image50.jp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 descr="A picture containing track, sky, outdoor, ground&#10;&#10;Description automatically generated">
            <a:extLst>
              <a:ext uri="{FF2B5EF4-FFF2-40B4-BE49-F238E27FC236}">
                <a16:creationId xmlns:a16="http://schemas.microsoft.com/office/drawing/2014/main" id="{9D7EDF27-A1CD-DB22-E365-64427A8736F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448" b="19448"/>
          <a:stretch/>
        </p:blipFill>
        <p:spPr/>
      </p:pic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4BE31C0-27B0-81F8-3856-A512F15ABBD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04005858-71B2-36DB-A977-27B88897656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Expert Session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37DB2EB7-D93A-FC6E-A6BF-DD85B8E57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 October 2024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8D0AC74-DDE8-CB40-5ACD-791B8776D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your presentation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AF8BF2C-B2B6-247B-7C12-ADDB989B3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9AB5E-215F-4BC4-9EB7-C8883DA834C0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2" name="Textplatzhalter 1">
            <a:extLst>
              <a:ext uri="{FF2B5EF4-FFF2-40B4-BE49-F238E27FC236}">
                <a16:creationId xmlns:a16="http://schemas.microsoft.com/office/drawing/2014/main" id="{E872E37B-CAC0-9BCA-D3A6-2BF9481C16A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08B239E-7A6C-D25E-E6BA-C381AB24182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An informal expert session on pricing issues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C157579-D9E8-04B5-EABC-995372E64BD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6837" y="5897656"/>
            <a:ext cx="4044298" cy="162177"/>
          </a:xfrm>
        </p:spPr>
        <p:txBody>
          <a:bodyPr/>
          <a:lstStyle/>
          <a:p>
            <a:r>
              <a:rPr lang="en-US" dirty="0" err="1"/>
              <a:t>Heribert</a:t>
            </a:r>
            <a:r>
              <a:rPr lang="en-US" dirty="0"/>
              <a:t> </a:t>
            </a:r>
            <a:r>
              <a:rPr lang="en-US" dirty="0" err="1"/>
              <a:t>Knittlmayer</a:t>
            </a:r>
            <a:r>
              <a:rPr lang="en-US" dirty="0"/>
              <a:t>, Aurelio </a:t>
            </a:r>
            <a:r>
              <a:rPr lang="en-US" dirty="0" err="1"/>
              <a:t>Caliaro</a:t>
            </a:r>
            <a:r>
              <a:rPr lang="en-US" dirty="0"/>
              <a:t> | SERV</a:t>
            </a:r>
            <a:br>
              <a:rPr lang="en-US" dirty="0"/>
            </a:br>
            <a:r>
              <a:rPr lang="en-US" dirty="0"/>
              <a:t>Tim </a:t>
            </a:r>
            <a:r>
              <a:rPr lang="en-US" dirty="0" err="1"/>
              <a:t>Herpich</a:t>
            </a:r>
            <a:r>
              <a:rPr lang="en-US" dirty="0"/>
              <a:t> | d-fine</a:t>
            </a:r>
          </a:p>
        </p:txBody>
      </p:sp>
    </p:spTree>
    <p:extLst>
      <p:ext uri="{BB962C8B-B14F-4D97-AF65-F5344CB8AC3E}">
        <p14:creationId xmlns:p14="http://schemas.microsoft.com/office/powerpoint/2010/main" val="18576161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247C4-2EE4-21DC-A18A-92E9BF185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C7DCBD-3288-121B-3EDC-726FC0BCB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 October 2024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E31638-208F-4AED-5642-91F5D30B3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9AB5E-215F-4BC4-9EB7-C8883DA834C0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2C7DA44-EA5D-6A25-3744-816493F4716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2913" y="2382416"/>
            <a:ext cx="5167313" cy="3818356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dirty="0"/>
              <a:t>Introduction</a:t>
            </a:r>
          </a:p>
          <a:p>
            <a:pPr>
              <a:spcAft>
                <a:spcPts val="600"/>
              </a:spcAft>
            </a:pPr>
            <a:r>
              <a:rPr lang="en-US" dirty="0"/>
              <a:t>Modifications of insurances</a:t>
            </a:r>
          </a:p>
          <a:p>
            <a:pPr>
              <a:spcAft>
                <a:spcPts val="600"/>
              </a:spcAft>
            </a:pPr>
            <a:r>
              <a:rPr lang="en-US" dirty="0"/>
              <a:t>Graphical Examples</a:t>
            </a:r>
          </a:p>
          <a:p>
            <a:pPr>
              <a:spcAft>
                <a:spcPts val="600"/>
              </a:spcAft>
            </a:pPr>
            <a:r>
              <a:rPr lang="en-US" dirty="0"/>
              <a:t>Formal Approach</a:t>
            </a:r>
          </a:p>
          <a:p>
            <a:pPr>
              <a:spcAft>
                <a:spcPts val="600"/>
              </a:spcAft>
            </a:pPr>
            <a:r>
              <a:rPr lang="en-US" dirty="0"/>
              <a:t>Premium Financing</a:t>
            </a:r>
          </a:p>
          <a:p>
            <a:pPr>
              <a:spcAft>
                <a:spcPts val="600"/>
              </a:spcAft>
            </a:pPr>
            <a:r>
              <a:rPr lang="en-US" dirty="0"/>
              <a:t>FAQ</a:t>
            </a:r>
          </a:p>
          <a:p>
            <a:pPr>
              <a:spcAft>
                <a:spcPts val="600"/>
              </a:spcAft>
            </a:pPr>
            <a:r>
              <a:rPr lang="en-US" dirty="0"/>
              <a:t>Conclusion and Outlook</a:t>
            </a:r>
          </a:p>
        </p:txBody>
      </p:sp>
      <p:pic>
        <p:nvPicPr>
          <p:cNvPr id="10" name="Bildplatzhalter 10" descr="Ein Bild, das Gebäude, draußen enthält.&#10;&#10;Automatisch generierte Beschreibung">
            <a:extLst>
              <a:ext uri="{FF2B5EF4-FFF2-40B4-BE49-F238E27FC236}">
                <a16:creationId xmlns:a16="http://schemas.microsoft.com/office/drawing/2014/main" id="{09B909C3-5AD0-61E0-2EE0-21040214C2C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7" b="17"/>
          <a:stretch>
            <a:fillRect/>
          </a:stretch>
        </p:blipFill>
        <p:spPr>
          <a:xfrm>
            <a:off x="6653213" y="0"/>
            <a:ext cx="5538787" cy="6867525"/>
          </a:xfrm>
        </p:spPr>
      </p:pic>
    </p:spTree>
    <p:extLst>
      <p:ext uri="{BB962C8B-B14F-4D97-AF65-F5344CB8AC3E}">
        <p14:creationId xmlns:p14="http://schemas.microsoft.com/office/powerpoint/2010/main" val="696543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0CB1CDA-5018-D5E1-36FA-BC57955A6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6076" y="3770398"/>
            <a:ext cx="4391024" cy="688202"/>
          </a:xfrm>
        </p:spPr>
        <p:txBody>
          <a:bodyPr/>
          <a:lstStyle/>
          <a:p>
            <a:r>
              <a:rPr lang="en-US"/>
              <a:t>Introduction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64C84E-F5D7-3850-7A5E-33D84B6B04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2912" y="6381748"/>
            <a:ext cx="3138488" cy="476251"/>
          </a:xfrm>
        </p:spPr>
        <p:txBody>
          <a:bodyPr/>
          <a:lstStyle/>
          <a:p>
            <a:r>
              <a:rPr lang="en-US"/>
              <a:t>03 October 2024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393344-5384-1E58-0D5E-E5059970C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8100" y="6381750"/>
            <a:ext cx="280988" cy="476250"/>
          </a:xfrm>
        </p:spPr>
        <p:txBody>
          <a:bodyPr/>
          <a:lstStyle/>
          <a:p>
            <a:fld id="{2639AB5E-215F-4BC4-9EB7-C8883DA834C0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0AE5DE-53BE-2DE6-A2F3-E08F1978C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86263" y="6381748"/>
            <a:ext cx="4443413" cy="483831"/>
          </a:xfrm>
        </p:spPr>
        <p:txBody>
          <a:bodyPr/>
          <a:lstStyle/>
          <a:p>
            <a:r>
              <a:rPr lang="en-US"/>
              <a:t>Title of your presentation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5889752-2629-27E5-48C1-7F1997D3DA5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96075" y="1528763"/>
            <a:ext cx="2809971" cy="1777214"/>
          </a:xfrm>
        </p:spPr>
        <p:txBody>
          <a:bodyPr/>
          <a:lstStyle/>
          <a:p>
            <a:r>
              <a:rPr lang="en-US"/>
              <a:t>#01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506034-4027-44EF-5113-B9EB9C67F1C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42913" y="1321203"/>
            <a:ext cx="3965460" cy="2651616"/>
          </a:xfrm>
        </p:spPr>
        <p:txBody>
          <a:bodyPr/>
          <a:lstStyle/>
          <a:p>
            <a:pPr lvl="1"/>
            <a:r>
              <a:rPr lang="en-US" dirty="0"/>
              <a:t>Introduction</a:t>
            </a:r>
          </a:p>
          <a:p>
            <a:r>
              <a:rPr lang="en-US" dirty="0"/>
              <a:t>Modifications of insurances</a:t>
            </a:r>
          </a:p>
          <a:p>
            <a:r>
              <a:rPr lang="en-US" dirty="0"/>
              <a:t>Graphical Examples</a:t>
            </a:r>
          </a:p>
          <a:p>
            <a:r>
              <a:rPr lang="en-US" dirty="0"/>
              <a:t>Formal Approach</a:t>
            </a:r>
          </a:p>
          <a:p>
            <a:r>
              <a:rPr lang="en-US" dirty="0"/>
              <a:t>Premium Financing</a:t>
            </a:r>
          </a:p>
          <a:p>
            <a:r>
              <a:rPr lang="en-US" dirty="0"/>
              <a:t>FAQ</a:t>
            </a:r>
          </a:p>
          <a:p>
            <a:r>
              <a:rPr lang="en-US" dirty="0"/>
              <a:t>Conclusion and Outlook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4417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0CB1CDA-5018-D5E1-36FA-BC57955A6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6075" y="3770398"/>
            <a:ext cx="4558735" cy="688202"/>
          </a:xfrm>
        </p:spPr>
        <p:txBody>
          <a:bodyPr/>
          <a:lstStyle/>
          <a:p>
            <a:r>
              <a:rPr lang="en-US" dirty="0"/>
              <a:t>Modifications</a:t>
            </a:r>
            <a:br>
              <a:rPr lang="en-US" dirty="0"/>
            </a:br>
            <a:r>
              <a:rPr lang="en-US" dirty="0"/>
              <a:t>of insurances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64C84E-F5D7-3850-7A5E-33D84B6B04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2912" y="6381748"/>
            <a:ext cx="3138488" cy="476251"/>
          </a:xfrm>
        </p:spPr>
        <p:txBody>
          <a:bodyPr/>
          <a:lstStyle/>
          <a:p>
            <a:r>
              <a:rPr lang="en-US"/>
              <a:t>03 October 2024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393344-5384-1E58-0D5E-E5059970C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8100" y="6381750"/>
            <a:ext cx="280988" cy="476250"/>
          </a:xfrm>
        </p:spPr>
        <p:txBody>
          <a:bodyPr/>
          <a:lstStyle/>
          <a:p>
            <a:fld id="{2639AB5E-215F-4BC4-9EB7-C8883DA834C0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0AE5DE-53BE-2DE6-A2F3-E08F1978C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86263" y="6381748"/>
            <a:ext cx="4443413" cy="483831"/>
          </a:xfrm>
        </p:spPr>
        <p:txBody>
          <a:bodyPr/>
          <a:lstStyle/>
          <a:p>
            <a:r>
              <a:rPr lang="en-US"/>
              <a:t>Title of your presentation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5889752-2629-27E5-48C1-7F1997D3DA5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96075" y="1528763"/>
            <a:ext cx="2809971" cy="1777214"/>
          </a:xfrm>
        </p:spPr>
        <p:txBody>
          <a:bodyPr/>
          <a:lstStyle/>
          <a:p>
            <a:r>
              <a:rPr lang="en-US" dirty="0"/>
              <a:t>#02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4D75BBE-C1FF-3026-A97E-9C68575E4A3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96075" y="5135189"/>
            <a:ext cx="4391025" cy="1065586"/>
          </a:xfrm>
        </p:spPr>
        <p:txBody>
          <a:bodyPr/>
          <a:lstStyle/>
          <a:p>
            <a:r>
              <a:rPr lang="en-US" dirty="0"/>
              <a:t>New insurances and their modifications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506034-4027-44EF-5113-B9EB9C67F1C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42913" y="1321203"/>
            <a:ext cx="3965460" cy="2651616"/>
          </a:xfrm>
        </p:spPr>
        <p:txBody>
          <a:bodyPr/>
          <a:lstStyle/>
          <a:p>
            <a:r>
              <a:rPr lang="en-US" dirty="0"/>
              <a:t>Introduction</a:t>
            </a:r>
          </a:p>
          <a:p>
            <a:pPr lvl="1"/>
            <a:r>
              <a:rPr lang="en-US" dirty="0"/>
              <a:t>Modifications of insurances</a:t>
            </a:r>
          </a:p>
          <a:p>
            <a:r>
              <a:rPr lang="en-US" dirty="0"/>
              <a:t>Graphical Examples</a:t>
            </a:r>
          </a:p>
          <a:p>
            <a:r>
              <a:rPr lang="en-US" dirty="0"/>
              <a:t>Formal Approach</a:t>
            </a:r>
          </a:p>
          <a:p>
            <a:r>
              <a:rPr lang="en-US" dirty="0"/>
              <a:t>Premium Financing</a:t>
            </a:r>
          </a:p>
          <a:p>
            <a:r>
              <a:rPr lang="en-US" dirty="0"/>
              <a:t>FAQ</a:t>
            </a:r>
          </a:p>
          <a:p>
            <a:r>
              <a:rPr lang="en-US" dirty="0"/>
              <a:t>Conclusion and Outlook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49286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A7FDE4-E16B-24F4-DAAA-174974DC2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What</a:t>
            </a:r>
            <a:r>
              <a:rPr lang="de-CH" dirty="0"/>
              <a:t> </a:t>
            </a:r>
            <a:r>
              <a:rPr lang="de-CH" dirty="0" err="1"/>
              <a:t>are</a:t>
            </a:r>
            <a:r>
              <a:rPr lang="de-CH" dirty="0"/>
              <a:t> </a:t>
            </a:r>
            <a:r>
              <a:rPr lang="de-CH" dirty="0" err="1"/>
              <a:t>we</a:t>
            </a:r>
            <a:r>
              <a:rPr lang="de-CH" dirty="0"/>
              <a:t> </a:t>
            </a:r>
            <a:r>
              <a:rPr lang="de-CH" dirty="0" err="1"/>
              <a:t>talking</a:t>
            </a:r>
            <a:r>
              <a:rPr lang="de-CH" dirty="0"/>
              <a:t> </a:t>
            </a:r>
            <a:r>
              <a:rPr lang="de-CH" dirty="0" err="1"/>
              <a:t>about</a:t>
            </a:r>
            <a:r>
              <a:rPr lang="de-CH" dirty="0"/>
              <a:t>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1287368-6959-5DD8-9993-D7A9B7DC7E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3" y="1994263"/>
            <a:ext cx="6564638" cy="4206511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OECD defines how to price new transactions:</a:t>
            </a:r>
          </a:p>
          <a:p>
            <a:pPr marL="465750" lvl="2" indent="-285750">
              <a:buFont typeface="Arial" panose="020B0604020202020204" pitchFamily="34" charset="0"/>
              <a:buChar char="•"/>
            </a:pPr>
            <a:r>
              <a:rPr lang="en-US" dirty="0"/>
              <a:t>Minimum pricing methodologies for OECD transactions: </a:t>
            </a:r>
            <a:r>
              <a:rPr lang="en-US" dirty="0" err="1"/>
              <a:t>MPR</a:t>
            </a:r>
            <a:r>
              <a:rPr lang="en-US" dirty="0"/>
              <a:t>, MB</a:t>
            </a:r>
          </a:p>
          <a:p>
            <a:pPr marL="465750" lvl="2" indent="-285750">
              <a:buFont typeface="Arial" panose="020B0604020202020204" pitchFamily="34" charset="0"/>
              <a:buChar char="•"/>
            </a:pPr>
            <a:r>
              <a:rPr lang="en-US" dirty="0" err="1"/>
              <a:t>ECA</a:t>
            </a:r>
            <a:r>
              <a:rPr lang="en-US" dirty="0"/>
              <a:t>-specific pricing methodologies for all other transactions</a:t>
            </a:r>
          </a:p>
          <a:p>
            <a:pPr marL="465750" lvl="2" indent="-285750">
              <a:buFont typeface="Arial" panose="020B0604020202020204" pitchFamily="34" charset="0"/>
              <a:buChar char="•"/>
            </a:pPr>
            <a:r>
              <a:rPr lang="en-US" dirty="0"/>
              <a:t>Risk premium is 80% of total premium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However:</a:t>
            </a:r>
          </a:p>
          <a:p>
            <a:pPr marL="465750" lvl="2" indent="-285750">
              <a:buFont typeface="Arial" panose="020B0604020202020204" pitchFamily="34" charset="0"/>
              <a:buChar char="•"/>
            </a:pPr>
            <a:r>
              <a:rPr lang="en-US" dirty="0"/>
              <a:t>OECD does not help on pricing modifications of insurances</a:t>
            </a:r>
          </a:p>
          <a:p>
            <a:pPr marL="465750" lvl="2" indent="-285750">
              <a:buFont typeface="Arial" panose="020B0604020202020204" pitchFamily="34" charset="0"/>
              <a:buChar char="•"/>
            </a:pPr>
            <a:r>
              <a:rPr lang="en-US" dirty="0" err="1"/>
              <a:t>ECA</a:t>
            </a:r>
            <a:r>
              <a:rPr lang="en-US" dirty="0"/>
              <a:t>-specific pricing methodologies for all changes</a:t>
            </a:r>
          </a:p>
          <a:p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40EA1B8-4B4D-0B6A-0972-CFE7F205B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 October 2024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1CB5599-11C1-E6F2-72B0-6E98B113C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4523152-1CC2-27A9-1B3E-A5AB82125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9AB5E-215F-4BC4-9EB7-C8883DA834C0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9" name="Bildplatzhalter 8" descr="Ein Bild, das Maschine, Forschungsinstrument, Nähmaschine, Im Haus enthält.&#10;&#10;Automatisch generierte Beschreibung">
            <a:extLst>
              <a:ext uri="{FF2B5EF4-FFF2-40B4-BE49-F238E27FC236}">
                <a16:creationId xmlns:a16="http://schemas.microsoft.com/office/drawing/2014/main" id="{6AD2CDD2-A4F8-BADA-0852-ABADF10F6A68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35" r="2643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3631578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8FD4BD-6A64-D602-C177-746440743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Why</a:t>
            </a:r>
            <a:r>
              <a:rPr lang="de-CH" dirty="0"/>
              <a:t> </a:t>
            </a:r>
            <a:r>
              <a:rPr lang="de-CH" dirty="0" err="1"/>
              <a:t>is</a:t>
            </a:r>
            <a:r>
              <a:rPr lang="de-CH" dirty="0"/>
              <a:t> </a:t>
            </a:r>
            <a:r>
              <a:rPr lang="de-CH" dirty="0" err="1"/>
              <a:t>this</a:t>
            </a:r>
            <a:r>
              <a:rPr lang="de-CH" dirty="0"/>
              <a:t> relevant?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2ED8D3A-3EC9-BCCE-D6E1-A521B314E7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3" y="1994263"/>
            <a:ext cx="6340024" cy="4206511"/>
          </a:xfrm>
        </p:spPr>
        <p:txBody>
          <a:bodyPr/>
          <a:lstStyle/>
          <a:p>
            <a:r>
              <a:rPr lang="en-US" dirty="0"/>
              <a:t>Modifications are frequent: Less than half of the insured buyer + supplier credits stay unmodified.</a:t>
            </a:r>
          </a:p>
          <a:p>
            <a:endParaRPr lang="en-US" dirty="0"/>
          </a:p>
          <a:p>
            <a:r>
              <a:rPr lang="en-US" dirty="0"/>
              <a:t>Why?</a:t>
            </a:r>
          </a:p>
          <a:p>
            <a:pPr marL="465750" lvl="2" indent="-285750">
              <a:buFont typeface="Arial" panose="020B0604020202020204" pitchFamily="34" charset="0"/>
              <a:buChar char="•"/>
            </a:pPr>
            <a:r>
              <a:rPr lang="en-US" dirty="0"/>
              <a:t>Delivery contract may contain some flexibility in terms of dates (delivery)</a:t>
            </a:r>
          </a:p>
          <a:p>
            <a:pPr marL="465750" lvl="2" indent="-285750">
              <a:buFont typeface="Arial" panose="020B0604020202020204" pitchFamily="34" charset="0"/>
              <a:buChar char="•"/>
            </a:pPr>
            <a:r>
              <a:rPr lang="en-US" dirty="0"/>
              <a:t>Definition of SPOC might be flexible (commissioning date)</a:t>
            </a:r>
          </a:p>
          <a:p>
            <a:pPr marL="465750" lvl="2" indent="-285750">
              <a:buFont typeface="Arial" panose="020B0604020202020204" pitchFamily="34" charset="0"/>
              <a:buChar char="•"/>
            </a:pPr>
            <a:r>
              <a:rPr lang="en-US" dirty="0"/>
              <a:t>Delivery is delayed</a:t>
            </a:r>
          </a:p>
          <a:p>
            <a:pPr marL="465750" lvl="2" indent="-285750">
              <a:buFont typeface="Arial" panose="020B0604020202020204" pitchFamily="34" charset="0"/>
              <a:buChar char="•"/>
            </a:pPr>
            <a:r>
              <a:rPr lang="en-US" dirty="0"/>
              <a:t>Repayments are anticipated</a:t>
            </a:r>
          </a:p>
          <a:p>
            <a:pPr marL="465750" lvl="2" indent="-285750">
              <a:buFont typeface="Arial" panose="020B0604020202020204" pitchFamily="34" charset="0"/>
              <a:buChar char="•"/>
            </a:pPr>
            <a:r>
              <a:rPr lang="en-US" dirty="0"/>
              <a:t>Repayments are delayed (restructuring)</a:t>
            </a:r>
          </a:p>
          <a:p>
            <a:pPr marL="465750" lvl="2" indent="-285750">
              <a:buFont typeface="Arial" panose="020B0604020202020204" pitchFamily="34" charset="0"/>
              <a:buChar char="•"/>
            </a:pPr>
            <a:r>
              <a:rPr lang="en-US" dirty="0"/>
              <a:t>Whole transaction is repaid early.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BCFA45A-C6A5-1107-07DE-CFA3AA57E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 October 2024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E883409-F0DD-C1A9-3E6D-9322251D2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B722BF9-D5FB-74FC-AB72-D9FC96E5C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9AB5E-215F-4BC4-9EB7-C8883DA834C0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4C666330-87A6-908A-16C1-147208DD3DC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de-DE"/>
          </a:p>
        </p:txBody>
      </p:sp>
      <p:graphicFrame>
        <p:nvGraphicFramePr>
          <p:cNvPr id="12" name="Diagramm 11">
            <a:extLst>
              <a:ext uri="{FF2B5EF4-FFF2-40B4-BE49-F238E27FC236}">
                <a16:creationId xmlns:a16="http://schemas.microsoft.com/office/drawing/2014/main" id="{FDCA6B80-4EE0-CE45-2A6F-0D2B6472B56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09793648"/>
              </p:ext>
            </p:extLst>
          </p:nvPr>
        </p:nvGraphicFramePr>
        <p:xfrm>
          <a:off x="7343775" y="1153682"/>
          <a:ext cx="4848225" cy="35635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5574302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8D11B944-17FC-58DD-2446-D141B2EDF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 Experience with pricing modifications of insurances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C352504-A713-8D6A-B701-933A379C01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Situation at SERV before 2021: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SERV methodology for pricing modifications.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Modifications were priced as difference to corresponding new transaction.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With early repayments, administrative premium was reimbursed </a:t>
            </a:r>
            <a:r>
              <a:rPr lang="en-US" dirty="0">
                <a:sym typeface="Wingdings" panose="05000000000000000000" pitchFamily="2" charset="2"/>
              </a:rPr>
              <a:t> net loss</a:t>
            </a:r>
            <a:endParaRPr lang="en-US" dirty="0"/>
          </a:p>
          <a:p>
            <a:endParaRPr lang="en-US" dirty="0"/>
          </a:p>
          <a:p>
            <a:r>
              <a:rPr lang="en-US" dirty="0"/>
              <a:t>Approach: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2021, SERV started to apply a new calculation method for (full or partial) early repayments or reductions of amounts.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Since July 2023, SERV applies the same methodology to all modifications.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1E92E9-292B-AB8F-7974-7B2E6C7BD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 October 2024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3E3103-5578-1549-7110-F1C98B4FF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9AB5E-215F-4BC4-9EB7-C8883DA834C0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6" name="Bildplatzhalter 5" descr="Ein Bild, das Text, Screenshot, computer, Computer enthält.">
            <a:extLst>
              <a:ext uri="{FF2B5EF4-FFF2-40B4-BE49-F238E27FC236}">
                <a16:creationId xmlns:a16="http://schemas.microsoft.com/office/drawing/2014/main" id="{3BDA7AE8-A865-C4EC-110B-A030A100F4AC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35" r="2643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8593947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0CB1CDA-5018-D5E1-36FA-BC57955A6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6076" y="3770398"/>
            <a:ext cx="4391024" cy="688202"/>
          </a:xfrm>
        </p:spPr>
        <p:txBody>
          <a:bodyPr/>
          <a:lstStyle/>
          <a:p>
            <a:r>
              <a:rPr lang="en-US" dirty="0"/>
              <a:t>Graphical</a:t>
            </a:r>
            <a:br>
              <a:rPr lang="en-US" dirty="0"/>
            </a:br>
            <a:r>
              <a:rPr lang="en-US" dirty="0"/>
              <a:t>Examples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64C84E-F5D7-3850-7A5E-33D84B6B04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2912" y="6381748"/>
            <a:ext cx="3138488" cy="476251"/>
          </a:xfrm>
        </p:spPr>
        <p:txBody>
          <a:bodyPr/>
          <a:lstStyle/>
          <a:p>
            <a:r>
              <a:rPr lang="en-US"/>
              <a:t>03 October 2024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393344-5384-1E58-0D5E-E5059970C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8100" y="6381750"/>
            <a:ext cx="280988" cy="476250"/>
          </a:xfrm>
        </p:spPr>
        <p:txBody>
          <a:bodyPr/>
          <a:lstStyle/>
          <a:p>
            <a:fld id="{2639AB5E-215F-4BC4-9EB7-C8883DA834C0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0AE5DE-53BE-2DE6-A2F3-E08F1978C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86263" y="6381748"/>
            <a:ext cx="4443413" cy="483831"/>
          </a:xfrm>
        </p:spPr>
        <p:txBody>
          <a:bodyPr/>
          <a:lstStyle/>
          <a:p>
            <a:r>
              <a:rPr lang="en-US"/>
              <a:t>Title of your presentation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5889752-2629-27E5-48C1-7F1997D3DA5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96075" y="1528763"/>
            <a:ext cx="2809971" cy="1777214"/>
          </a:xfrm>
        </p:spPr>
        <p:txBody>
          <a:bodyPr/>
          <a:lstStyle/>
          <a:p>
            <a:r>
              <a:rPr lang="en-US" dirty="0"/>
              <a:t>#03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4D75BBE-C1FF-3026-A97E-9C68575E4A3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96075" y="5135189"/>
            <a:ext cx="4391025" cy="1065586"/>
          </a:xfrm>
        </p:spPr>
        <p:txBody>
          <a:bodyPr/>
          <a:lstStyle/>
          <a:p>
            <a:r>
              <a:rPr lang="en-US" dirty="0"/>
              <a:t>Two graphical examples for calculation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506034-4027-44EF-5113-B9EB9C67F1C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42913" y="1321203"/>
            <a:ext cx="3965460" cy="2651616"/>
          </a:xfrm>
        </p:spPr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Modifications of insurances</a:t>
            </a:r>
          </a:p>
          <a:p>
            <a:pPr lvl="1"/>
            <a:r>
              <a:rPr lang="en-US" dirty="0"/>
              <a:t>Graphical Examples</a:t>
            </a:r>
          </a:p>
          <a:p>
            <a:r>
              <a:rPr lang="en-US" dirty="0"/>
              <a:t>Formal Approach</a:t>
            </a:r>
          </a:p>
          <a:p>
            <a:r>
              <a:rPr lang="en-US" dirty="0"/>
              <a:t>Premium Financing</a:t>
            </a:r>
          </a:p>
          <a:p>
            <a:r>
              <a:rPr lang="en-US" dirty="0"/>
              <a:t>FAQ</a:t>
            </a:r>
          </a:p>
          <a:p>
            <a:r>
              <a:rPr lang="en-US" dirty="0"/>
              <a:t>Conclusion and Outlook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13545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F7C214-AAE1-74B1-82E7-771AA7AB6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2" y="1043535"/>
            <a:ext cx="6362701" cy="483831"/>
          </a:xfrm>
        </p:spPr>
        <p:txBody>
          <a:bodyPr/>
          <a:lstStyle/>
          <a:p>
            <a:r>
              <a:rPr lang="de-CH" dirty="0"/>
              <a:t>Risk </a:t>
            </a:r>
            <a:r>
              <a:rPr lang="de-CH" dirty="0" err="1"/>
              <a:t>represented</a:t>
            </a:r>
            <a:r>
              <a:rPr lang="de-CH" dirty="0"/>
              <a:t> </a:t>
            </a:r>
            <a:r>
              <a:rPr lang="de-CH" dirty="0" err="1"/>
              <a:t>by</a:t>
            </a:r>
            <a:r>
              <a:rPr lang="de-CH" dirty="0"/>
              <a:t> </a:t>
            </a:r>
            <a:r>
              <a:rPr lang="de-CH" dirty="0" err="1"/>
              <a:t>area</a:t>
            </a:r>
            <a:r>
              <a:rPr lang="de-CH" dirty="0"/>
              <a:t>: </a:t>
            </a:r>
            <a:r>
              <a:rPr lang="de-CH" dirty="0" err="1"/>
              <a:t>Example</a:t>
            </a:r>
            <a:r>
              <a:rPr lang="de-CH" dirty="0"/>
              <a:t> 1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3E657C6-356D-D25B-A648-D2733B11B0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de-CH" dirty="0" err="1"/>
              <a:t>To</a:t>
            </a:r>
            <a:r>
              <a:rPr lang="de-CH" dirty="0"/>
              <a:t> </a:t>
            </a:r>
            <a:r>
              <a:rPr lang="de-CH" dirty="0" err="1"/>
              <a:t>show</a:t>
            </a:r>
            <a:r>
              <a:rPr lang="de-CH" dirty="0"/>
              <a:t> </a:t>
            </a:r>
            <a:r>
              <a:rPr lang="de-CH" dirty="0" err="1"/>
              <a:t>our</a:t>
            </a:r>
            <a:r>
              <a:rPr lang="de-CH" dirty="0"/>
              <a:t> </a:t>
            </a:r>
            <a:r>
              <a:rPr lang="de-CH" dirty="0" err="1"/>
              <a:t>approach</a:t>
            </a:r>
            <a:r>
              <a:rPr lang="de-CH" dirty="0"/>
              <a:t>, </a:t>
            </a:r>
            <a:r>
              <a:rPr lang="de-CH" dirty="0" err="1"/>
              <a:t>we</a:t>
            </a:r>
            <a:r>
              <a:rPr lang="de-CH" dirty="0"/>
              <a:t> </a:t>
            </a:r>
            <a:r>
              <a:rPr lang="de-CH" dirty="0" err="1"/>
              <a:t>use</a:t>
            </a:r>
            <a:r>
              <a:rPr lang="de-CH" dirty="0"/>
              <a:t> a </a:t>
            </a:r>
            <a:r>
              <a:rPr lang="de-CH" dirty="0" err="1"/>
              <a:t>graphical</a:t>
            </a:r>
            <a:r>
              <a:rPr lang="de-CH" dirty="0"/>
              <a:t> </a:t>
            </a:r>
            <a:r>
              <a:rPr lang="de-CH" dirty="0" err="1"/>
              <a:t>approach</a:t>
            </a:r>
            <a:r>
              <a:rPr lang="de-CH" dirty="0"/>
              <a:t>.</a:t>
            </a:r>
          </a:p>
          <a:p>
            <a:pPr>
              <a:spcAft>
                <a:spcPts val="600"/>
              </a:spcAft>
            </a:pPr>
            <a:r>
              <a:rPr lang="de-CH" dirty="0"/>
              <a:t>As an </a:t>
            </a:r>
            <a:r>
              <a:rPr lang="de-CH" dirty="0" err="1"/>
              <a:t>example</a:t>
            </a:r>
            <a:r>
              <a:rPr lang="de-CH" dirty="0"/>
              <a:t>, </a:t>
            </a:r>
            <a:r>
              <a:rPr lang="de-CH" dirty="0" err="1"/>
              <a:t>we</a:t>
            </a:r>
            <a:r>
              <a:rPr lang="de-CH" dirty="0"/>
              <a:t> </a:t>
            </a:r>
            <a:r>
              <a:rPr lang="de-CH" dirty="0" err="1"/>
              <a:t>take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following</a:t>
            </a:r>
            <a:r>
              <a:rPr lang="de-CH" dirty="0"/>
              <a:t> </a:t>
            </a:r>
            <a:r>
              <a:rPr lang="de-CH" dirty="0" err="1"/>
              <a:t>transaction</a:t>
            </a:r>
            <a:r>
              <a:rPr lang="de-CH" dirty="0"/>
              <a:t>: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de-CH" dirty="0" err="1"/>
              <a:t>Buyer</a:t>
            </a:r>
            <a:r>
              <a:rPr lang="de-CH" dirty="0"/>
              <a:t> </a:t>
            </a:r>
            <a:r>
              <a:rPr lang="de-CH" dirty="0" err="1"/>
              <a:t>Credit</a:t>
            </a:r>
            <a:endParaRPr lang="de-CH" dirty="0"/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de-CH" dirty="0"/>
              <a:t>Cover: 9’000 EUR (</a:t>
            </a:r>
            <a:r>
              <a:rPr lang="de-CH" dirty="0" err="1"/>
              <a:t>might</a:t>
            </a:r>
            <a:r>
              <a:rPr lang="de-CH" dirty="0"/>
              <a:t> </a:t>
            </a:r>
            <a:r>
              <a:rPr lang="de-CH" dirty="0" err="1"/>
              <a:t>be</a:t>
            </a:r>
            <a:r>
              <a:rPr lang="de-CH" dirty="0"/>
              <a:t> 9’474 EUR </a:t>
            </a:r>
            <a:r>
              <a:rPr lang="de-CH" dirty="0" err="1"/>
              <a:t>with</a:t>
            </a:r>
            <a:r>
              <a:rPr lang="de-CH" dirty="0"/>
              <a:t> 95% cover)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de-CH" dirty="0" err="1"/>
              <a:t>Credit</a:t>
            </a:r>
            <a:r>
              <a:rPr lang="de-CH" dirty="0"/>
              <a:t> </a:t>
            </a:r>
            <a:r>
              <a:rPr lang="de-CH" dirty="0" err="1"/>
              <a:t>period</a:t>
            </a:r>
            <a:r>
              <a:rPr lang="de-CH" dirty="0"/>
              <a:t>: 4 </a:t>
            </a:r>
            <a:r>
              <a:rPr lang="de-CH" dirty="0" err="1"/>
              <a:t>years</a:t>
            </a:r>
            <a:endParaRPr lang="de-CH" dirty="0"/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de-CH" dirty="0"/>
              <a:t>Total premium: 2’250 EUR </a:t>
            </a:r>
            <a:r>
              <a:rPr lang="de-CH" dirty="0">
                <a:sym typeface="Wingdings" panose="05000000000000000000" pitchFamily="2" charset="2"/>
              </a:rPr>
              <a:t> </a:t>
            </a:r>
            <a:r>
              <a:rPr lang="de-CH" dirty="0"/>
              <a:t>Risk premium: 1’800 EUR</a:t>
            </a:r>
          </a:p>
          <a:p>
            <a:pPr>
              <a:spcAft>
                <a:spcPts val="600"/>
              </a:spcAft>
            </a:pPr>
            <a:endParaRPr lang="de-CH" dirty="0"/>
          </a:p>
          <a:p>
            <a:pPr>
              <a:spcAft>
                <a:spcPts val="600"/>
              </a:spcAft>
            </a:pPr>
            <a:endParaRPr lang="de-CH" dirty="0"/>
          </a:p>
          <a:p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E94BE69-3A20-D6B8-4797-16C982219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 October 2024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7C9231C-62D3-B8DC-71F0-D69443DFE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9AB5E-215F-4BC4-9EB7-C8883DA834C0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0C6F11E8-A687-6E43-70F6-8FBC6E30877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de-DE"/>
          </a:p>
        </p:txBody>
      </p:sp>
      <p:graphicFrame>
        <p:nvGraphicFramePr>
          <p:cNvPr id="10" name="Objekt 8">
            <a:extLst>
              <a:ext uri="{FF2B5EF4-FFF2-40B4-BE49-F238E27FC236}">
                <a16:creationId xmlns:a16="http://schemas.microsoft.com/office/drawing/2014/main" id="{7D77FCB9-BD2B-44CF-0A2B-112C0C29D6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1127181"/>
              </p:ext>
            </p:extLst>
          </p:nvPr>
        </p:nvGraphicFramePr>
        <p:xfrm>
          <a:off x="7349754" y="1588037"/>
          <a:ext cx="4826369" cy="31991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4899891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F7C214-AAE1-74B1-82E7-771AA7AB6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1043535"/>
            <a:ext cx="6272212" cy="483831"/>
          </a:xfrm>
        </p:spPr>
        <p:txBody>
          <a:bodyPr/>
          <a:lstStyle/>
          <a:p>
            <a:r>
              <a:rPr lang="de-CH" dirty="0"/>
              <a:t>Risk </a:t>
            </a:r>
            <a:r>
              <a:rPr lang="de-CH" dirty="0" err="1"/>
              <a:t>represented</a:t>
            </a:r>
            <a:r>
              <a:rPr lang="de-CH" dirty="0"/>
              <a:t> </a:t>
            </a:r>
            <a:r>
              <a:rPr lang="de-CH" dirty="0" err="1"/>
              <a:t>by</a:t>
            </a:r>
            <a:r>
              <a:rPr lang="de-CH" dirty="0"/>
              <a:t> </a:t>
            </a:r>
            <a:r>
              <a:rPr lang="de-CH" dirty="0" err="1"/>
              <a:t>area</a:t>
            </a:r>
            <a:r>
              <a:rPr lang="de-CH" dirty="0"/>
              <a:t>: </a:t>
            </a:r>
            <a:r>
              <a:rPr lang="de-CH" dirty="0" err="1"/>
              <a:t>Example</a:t>
            </a:r>
            <a:r>
              <a:rPr lang="de-CH" dirty="0"/>
              <a:t> 1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3E657C6-356D-D25B-A648-D2733B11B0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de-CH" dirty="0"/>
              <a:t>As </a:t>
            </a:r>
            <a:r>
              <a:rPr lang="de-CH" dirty="0" err="1"/>
              <a:t>of</a:t>
            </a:r>
            <a:r>
              <a:rPr lang="de-CH" dirty="0"/>
              <a:t> 1.1.2003, an </a:t>
            </a:r>
            <a:r>
              <a:rPr lang="de-CH" dirty="0" err="1"/>
              <a:t>increase</a:t>
            </a:r>
            <a:r>
              <a:rPr lang="de-CH" dirty="0"/>
              <a:t> </a:t>
            </a:r>
            <a:r>
              <a:rPr lang="de-CH" dirty="0" err="1"/>
              <a:t>of</a:t>
            </a:r>
            <a:r>
              <a:rPr lang="de-CH" dirty="0"/>
              <a:t> </a:t>
            </a:r>
            <a:r>
              <a:rPr lang="de-CH" dirty="0" err="1"/>
              <a:t>amount</a:t>
            </a:r>
            <a:r>
              <a:rPr lang="de-CH" dirty="0"/>
              <a:t> </a:t>
            </a:r>
            <a:r>
              <a:rPr lang="de-CH" dirty="0" err="1"/>
              <a:t>is</a:t>
            </a:r>
            <a:r>
              <a:rPr lang="de-CH" dirty="0"/>
              <a:t> </a:t>
            </a:r>
            <a:r>
              <a:rPr lang="de-CH" dirty="0" err="1"/>
              <a:t>applied</a:t>
            </a:r>
            <a:r>
              <a:rPr lang="de-CH" dirty="0"/>
              <a:t> </a:t>
            </a:r>
            <a:r>
              <a:rPr lang="de-CH" dirty="0" err="1"/>
              <a:t>for</a:t>
            </a:r>
            <a:r>
              <a:rPr lang="de-CH" dirty="0"/>
              <a:t>: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de-CH" dirty="0"/>
              <a:t>New Cover: 10’000 EUR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de-CH" dirty="0"/>
              <a:t>Date </a:t>
            </a:r>
            <a:r>
              <a:rPr lang="de-CH" dirty="0" err="1"/>
              <a:t>of</a:t>
            </a:r>
            <a:r>
              <a:rPr lang="de-CH" dirty="0"/>
              <a:t> </a:t>
            </a:r>
            <a:r>
              <a:rPr lang="de-CH" dirty="0" err="1"/>
              <a:t>change</a:t>
            </a:r>
            <a:r>
              <a:rPr lang="de-CH" dirty="0"/>
              <a:t>: 1.1.2023</a:t>
            </a:r>
          </a:p>
          <a:p>
            <a:pPr>
              <a:spcAft>
                <a:spcPts val="600"/>
              </a:spcAft>
            </a:pPr>
            <a:endParaRPr lang="de-CH" dirty="0"/>
          </a:p>
          <a:p>
            <a:pPr>
              <a:spcAft>
                <a:spcPts val="600"/>
              </a:spcAft>
            </a:pPr>
            <a:endParaRPr lang="de-CH" dirty="0"/>
          </a:p>
          <a:p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E94BE69-3A20-D6B8-4797-16C982219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 October 2024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7C9231C-62D3-B8DC-71F0-D69443DFE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9AB5E-215F-4BC4-9EB7-C8883DA834C0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0C6F11E8-A687-6E43-70F6-8FBC6E30877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de-DE"/>
          </a:p>
        </p:txBody>
      </p:sp>
      <p:graphicFrame>
        <p:nvGraphicFramePr>
          <p:cNvPr id="10" name="Objekt 8">
            <a:extLst>
              <a:ext uri="{FF2B5EF4-FFF2-40B4-BE49-F238E27FC236}">
                <a16:creationId xmlns:a16="http://schemas.microsoft.com/office/drawing/2014/main" id="{7D77FCB9-BD2B-44CF-0A2B-112C0C29D6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8325048"/>
              </p:ext>
            </p:extLst>
          </p:nvPr>
        </p:nvGraphicFramePr>
        <p:xfrm>
          <a:off x="7343775" y="1580986"/>
          <a:ext cx="4848225" cy="32056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8903701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F7C214-AAE1-74B1-82E7-771AA7AB6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2" y="1043535"/>
            <a:ext cx="6407467" cy="483831"/>
          </a:xfrm>
        </p:spPr>
        <p:txBody>
          <a:bodyPr/>
          <a:lstStyle/>
          <a:p>
            <a:r>
              <a:rPr lang="de-CH" dirty="0"/>
              <a:t>Risk </a:t>
            </a:r>
            <a:r>
              <a:rPr lang="de-CH" dirty="0" err="1"/>
              <a:t>represented</a:t>
            </a:r>
            <a:r>
              <a:rPr lang="de-CH" dirty="0"/>
              <a:t> </a:t>
            </a:r>
            <a:r>
              <a:rPr lang="de-CH" dirty="0" err="1"/>
              <a:t>by</a:t>
            </a:r>
            <a:r>
              <a:rPr lang="de-CH" dirty="0"/>
              <a:t> </a:t>
            </a:r>
            <a:r>
              <a:rPr lang="de-CH" dirty="0" err="1"/>
              <a:t>area</a:t>
            </a:r>
            <a:r>
              <a:rPr lang="de-CH" dirty="0"/>
              <a:t>: </a:t>
            </a:r>
            <a:r>
              <a:rPr lang="de-CH" dirty="0" err="1"/>
              <a:t>Example</a:t>
            </a:r>
            <a:r>
              <a:rPr lang="de-CH" dirty="0"/>
              <a:t> 1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3E657C6-356D-D25B-A648-D2733B11B0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2" y="1630905"/>
            <a:ext cx="6194107" cy="456987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de-CH" dirty="0" err="1"/>
              <a:t>How</a:t>
            </a:r>
            <a:r>
              <a:rPr lang="de-CH" dirty="0"/>
              <a:t> </a:t>
            </a:r>
            <a:r>
              <a:rPr lang="de-CH" dirty="0" err="1"/>
              <a:t>does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area</a:t>
            </a:r>
            <a:r>
              <a:rPr lang="de-CH" dirty="0"/>
              <a:t> </a:t>
            </a:r>
            <a:r>
              <a:rPr lang="de-CH" dirty="0" err="1"/>
              <a:t>increase</a:t>
            </a:r>
            <a:r>
              <a:rPr lang="de-CH" dirty="0"/>
              <a:t>?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de-CH" dirty="0" err="1"/>
              <a:t>Red</a:t>
            </a:r>
            <a:r>
              <a:rPr lang="de-CH" dirty="0"/>
              <a:t> </a:t>
            </a:r>
            <a:r>
              <a:rPr lang="de-CH" dirty="0" err="1"/>
              <a:t>area</a:t>
            </a:r>
            <a:r>
              <a:rPr lang="de-CH" dirty="0"/>
              <a:t>: 18 «</a:t>
            </a:r>
            <a:r>
              <a:rPr lang="de-CH" dirty="0" err="1"/>
              <a:t>units</a:t>
            </a:r>
            <a:r>
              <a:rPr lang="de-CH" dirty="0"/>
              <a:t>»,</a:t>
            </a:r>
            <a:br>
              <a:rPr lang="de-CH" dirty="0"/>
            </a:br>
            <a:r>
              <a:rPr lang="de-CH" dirty="0" err="1"/>
              <a:t>corresponds</a:t>
            </a:r>
            <a:r>
              <a:rPr lang="de-CH" dirty="0"/>
              <a:t> </a:t>
            </a:r>
            <a:r>
              <a:rPr lang="de-CH" dirty="0" err="1"/>
              <a:t>to</a:t>
            </a:r>
            <a:r>
              <a:rPr lang="de-CH" dirty="0"/>
              <a:t> </a:t>
            </a:r>
            <a:r>
              <a:rPr lang="de-CH" dirty="0" err="1"/>
              <a:t>unearned</a:t>
            </a:r>
            <a:r>
              <a:rPr lang="de-CH" dirty="0"/>
              <a:t> premium </a:t>
            </a:r>
            <a:r>
              <a:rPr lang="de-CH" dirty="0" err="1"/>
              <a:t>of</a:t>
            </a:r>
            <a:r>
              <a:rPr lang="de-CH" dirty="0"/>
              <a:t> EUR 900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de-CH" dirty="0"/>
              <a:t>Blue </a:t>
            </a:r>
            <a:r>
              <a:rPr lang="de-CH" dirty="0" err="1"/>
              <a:t>area</a:t>
            </a:r>
            <a:r>
              <a:rPr lang="de-CH" dirty="0"/>
              <a:t>: 2 «</a:t>
            </a:r>
            <a:r>
              <a:rPr lang="de-CH" dirty="0" err="1"/>
              <a:t>units</a:t>
            </a:r>
            <a:r>
              <a:rPr lang="de-CH" dirty="0"/>
              <a:t>»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de-CH" dirty="0">
                <a:sym typeface="Wingdings" panose="05000000000000000000" pitchFamily="2" charset="2"/>
              </a:rPr>
              <a:t> </a:t>
            </a:r>
            <a:r>
              <a:rPr lang="de-CH" dirty="0" err="1">
                <a:sym typeface="Wingdings" panose="05000000000000000000" pitchFamily="2" charset="2"/>
              </a:rPr>
              <a:t>Increase</a:t>
            </a:r>
            <a:r>
              <a:rPr lang="de-CH" dirty="0">
                <a:sym typeface="Wingdings" panose="05000000000000000000" pitchFamily="2" charset="2"/>
              </a:rPr>
              <a:t> </a:t>
            </a:r>
            <a:r>
              <a:rPr lang="de-CH" dirty="0" err="1">
                <a:sym typeface="Wingdings" panose="05000000000000000000" pitchFamily="2" charset="2"/>
              </a:rPr>
              <a:t>of</a:t>
            </a:r>
            <a:r>
              <a:rPr lang="de-CH" dirty="0">
                <a:sym typeface="Wingdings" panose="05000000000000000000" pitchFamily="2" charset="2"/>
              </a:rPr>
              <a:t> Area after 1.1.2003: 2/18=11.1%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de-CH" dirty="0">
                <a:sym typeface="Wingdings" panose="05000000000000000000" pitchFamily="2" charset="2"/>
              </a:rPr>
              <a:t> </a:t>
            </a:r>
            <a:r>
              <a:rPr lang="de-CH" dirty="0" err="1">
                <a:sym typeface="Wingdings" panose="05000000000000000000" pitchFamily="2" charset="2"/>
              </a:rPr>
              <a:t>Increase</a:t>
            </a:r>
            <a:r>
              <a:rPr lang="de-CH" dirty="0">
                <a:sym typeface="Wingdings" panose="05000000000000000000" pitchFamily="2" charset="2"/>
              </a:rPr>
              <a:t> </a:t>
            </a:r>
            <a:r>
              <a:rPr lang="de-CH" dirty="0" err="1">
                <a:sym typeface="Wingdings" panose="05000000000000000000" pitchFamily="2" charset="2"/>
              </a:rPr>
              <a:t>of</a:t>
            </a:r>
            <a:r>
              <a:rPr lang="de-CH" dirty="0">
                <a:sym typeface="Wingdings" panose="05000000000000000000" pitchFamily="2" charset="2"/>
              </a:rPr>
              <a:t> Risk Premium: 11.1% x EUR 900 = EUR 100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de-CH" dirty="0">
                <a:sym typeface="Wingdings" panose="05000000000000000000" pitchFamily="2" charset="2"/>
              </a:rPr>
              <a:t> </a:t>
            </a:r>
            <a:r>
              <a:rPr lang="de-CH" dirty="0" err="1">
                <a:sym typeface="Wingdings" panose="05000000000000000000" pitchFamily="2" charset="2"/>
              </a:rPr>
              <a:t>Increase</a:t>
            </a:r>
            <a:r>
              <a:rPr lang="de-CH" dirty="0">
                <a:sym typeface="Wingdings" panose="05000000000000000000" pitchFamily="2" charset="2"/>
              </a:rPr>
              <a:t> </a:t>
            </a:r>
            <a:r>
              <a:rPr lang="de-CH" dirty="0" err="1">
                <a:sym typeface="Wingdings" panose="05000000000000000000" pitchFamily="2" charset="2"/>
              </a:rPr>
              <a:t>of</a:t>
            </a:r>
            <a:r>
              <a:rPr lang="de-CH" dirty="0">
                <a:sym typeface="Wingdings" panose="05000000000000000000" pitchFamily="2" charset="2"/>
              </a:rPr>
              <a:t> Total Premium: EUR 100 / 0.8 = EUR 125</a:t>
            </a:r>
            <a:endParaRPr lang="de-CH" dirty="0"/>
          </a:p>
          <a:p>
            <a:pPr>
              <a:spcAft>
                <a:spcPts val="600"/>
              </a:spcAft>
            </a:pPr>
            <a:endParaRPr lang="de-CH" dirty="0"/>
          </a:p>
          <a:p>
            <a:pPr>
              <a:spcAft>
                <a:spcPts val="600"/>
              </a:spcAft>
            </a:pPr>
            <a:endParaRPr lang="de-CH" dirty="0"/>
          </a:p>
          <a:p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E94BE69-3A20-D6B8-4797-16C982219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 October 2024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7C9231C-62D3-B8DC-71F0-D69443DFE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9AB5E-215F-4BC4-9EB7-C8883DA834C0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0C6F11E8-A687-6E43-70F6-8FBC6E30877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de-DE"/>
          </a:p>
        </p:txBody>
      </p:sp>
      <p:graphicFrame>
        <p:nvGraphicFramePr>
          <p:cNvPr id="10" name="Objekt 8">
            <a:extLst>
              <a:ext uri="{FF2B5EF4-FFF2-40B4-BE49-F238E27FC236}">
                <a16:creationId xmlns:a16="http://schemas.microsoft.com/office/drawing/2014/main" id="{7D77FCB9-BD2B-44CF-0A2B-112C0C29D6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980879"/>
              </p:ext>
            </p:extLst>
          </p:nvPr>
        </p:nvGraphicFramePr>
        <p:xfrm>
          <a:off x="7343775" y="1580986"/>
          <a:ext cx="4848225" cy="32056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0ABB8659-8927-E7EA-C481-948BD36C9C36}"/>
              </a:ext>
            </a:extLst>
          </p:cNvPr>
          <p:cNvGrpSpPr/>
          <p:nvPr/>
        </p:nvGrpSpPr>
        <p:grpSpPr>
          <a:xfrm>
            <a:off x="9843667" y="1971675"/>
            <a:ext cx="1962150" cy="2193131"/>
            <a:chOff x="9843667" y="1971675"/>
            <a:chExt cx="1962150" cy="2193131"/>
          </a:xfrm>
        </p:grpSpPr>
        <p:sp>
          <p:nvSpPr>
            <p:cNvPr id="9" name="Rechteck: abgerundete Ecken 8">
              <a:extLst>
                <a:ext uri="{FF2B5EF4-FFF2-40B4-BE49-F238E27FC236}">
                  <a16:creationId xmlns:a16="http://schemas.microsoft.com/office/drawing/2014/main" id="{8BBE1038-3AE1-24B9-C990-C9B0A2613E34}"/>
                </a:ext>
              </a:extLst>
            </p:cNvPr>
            <p:cNvSpPr/>
            <p:nvPr/>
          </p:nvSpPr>
          <p:spPr>
            <a:xfrm>
              <a:off x="9843667" y="3926680"/>
              <a:ext cx="983877" cy="235745"/>
            </a:xfrm>
            <a:prstGeom prst="roundRect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90000" rIns="90000" bIns="90000" rtlCol="0" anchor="t" anchorCtr="0"/>
            <a:lstStyle/>
            <a:p>
              <a:pPr algn="l"/>
              <a:endParaRPr lang="de-CH" sz="1600" dirty="0"/>
            </a:p>
          </p:txBody>
        </p:sp>
        <p:sp>
          <p:nvSpPr>
            <p:cNvPr id="11" name="Rechteck: abgerundete Ecken 10">
              <a:extLst>
                <a:ext uri="{FF2B5EF4-FFF2-40B4-BE49-F238E27FC236}">
                  <a16:creationId xmlns:a16="http://schemas.microsoft.com/office/drawing/2014/main" id="{F99D9593-EBBF-E104-7462-239375DD92B4}"/>
                </a:ext>
              </a:extLst>
            </p:cNvPr>
            <p:cNvSpPr/>
            <p:nvPr/>
          </p:nvSpPr>
          <p:spPr>
            <a:xfrm>
              <a:off x="10834267" y="3926680"/>
              <a:ext cx="964827" cy="238126"/>
            </a:xfrm>
            <a:prstGeom prst="roundRect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90000" rIns="90000" bIns="90000" rtlCol="0" anchor="t" anchorCtr="0"/>
            <a:lstStyle/>
            <a:p>
              <a:pPr algn="l"/>
              <a:endParaRPr lang="de-CH" sz="1600" dirty="0"/>
            </a:p>
          </p:txBody>
        </p:sp>
        <p:sp>
          <p:nvSpPr>
            <p:cNvPr id="46" name="Rechteck: abgerundete Ecken 45">
              <a:extLst>
                <a:ext uri="{FF2B5EF4-FFF2-40B4-BE49-F238E27FC236}">
                  <a16:creationId xmlns:a16="http://schemas.microsoft.com/office/drawing/2014/main" id="{BC461312-6DEF-B36D-8F6A-A0FD5BB3A331}"/>
                </a:ext>
              </a:extLst>
            </p:cNvPr>
            <p:cNvSpPr/>
            <p:nvPr/>
          </p:nvSpPr>
          <p:spPr>
            <a:xfrm>
              <a:off x="9850390" y="3681411"/>
              <a:ext cx="983877" cy="235745"/>
            </a:xfrm>
            <a:prstGeom prst="roundRect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90000" rIns="90000" bIns="90000" rtlCol="0" anchor="t" anchorCtr="0"/>
            <a:lstStyle/>
            <a:p>
              <a:pPr algn="l"/>
              <a:endParaRPr lang="de-CH" sz="1600" dirty="0"/>
            </a:p>
          </p:txBody>
        </p:sp>
        <p:sp>
          <p:nvSpPr>
            <p:cNvPr id="47" name="Rechteck: abgerundete Ecken 46">
              <a:extLst>
                <a:ext uri="{FF2B5EF4-FFF2-40B4-BE49-F238E27FC236}">
                  <a16:creationId xmlns:a16="http://schemas.microsoft.com/office/drawing/2014/main" id="{DCD2F397-541E-65B3-3F2C-06E19D6E83B1}"/>
                </a:ext>
              </a:extLst>
            </p:cNvPr>
            <p:cNvSpPr/>
            <p:nvPr/>
          </p:nvSpPr>
          <p:spPr>
            <a:xfrm>
              <a:off x="10840990" y="3681411"/>
              <a:ext cx="964827" cy="238126"/>
            </a:xfrm>
            <a:prstGeom prst="roundRect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90000" rIns="90000" bIns="90000" rtlCol="0" anchor="t" anchorCtr="0"/>
            <a:lstStyle/>
            <a:p>
              <a:pPr algn="l"/>
              <a:endParaRPr lang="de-CH" sz="1600" dirty="0"/>
            </a:p>
          </p:txBody>
        </p:sp>
        <p:sp>
          <p:nvSpPr>
            <p:cNvPr id="50" name="Rechteck: abgerundete Ecken 49">
              <a:extLst>
                <a:ext uri="{FF2B5EF4-FFF2-40B4-BE49-F238E27FC236}">
                  <a16:creationId xmlns:a16="http://schemas.microsoft.com/office/drawing/2014/main" id="{B77E3C2B-7881-289C-9241-F36D16E5285D}"/>
                </a:ext>
              </a:extLst>
            </p:cNvPr>
            <p:cNvSpPr/>
            <p:nvPr/>
          </p:nvSpPr>
          <p:spPr>
            <a:xfrm>
              <a:off x="9850390" y="3438524"/>
              <a:ext cx="983877" cy="235745"/>
            </a:xfrm>
            <a:prstGeom prst="roundRect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90000" rIns="90000" bIns="90000" rtlCol="0" anchor="t" anchorCtr="0"/>
            <a:lstStyle/>
            <a:p>
              <a:pPr algn="l"/>
              <a:endParaRPr lang="de-CH" sz="1600" dirty="0"/>
            </a:p>
          </p:txBody>
        </p:sp>
        <p:sp>
          <p:nvSpPr>
            <p:cNvPr id="51" name="Rechteck: abgerundete Ecken 50">
              <a:extLst>
                <a:ext uri="{FF2B5EF4-FFF2-40B4-BE49-F238E27FC236}">
                  <a16:creationId xmlns:a16="http://schemas.microsoft.com/office/drawing/2014/main" id="{96D7CE52-56F4-8645-E5A7-9CDC58120C44}"/>
                </a:ext>
              </a:extLst>
            </p:cNvPr>
            <p:cNvSpPr/>
            <p:nvPr/>
          </p:nvSpPr>
          <p:spPr>
            <a:xfrm>
              <a:off x="10840990" y="3438524"/>
              <a:ext cx="964827" cy="238126"/>
            </a:xfrm>
            <a:prstGeom prst="roundRect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90000" rIns="90000" bIns="90000" rtlCol="0" anchor="t" anchorCtr="0"/>
            <a:lstStyle/>
            <a:p>
              <a:pPr algn="l"/>
              <a:endParaRPr lang="de-CH" sz="1600" dirty="0"/>
            </a:p>
          </p:txBody>
        </p:sp>
        <p:sp>
          <p:nvSpPr>
            <p:cNvPr id="54" name="Rechteck: abgerundete Ecken 53">
              <a:extLst>
                <a:ext uri="{FF2B5EF4-FFF2-40B4-BE49-F238E27FC236}">
                  <a16:creationId xmlns:a16="http://schemas.microsoft.com/office/drawing/2014/main" id="{E41E4410-D643-C240-0DF6-5F0A4064AA0F}"/>
                </a:ext>
              </a:extLst>
            </p:cNvPr>
            <p:cNvSpPr/>
            <p:nvPr/>
          </p:nvSpPr>
          <p:spPr>
            <a:xfrm>
              <a:off x="9850390" y="3193255"/>
              <a:ext cx="983877" cy="235745"/>
            </a:xfrm>
            <a:prstGeom prst="roundRect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90000" rIns="90000" bIns="90000" rtlCol="0" anchor="t" anchorCtr="0"/>
            <a:lstStyle/>
            <a:p>
              <a:pPr algn="l"/>
              <a:endParaRPr lang="de-CH" sz="1600" dirty="0"/>
            </a:p>
          </p:txBody>
        </p:sp>
        <p:sp>
          <p:nvSpPr>
            <p:cNvPr id="55" name="Rechteck: abgerundete Ecken 54">
              <a:extLst>
                <a:ext uri="{FF2B5EF4-FFF2-40B4-BE49-F238E27FC236}">
                  <a16:creationId xmlns:a16="http://schemas.microsoft.com/office/drawing/2014/main" id="{7B110441-E275-E0FF-D397-FE9E4D78E11A}"/>
                </a:ext>
              </a:extLst>
            </p:cNvPr>
            <p:cNvSpPr/>
            <p:nvPr/>
          </p:nvSpPr>
          <p:spPr>
            <a:xfrm>
              <a:off x="10840990" y="3193255"/>
              <a:ext cx="964827" cy="238126"/>
            </a:xfrm>
            <a:prstGeom prst="roundRect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90000" rIns="90000" bIns="90000" rtlCol="0" anchor="t" anchorCtr="0"/>
            <a:lstStyle/>
            <a:p>
              <a:pPr algn="l"/>
              <a:endParaRPr lang="de-CH" sz="1600" dirty="0"/>
            </a:p>
          </p:txBody>
        </p:sp>
        <p:sp>
          <p:nvSpPr>
            <p:cNvPr id="58" name="Rechteck: abgerundete Ecken 57">
              <a:extLst>
                <a:ext uri="{FF2B5EF4-FFF2-40B4-BE49-F238E27FC236}">
                  <a16:creationId xmlns:a16="http://schemas.microsoft.com/office/drawing/2014/main" id="{75443DBC-5F8A-F65E-44C0-C6B0C7318B2F}"/>
                </a:ext>
              </a:extLst>
            </p:cNvPr>
            <p:cNvSpPr/>
            <p:nvPr/>
          </p:nvSpPr>
          <p:spPr>
            <a:xfrm>
              <a:off x="9850390" y="2947986"/>
              <a:ext cx="983877" cy="235745"/>
            </a:xfrm>
            <a:prstGeom prst="roundRect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90000" rIns="90000" bIns="90000" rtlCol="0" anchor="t" anchorCtr="0"/>
            <a:lstStyle/>
            <a:p>
              <a:pPr algn="l"/>
              <a:endParaRPr lang="de-CH" sz="1600" dirty="0"/>
            </a:p>
          </p:txBody>
        </p:sp>
        <p:sp>
          <p:nvSpPr>
            <p:cNvPr id="59" name="Rechteck: abgerundete Ecken 58">
              <a:extLst>
                <a:ext uri="{FF2B5EF4-FFF2-40B4-BE49-F238E27FC236}">
                  <a16:creationId xmlns:a16="http://schemas.microsoft.com/office/drawing/2014/main" id="{E3EE8160-B767-ED6C-4B0C-C55E8A98DB4F}"/>
                </a:ext>
              </a:extLst>
            </p:cNvPr>
            <p:cNvSpPr/>
            <p:nvPr/>
          </p:nvSpPr>
          <p:spPr>
            <a:xfrm>
              <a:off x="10840990" y="2947986"/>
              <a:ext cx="964827" cy="238126"/>
            </a:xfrm>
            <a:prstGeom prst="roundRect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90000" rIns="90000" bIns="90000" rtlCol="0" anchor="t" anchorCtr="0"/>
            <a:lstStyle/>
            <a:p>
              <a:pPr algn="l"/>
              <a:endParaRPr lang="de-CH" sz="1600" dirty="0"/>
            </a:p>
          </p:txBody>
        </p:sp>
        <p:sp>
          <p:nvSpPr>
            <p:cNvPr id="62" name="Rechteck: abgerundete Ecken 61">
              <a:extLst>
                <a:ext uri="{FF2B5EF4-FFF2-40B4-BE49-F238E27FC236}">
                  <a16:creationId xmlns:a16="http://schemas.microsoft.com/office/drawing/2014/main" id="{97D4742E-C297-6D0F-3BA2-3A9F983C4BDE}"/>
                </a:ext>
              </a:extLst>
            </p:cNvPr>
            <p:cNvSpPr/>
            <p:nvPr/>
          </p:nvSpPr>
          <p:spPr>
            <a:xfrm>
              <a:off x="9850390" y="2702718"/>
              <a:ext cx="983877" cy="235745"/>
            </a:xfrm>
            <a:prstGeom prst="roundRect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90000" rIns="90000" bIns="90000" rtlCol="0" anchor="t" anchorCtr="0"/>
            <a:lstStyle/>
            <a:p>
              <a:pPr algn="l"/>
              <a:endParaRPr lang="de-CH" sz="1600" dirty="0"/>
            </a:p>
          </p:txBody>
        </p:sp>
        <p:sp>
          <p:nvSpPr>
            <p:cNvPr id="63" name="Rechteck: abgerundete Ecken 62">
              <a:extLst>
                <a:ext uri="{FF2B5EF4-FFF2-40B4-BE49-F238E27FC236}">
                  <a16:creationId xmlns:a16="http://schemas.microsoft.com/office/drawing/2014/main" id="{02B0D376-778A-C49C-C634-7179C1E98235}"/>
                </a:ext>
              </a:extLst>
            </p:cNvPr>
            <p:cNvSpPr/>
            <p:nvPr/>
          </p:nvSpPr>
          <p:spPr>
            <a:xfrm>
              <a:off x="10840990" y="2702718"/>
              <a:ext cx="964827" cy="238126"/>
            </a:xfrm>
            <a:prstGeom prst="roundRect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90000" rIns="90000" bIns="90000" rtlCol="0" anchor="t" anchorCtr="0"/>
            <a:lstStyle/>
            <a:p>
              <a:pPr algn="l"/>
              <a:endParaRPr lang="de-CH" sz="1600" dirty="0"/>
            </a:p>
          </p:txBody>
        </p:sp>
        <p:sp>
          <p:nvSpPr>
            <p:cNvPr id="66" name="Rechteck: abgerundete Ecken 65">
              <a:extLst>
                <a:ext uri="{FF2B5EF4-FFF2-40B4-BE49-F238E27FC236}">
                  <a16:creationId xmlns:a16="http://schemas.microsoft.com/office/drawing/2014/main" id="{AEAD3CB0-CC03-3103-19C3-8671B141CD37}"/>
                </a:ext>
              </a:extLst>
            </p:cNvPr>
            <p:cNvSpPr/>
            <p:nvPr/>
          </p:nvSpPr>
          <p:spPr>
            <a:xfrm>
              <a:off x="9850390" y="2457449"/>
              <a:ext cx="983877" cy="235745"/>
            </a:xfrm>
            <a:prstGeom prst="roundRect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90000" rIns="90000" bIns="90000" rtlCol="0" anchor="t" anchorCtr="0"/>
            <a:lstStyle/>
            <a:p>
              <a:pPr algn="l"/>
              <a:endParaRPr lang="de-CH" sz="1600" dirty="0"/>
            </a:p>
          </p:txBody>
        </p:sp>
        <p:sp>
          <p:nvSpPr>
            <p:cNvPr id="67" name="Rechteck: abgerundete Ecken 66">
              <a:extLst>
                <a:ext uri="{FF2B5EF4-FFF2-40B4-BE49-F238E27FC236}">
                  <a16:creationId xmlns:a16="http://schemas.microsoft.com/office/drawing/2014/main" id="{07398B24-9DE4-F225-54CC-8BC1F6FE6175}"/>
                </a:ext>
              </a:extLst>
            </p:cNvPr>
            <p:cNvSpPr/>
            <p:nvPr/>
          </p:nvSpPr>
          <p:spPr>
            <a:xfrm>
              <a:off x="10840990" y="2457449"/>
              <a:ext cx="964827" cy="238126"/>
            </a:xfrm>
            <a:prstGeom prst="roundRect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90000" rIns="90000" bIns="90000" rtlCol="0" anchor="t" anchorCtr="0"/>
            <a:lstStyle/>
            <a:p>
              <a:pPr algn="l"/>
              <a:endParaRPr lang="de-CH" sz="1600" dirty="0"/>
            </a:p>
          </p:txBody>
        </p:sp>
        <p:sp>
          <p:nvSpPr>
            <p:cNvPr id="70" name="Rechteck: abgerundete Ecken 69">
              <a:extLst>
                <a:ext uri="{FF2B5EF4-FFF2-40B4-BE49-F238E27FC236}">
                  <a16:creationId xmlns:a16="http://schemas.microsoft.com/office/drawing/2014/main" id="{EEDB25EB-3E9F-BA44-AA17-30F8A25166DA}"/>
                </a:ext>
              </a:extLst>
            </p:cNvPr>
            <p:cNvSpPr/>
            <p:nvPr/>
          </p:nvSpPr>
          <p:spPr>
            <a:xfrm>
              <a:off x="9850390" y="2214562"/>
              <a:ext cx="983877" cy="235745"/>
            </a:xfrm>
            <a:prstGeom prst="roundRect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90000" rIns="90000" bIns="90000" rtlCol="0" anchor="t" anchorCtr="0"/>
            <a:lstStyle/>
            <a:p>
              <a:pPr algn="l"/>
              <a:endParaRPr lang="de-CH" sz="1600" dirty="0"/>
            </a:p>
          </p:txBody>
        </p:sp>
        <p:sp>
          <p:nvSpPr>
            <p:cNvPr id="71" name="Rechteck: abgerundete Ecken 70">
              <a:extLst>
                <a:ext uri="{FF2B5EF4-FFF2-40B4-BE49-F238E27FC236}">
                  <a16:creationId xmlns:a16="http://schemas.microsoft.com/office/drawing/2014/main" id="{C64E1C96-15D2-DAB5-86F8-9A36E8A314BB}"/>
                </a:ext>
              </a:extLst>
            </p:cNvPr>
            <p:cNvSpPr/>
            <p:nvPr/>
          </p:nvSpPr>
          <p:spPr>
            <a:xfrm>
              <a:off x="10840990" y="2214562"/>
              <a:ext cx="964827" cy="238126"/>
            </a:xfrm>
            <a:prstGeom prst="roundRect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90000" rIns="90000" bIns="90000" rtlCol="0" anchor="t" anchorCtr="0"/>
            <a:lstStyle/>
            <a:p>
              <a:pPr algn="l"/>
              <a:endParaRPr lang="de-CH" sz="1600" dirty="0"/>
            </a:p>
          </p:txBody>
        </p:sp>
        <p:sp>
          <p:nvSpPr>
            <p:cNvPr id="74" name="Rechteck: abgerundete Ecken 73">
              <a:extLst>
                <a:ext uri="{FF2B5EF4-FFF2-40B4-BE49-F238E27FC236}">
                  <a16:creationId xmlns:a16="http://schemas.microsoft.com/office/drawing/2014/main" id="{B1B4AA18-6661-3280-87B1-CF7171C70E39}"/>
                </a:ext>
              </a:extLst>
            </p:cNvPr>
            <p:cNvSpPr/>
            <p:nvPr/>
          </p:nvSpPr>
          <p:spPr>
            <a:xfrm>
              <a:off x="9850390" y="1971675"/>
              <a:ext cx="983877" cy="235745"/>
            </a:xfrm>
            <a:prstGeom prst="roundRect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90000" rIns="90000" bIns="90000" rtlCol="0" anchor="t" anchorCtr="0"/>
            <a:lstStyle/>
            <a:p>
              <a:pPr algn="l"/>
              <a:endParaRPr lang="de-CH" sz="1600" dirty="0"/>
            </a:p>
          </p:txBody>
        </p:sp>
        <p:sp>
          <p:nvSpPr>
            <p:cNvPr id="75" name="Rechteck: abgerundete Ecken 74">
              <a:extLst>
                <a:ext uri="{FF2B5EF4-FFF2-40B4-BE49-F238E27FC236}">
                  <a16:creationId xmlns:a16="http://schemas.microsoft.com/office/drawing/2014/main" id="{F1086BE2-832F-B599-919C-457AD5225001}"/>
                </a:ext>
              </a:extLst>
            </p:cNvPr>
            <p:cNvSpPr/>
            <p:nvPr/>
          </p:nvSpPr>
          <p:spPr>
            <a:xfrm>
              <a:off x="10840990" y="1971675"/>
              <a:ext cx="964827" cy="238126"/>
            </a:xfrm>
            <a:prstGeom prst="roundRect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90000" rIns="90000" bIns="90000" rtlCol="0" anchor="t" anchorCtr="0"/>
            <a:lstStyle/>
            <a:p>
              <a:pPr algn="l"/>
              <a:endParaRPr lang="de-CH" sz="1600" dirty="0"/>
            </a:p>
          </p:txBody>
        </p:sp>
      </p:grpSp>
      <p:grpSp>
        <p:nvGrpSpPr>
          <p:cNvPr id="80" name="Gruppieren 79">
            <a:extLst>
              <a:ext uri="{FF2B5EF4-FFF2-40B4-BE49-F238E27FC236}">
                <a16:creationId xmlns:a16="http://schemas.microsoft.com/office/drawing/2014/main" id="{1600C032-C4AF-C6FD-7992-3D45C2F68D32}"/>
              </a:ext>
            </a:extLst>
          </p:cNvPr>
          <p:cNvGrpSpPr/>
          <p:nvPr/>
        </p:nvGrpSpPr>
        <p:grpSpPr>
          <a:xfrm>
            <a:off x="9843667" y="1731168"/>
            <a:ext cx="1974477" cy="223839"/>
            <a:chOff x="9843667" y="1731168"/>
            <a:chExt cx="1974477" cy="223839"/>
          </a:xfrm>
        </p:grpSpPr>
        <p:sp>
          <p:nvSpPr>
            <p:cNvPr id="77" name="Rechteck: abgerundete Ecken 76">
              <a:extLst>
                <a:ext uri="{FF2B5EF4-FFF2-40B4-BE49-F238E27FC236}">
                  <a16:creationId xmlns:a16="http://schemas.microsoft.com/office/drawing/2014/main" id="{E2D09C8A-7D93-ABEC-D9F3-30F520F6EB96}"/>
                </a:ext>
              </a:extLst>
            </p:cNvPr>
            <p:cNvSpPr/>
            <p:nvPr/>
          </p:nvSpPr>
          <p:spPr>
            <a:xfrm>
              <a:off x="9843667" y="1733550"/>
              <a:ext cx="983877" cy="219077"/>
            </a:xfrm>
            <a:prstGeom prst="roundRect">
              <a:avLst/>
            </a:prstGeom>
            <a:pattFill prst="pct50">
              <a:fgClr>
                <a:schemeClr val="accent3">
                  <a:lumMod val="7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90000" rIns="90000" bIns="90000" rtlCol="0" anchor="t" anchorCtr="0"/>
            <a:lstStyle/>
            <a:p>
              <a:pPr algn="l"/>
              <a:endParaRPr lang="de-CH" sz="1600" dirty="0"/>
            </a:p>
          </p:txBody>
        </p:sp>
        <p:sp>
          <p:nvSpPr>
            <p:cNvPr id="78" name="Rechteck: abgerundete Ecken 77">
              <a:extLst>
                <a:ext uri="{FF2B5EF4-FFF2-40B4-BE49-F238E27FC236}">
                  <a16:creationId xmlns:a16="http://schemas.microsoft.com/office/drawing/2014/main" id="{FEF599D3-F5DC-EAE5-CF5F-3D8EE5F3FFD2}"/>
                </a:ext>
              </a:extLst>
            </p:cNvPr>
            <p:cNvSpPr/>
            <p:nvPr/>
          </p:nvSpPr>
          <p:spPr>
            <a:xfrm>
              <a:off x="10834267" y="1731168"/>
              <a:ext cx="983877" cy="223839"/>
            </a:xfrm>
            <a:prstGeom prst="roundRect">
              <a:avLst/>
            </a:prstGeom>
            <a:pattFill prst="pct50">
              <a:fgClr>
                <a:schemeClr val="accent3">
                  <a:lumMod val="7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90000" rIns="90000" bIns="90000" rtlCol="0" anchor="t" anchorCtr="0"/>
            <a:lstStyle/>
            <a:p>
              <a:pPr algn="l"/>
              <a:endParaRPr lang="de-CH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629064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F7C214-AAE1-74B1-82E7-771AA7AB6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2" y="1043535"/>
            <a:ext cx="6407467" cy="483831"/>
          </a:xfrm>
        </p:spPr>
        <p:txBody>
          <a:bodyPr/>
          <a:lstStyle/>
          <a:p>
            <a:r>
              <a:rPr lang="de-CH" dirty="0"/>
              <a:t>Risk </a:t>
            </a:r>
            <a:r>
              <a:rPr lang="de-CH" dirty="0" err="1"/>
              <a:t>represented</a:t>
            </a:r>
            <a:r>
              <a:rPr lang="de-CH" dirty="0"/>
              <a:t> </a:t>
            </a:r>
            <a:r>
              <a:rPr lang="de-CH" dirty="0" err="1"/>
              <a:t>by</a:t>
            </a:r>
            <a:r>
              <a:rPr lang="de-CH" dirty="0"/>
              <a:t> </a:t>
            </a:r>
            <a:r>
              <a:rPr lang="de-CH" dirty="0" err="1"/>
              <a:t>area</a:t>
            </a:r>
            <a:r>
              <a:rPr lang="de-CH" dirty="0"/>
              <a:t>: </a:t>
            </a:r>
            <a:r>
              <a:rPr lang="de-CH" dirty="0" err="1"/>
              <a:t>Example</a:t>
            </a:r>
            <a:r>
              <a:rPr lang="de-CH" dirty="0"/>
              <a:t> 2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3E657C6-356D-D25B-A648-D2733B11B0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2" y="1630905"/>
            <a:ext cx="6194107" cy="456987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de-CH" dirty="0" err="1"/>
              <a:t>Typical</a:t>
            </a:r>
            <a:r>
              <a:rPr lang="de-CH" dirty="0"/>
              <a:t> </a:t>
            </a:r>
            <a:r>
              <a:rPr lang="de-CH" dirty="0" err="1"/>
              <a:t>structure</a:t>
            </a:r>
            <a:r>
              <a:rPr lang="de-CH" dirty="0"/>
              <a:t> </a:t>
            </a:r>
            <a:r>
              <a:rPr lang="de-CH" dirty="0" err="1"/>
              <a:t>of</a:t>
            </a:r>
            <a:r>
              <a:rPr lang="de-CH" dirty="0"/>
              <a:t> </a:t>
            </a:r>
            <a:r>
              <a:rPr lang="de-CH" dirty="0" err="1"/>
              <a:t>Buyer</a:t>
            </a:r>
            <a:r>
              <a:rPr lang="de-CH" dirty="0"/>
              <a:t> </a:t>
            </a:r>
            <a:r>
              <a:rPr lang="de-CH" dirty="0" err="1"/>
              <a:t>Credit</a:t>
            </a:r>
            <a:r>
              <a:rPr lang="de-CH" dirty="0"/>
              <a:t>: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de-CH" dirty="0" err="1"/>
              <a:t>Amortizing</a:t>
            </a:r>
            <a:r>
              <a:rPr lang="de-CH" dirty="0"/>
              <a:t> </a:t>
            </a:r>
            <a:r>
              <a:rPr lang="de-CH" dirty="0" err="1"/>
              <a:t>Buyer</a:t>
            </a:r>
            <a:r>
              <a:rPr lang="de-CH" dirty="0"/>
              <a:t> </a:t>
            </a:r>
            <a:r>
              <a:rPr lang="de-CH" dirty="0" err="1"/>
              <a:t>Credit</a:t>
            </a:r>
            <a:endParaRPr lang="de-CH" dirty="0"/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de-CH" dirty="0"/>
              <a:t>Cover: 10’000 EUR (</a:t>
            </a:r>
            <a:r>
              <a:rPr lang="de-CH" dirty="0" err="1"/>
              <a:t>might</a:t>
            </a:r>
            <a:r>
              <a:rPr lang="de-CH" dirty="0"/>
              <a:t> </a:t>
            </a:r>
            <a:r>
              <a:rPr lang="de-CH" dirty="0" err="1"/>
              <a:t>be</a:t>
            </a:r>
            <a:r>
              <a:rPr lang="de-CH" dirty="0"/>
              <a:t> 10’526 EUR </a:t>
            </a:r>
            <a:r>
              <a:rPr lang="de-CH" dirty="0" err="1"/>
              <a:t>with</a:t>
            </a:r>
            <a:r>
              <a:rPr lang="de-CH" dirty="0"/>
              <a:t> 95% cover)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de-CH" dirty="0" err="1"/>
              <a:t>Disbursement</a:t>
            </a:r>
            <a:r>
              <a:rPr lang="de-CH" dirty="0"/>
              <a:t> </a:t>
            </a:r>
            <a:r>
              <a:rPr lang="de-CH" dirty="0" err="1"/>
              <a:t>Period</a:t>
            </a:r>
            <a:r>
              <a:rPr lang="de-CH" dirty="0"/>
              <a:t>: 2 </a:t>
            </a:r>
            <a:r>
              <a:rPr lang="de-CH" dirty="0" err="1"/>
              <a:t>years</a:t>
            </a:r>
            <a:endParaRPr lang="de-CH" dirty="0"/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de-CH" dirty="0" err="1"/>
              <a:t>Credit</a:t>
            </a:r>
            <a:r>
              <a:rPr lang="de-CH" dirty="0"/>
              <a:t> </a:t>
            </a:r>
            <a:r>
              <a:rPr lang="de-CH" dirty="0" err="1"/>
              <a:t>period</a:t>
            </a:r>
            <a:r>
              <a:rPr lang="de-CH" dirty="0"/>
              <a:t>: 4 </a:t>
            </a:r>
            <a:r>
              <a:rPr lang="de-CH" dirty="0" err="1"/>
              <a:t>years</a:t>
            </a:r>
            <a:endParaRPr lang="de-CH" dirty="0"/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de-CH" dirty="0"/>
              <a:t>Total premium: 2’187 EUR </a:t>
            </a:r>
            <a:r>
              <a:rPr lang="de-CH" dirty="0">
                <a:sym typeface="Wingdings" panose="05000000000000000000" pitchFamily="2" charset="2"/>
              </a:rPr>
              <a:t> </a:t>
            </a:r>
            <a:r>
              <a:rPr lang="de-CH" dirty="0"/>
              <a:t>Risk premium: 1’750 EUR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de-CH" dirty="0"/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de-CH" dirty="0"/>
          </a:p>
          <a:p>
            <a:pPr>
              <a:spcAft>
                <a:spcPts val="600"/>
              </a:spcAft>
            </a:pPr>
            <a:endParaRPr lang="de-CH" dirty="0"/>
          </a:p>
          <a:p>
            <a:pPr>
              <a:spcAft>
                <a:spcPts val="600"/>
              </a:spcAft>
            </a:pPr>
            <a:endParaRPr lang="de-CH" dirty="0"/>
          </a:p>
          <a:p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E94BE69-3A20-D6B8-4797-16C982219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 October 2024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7C9231C-62D3-B8DC-71F0-D69443DFE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9AB5E-215F-4BC4-9EB7-C8883DA834C0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0C6F11E8-A687-6E43-70F6-8FBC6E30877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de-DE"/>
          </a:p>
        </p:txBody>
      </p:sp>
      <p:graphicFrame>
        <p:nvGraphicFramePr>
          <p:cNvPr id="10" name="Objekt 8">
            <a:extLst>
              <a:ext uri="{FF2B5EF4-FFF2-40B4-BE49-F238E27FC236}">
                <a16:creationId xmlns:a16="http://schemas.microsoft.com/office/drawing/2014/main" id="{7D77FCB9-BD2B-44CF-0A2B-112C0C29D6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4968632"/>
              </p:ext>
            </p:extLst>
          </p:nvPr>
        </p:nvGraphicFramePr>
        <p:xfrm>
          <a:off x="7343775" y="1580986"/>
          <a:ext cx="4848225" cy="32056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2373798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F7C214-AAE1-74B1-82E7-771AA7AB6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2" y="1043535"/>
            <a:ext cx="6407467" cy="483831"/>
          </a:xfrm>
        </p:spPr>
        <p:txBody>
          <a:bodyPr/>
          <a:lstStyle/>
          <a:p>
            <a:r>
              <a:rPr lang="de-CH" dirty="0"/>
              <a:t>Risk </a:t>
            </a:r>
            <a:r>
              <a:rPr lang="de-CH" dirty="0" err="1"/>
              <a:t>represented</a:t>
            </a:r>
            <a:r>
              <a:rPr lang="de-CH" dirty="0"/>
              <a:t> </a:t>
            </a:r>
            <a:r>
              <a:rPr lang="de-CH" dirty="0" err="1"/>
              <a:t>by</a:t>
            </a:r>
            <a:r>
              <a:rPr lang="de-CH" dirty="0"/>
              <a:t> </a:t>
            </a:r>
            <a:r>
              <a:rPr lang="de-CH" dirty="0" err="1"/>
              <a:t>area</a:t>
            </a:r>
            <a:r>
              <a:rPr lang="de-CH" dirty="0"/>
              <a:t>: </a:t>
            </a:r>
            <a:r>
              <a:rPr lang="de-CH" dirty="0" err="1"/>
              <a:t>Example</a:t>
            </a:r>
            <a:r>
              <a:rPr lang="de-CH" dirty="0"/>
              <a:t> 2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3E657C6-356D-D25B-A648-D2733B11B0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2" y="1630905"/>
            <a:ext cx="6194107" cy="456987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de-CH" dirty="0"/>
              <a:t>As </a:t>
            </a:r>
            <a:r>
              <a:rPr lang="de-CH" dirty="0" err="1"/>
              <a:t>of</a:t>
            </a:r>
            <a:r>
              <a:rPr lang="de-CH" dirty="0"/>
              <a:t> 1.1.2003, an </a:t>
            </a:r>
            <a:r>
              <a:rPr lang="de-CH" dirty="0" err="1"/>
              <a:t>change</a:t>
            </a:r>
            <a:r>
              <a:rPr lang="de-CH" dirty="0"/>
              <a:t> </a:t>
            </a:r>
            <a:r>
              <a:rPr lang="de-CH" dirty="0" err="1"/>
              <a:t>is</a:t>
            </a:r>
            <a:r>
              <a:rPr lang="de-CH" dirty="0"/>
              <a:t> </a:t>
            </a:r>
            <a:r>
              <a:rPr lang="de-CH" dirty="0" err="1"/>
              <a:t>applied</a:t>
            </a:r>
            <a:r>
              <a:rPr lang="de-CH" dirty="0"/>
              <a:t> </a:t>
            </a:r>
            <a:r>
              <a:rPr lang="de-CH" dirty="0" err="1"/>
              <a:t>for</a:t>
            </a:r>
            <a:r>
              <a:rPr lang="de-CH" dirty="0"/>
              <a:t>: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de-CH" dirty="0"/>
              <a:t>Shift </a:t>
            </a:r>
            <a:r>
              <a:rPr lang="de-CH" dirty="0" err="1"/>
              <a:t>of</a:t>
            </a:r>
            <a:r>
              <a:rPr lang="de-CH" dirty="0"/>
              <a:t> </a:t>
            </a:r>
            <a:r>
              <a:rPr lang="de-CH" dirty="0" err="1"/>
              <a:t>one</a:t>
            </a:r>
            <a:r>
              <a:rPr lang="de-CH" dirty="0"/>
              <a:t> </a:t>
            </a:r>
            <a:r>
              <a:rPr lang="de-CH" dirty="0" err="1"/>
              <a:t>amortization</a:t>
            </a:r>
            <a:r>
              <a:rPr lang="de-CH" dirty="0"/>
              <a:t> </a:t>
            </a:r>
            <a:r>
              <a:rPr lang="de-CH" dirty="0" err="1"/>
              <a:t>by</a:t>
            </a:r>
            <a:r>
              <a:rPr lang="de-CH" dirty="0"/>
              <a:t> </a:t>
            </a:r>
            <a:r>
              <a:rPr lang="de-CH" dirty="0" err="1"/>
              <a:t>one</a:t>
            </a:r>
            <a:r>
              <a:rPr lang="de-CH" dirty="0"/>
              <a:t> </a:t>
            </a:r>
            <a:r>
              <a:rPr lang="de-CH" dirty="0" err="1"/>
              <a:t>year</a:t>
            </a:r>
            <a:endParaRPr lang="de-CH" dirty="0"/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de-CH" dirty="0"/>
              <a:t>Date </a:t>
            </a:r>
            <a:r>
              <a:rPr lang="de-CH" dirty="0" err="1"/>
              <a:t>of</a:t>
            </a:r>
            <a:r>
              <a:rPr lang="de-CH" dirty="0"/>
              <a:t> </a:t>
            </a:r>
            <a:r>
              <a:rPr lang="de-CH" dirty="0" err="1"/>
              <a:t>change</a:t>
            </a:r>
            <a:r>
              <a:rPr lang="de-CH" dirty="0"/>
              <a:t>: 1.1.2023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de-CH" dirty="0" err="1"/>
              <a:t>Unearned</a:t>
            </a:r>
            <a:r>
              <a:rPr lang="de-CH" dirty="0"/>
              <a:t> premium: EUR 750</a:t>
            </a:r>
          </a:p>
          <a:p>
            <a:pPr>
              <a:spcAft>
                <a:spcPts val="600"/>
              </a:spcAft>
            </a:pPr>
            <a:r>
              <a:rPr lang="de-CH" dirty="0" err="1"/>
              <a:t>How</a:t>
            </a:r>
            <a:r>
              <a:rPr lang="de-CH" dirty="0"/>
              <a:t> </a:t>
            </a:r>
            <a:r>
              <a:rPr lang="de-CH" dirty="0" err="1"/>
              <a:t>does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area</a:t>
            </a:r>
            <a:r>
              <a:rPr lang="de-CH" dirty="0"/>
              <a:t> </a:t>
            </a:r>
            <a:r>
              <a:rPr lang="de-CH" dirty="0" err="1"/>
              <a:t>increase</a:t>
            </a:r>
            <a:r>
              <a:rPr lang="de-CH" dirty="0"/>
              <a:t>?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de-CH" dirty="0" err="1"/>
              <a:t>Red</a:t>
            </a:r>
            <a:r>
              <a:rPr lang="de-CH" dirty="0"/>
              <a:t> </a:t>
            </a:r>
            <a:r>
              <a:rPr lang="de-CH" dirty="0" err="1"/>
              <a:t>area</a:t>
            </a:r>
            <a:r>
              <a:rPr lang="de-CH" dirty="0"/>
              <a:t>: 6 «</a:t>
            </a:r>
            <a:r>
              <a:rPr lang="de-CH" dirty="0" err="1"/>
              <a:t>units</a:t>
            </a:r>
            <a:r>
              <a:rPr lang="de-CH" dirty="0"/>
              <a:t>»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de-CH" dirty="0"/>
              <a:t>Blue </a:t>
            </a:r>
            <a:r>
              <a:rPr lang="de-CH" dirty="0" err="1"/>
              <a:t>area</a:t>
            </a:r>
            <a:r>
              <a:rPr lang="de-CH" dirty="0"/>
              <a:t>: 4 «</a:t>
            </a:r>
            <a:r>
              <a:rPr lang="de-CH" dirty="0" err="1"/>
              <a:t>units</a:t>
            </a:r>
            <a:r>
              <a:rPr lang="de-CH" dirty="0"/>
              <a:t>»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de-CH" dirty="0">
                <a:sym typeface="Wingdings" panose="05000000000000000000" pitchFamily="2" charset="2"/>
              </a:rPr>
              <a:t> </a:t>
            </a:r>
            <a:r>
              <a:rPr lang="de-CH" dirty="0" err="1">
                <a:sym typeface="Wingdings" panose="05000000000000000000" pitchFamily="2" charset="2"/>
              </a:rPr>
              <a:t>Increase</a:t>
            </a:r>
            <a:r>
              <a:rPr lang="de-CH" dirty="0">
                <a:sym typeface="Wingdings" panose="05000000000000000000" pitchFamily="2" charset="2"/>
              </a:rPr>
              <a:t> </a:t>
            </a:r>
            <a:r>
              <a:rPr lang="de-CH" dirty="0" err="1">
                <a:sym typeface="Wingdings" panose="05000000000000000000" pitchFamily="2" charset="2"/>
              </a:rPr>
              <a:t>of</a:t>
            </a:r>
            <a:r>
              <a:rPr lang="de-CH" dirty="0">
                <a:sym typeface="Wingdings" panose="05000000000000000000" pitchFamily="2" charset="2"/>
              </a:rPr>
              <a:t> Area after 1.1.2003: 4/6=66.7%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de-CH" dirty="0">
                <a:sym typeface="Wingdings" panose="05000000000000000000" pitchFamily="2" charset="2"/>
              </a:rPr>
              <a:t> </a:t>
            </a:r>
            <a:r>
              <a:rPr lang="de-CH" dirty="0" err="1">
                <a:sym typeface="Wingdings" panose="05000000000000000000" pitchFamily="2" charset="2"/>
              </a:rPr>
              <a:t>Increase</a:t>
            </a:r>
            <a:r>
              <a:rPr lang="de-CH" dirty="0">
                <a:sym typeface="Wingdings" panose="05000000000000000000" pitchFamily="2" charset="2"/>
              </a:rPr>
              <a:t> </a:t>
            </a:r>
            <a:r>
              <a:rPr lang="de-CH" dirty="0" err="1">
                <a:sym typeface="Wingdings" panose="05000000000000000000" pitchFamily="2" charset="2"/>
              </a:rPr>
              <a:t>of</a:t>
            </a:r>
            <a:r>
              <a:rPr lang="de-CH" dirty="0">
                <a:sym typeface="Wingdings" panose="05000000000000000000" pitchFamily="2" charset="2"/>
              </a:rPr>
              <a:t> Risk Premium: 66.7% x EUR 750 = EUR 500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de-CH" dirty="0">
                <a:sym typeface="Wingdings" panose="05000000000000000000" pitchFamily="2" charset="2"/>
              </a:rPr>
              <a:t> </a:t>
            </a:r>
            <a:r>
              <a:rPr lang="de-CH" dirty="0" err="1">
                <a:sym typeface="Wingdings" panose="05000000000000000000" pitchFamily="2" charset="2"/>
              </a:rPr>
              <a:t>Increase</a:t>
            </a:r>
            <a:r>
              <a:rPr lang="de-CH" dirty="0">
                <a:sym typeface="Wingdings" panose="05000000000000000000" pitchFamily="2" charset="2"/>
              </a:rPr>
              <a:t> </a:t>
            </a:r>
            <a:r>
              <a:rPr lang="de-CH" dirty="0" err="1">
                <a:sym typeface="Wingdings" panose="05000000000000000000" pitchFamily="2" charset="2"/>
              </a:rPr>
              <a:t>of</a:t>
            </a:r>
            <a:r>
              <a:rPr lang="de-CH" dirty="0">
                <a:sym typeface="Wingdings" panose="05000000000000000000" pitchFamily="2" charset="2"/>
              </a:rPr>
              <a:t> Total Premium: EUR 500 / 0.8 = EUR 625</a:t>
            </a:r>
            <a:endParaRPr lang="de-CH" dirty="0"/>
          </a:p>
          <a:p>
            <a:pPr>
              <a:spcAft>
                <a:spcPts val="600"/>
              </a:spcAft>
            </a:pPr>
            <a:endParaRPr lang="de-CH" dirty="0"/>
          </a:p>
          <a:p>
            <a:pPr>
              <a:spcAft>
                <a:spcPts val="600"/>
              </a:spcAft>
            </a:pPr>
            <a:endParaRPr lang="de-CH" dirty="0"/>
          </a:p>
          <a:p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E94BE69-3A20-D6B8-4797-16C982219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 October 2024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7C9231C-62D3-B8DC-71F0-D69443DFE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9AB5E-215F-4BC4-9EB7-C8883DA834C0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0C6F11E8-A687-6E43-70F6-8FBC6E30877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de-DE"/>
          </a:p>
        </p:txBody>
      </p:sp>
      <p:graphicFrame>
        <p:nvGraphicFramePr>
          <p:cNvPr id="10" name="Objekt 8">
            <a:extLst>
              <a:ext uri="{FF2B5EF4-FFF2-40B4-BE49-F238E27FC236}">
                <a16:creationId xmlns:a16="http://schemas.microsoft.com/office/drawing/2014/main" id="{7D77FCB9-BD2B-44CF-0A2B-112C0C29D6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43775" y="1580986"/>
          <a:ext cx="4848225" cy="32056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F99D9593-EBBF-E104-7462-239375DD92B4}"/>
              </a:ext>
            </a:extLst>
          </p:cNvPr>
          <p:cNvSpPr/>
          <p:nvPr/>
        </p:nvSpPr>
        <p:spPr>
          <a:xfrm>
            <a:off x="10701338" y="3571876"/>
            <a:ext cx="554831" cy="592930"/>
          </a:xfrm>
          <a:prstGeom prst="roundRect">
            <a:avLst/>
          </a:prstGeom>
          <a:pattFill prst="pct50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t" anchorCtr="0"/>
          <a:lstStyle/>
          <a:p>
            <a:pPr algn="l"/>
            <a:endParaRPr lang="de-CH" sz="1600" dirty="0"/>
          </a:p>
        </p:txBody>
      </p:sp>
      <p:sp>
        <p:nvSpPr>
          <p:cNvPr id="77" name="Rechteck: abgerundete Ecken 76">
            <a:extLst>
              <a:ext uri="{FF2B5EF4-FFF2-40B4-BE49-F238E27FC236}">
                <a16:creationId xmlns:a16="http://schemas.microsoft.com/office/drawing/2014/main" id="{E2D09C8A-7D93-ABEC-D9F3-30F520F6EB96}"/>
              </a:ext>
            </a:extLst>
          </p:cNvPr>
          <p:cNvSpPr/>
          <p:nvPr/>
        </p:nvSpPr>
        <p:spPr>
          <a:xfrm>
            <a:off x="11282363" y="3562352"/>
            <a:ext cx="535781" cy="592930"/>
          </a:xfrm>
          <a:prstGeom prst="roundRect">
            <a:avLst/>
          </a:prstGeom>
          <a:pattFill prst="pct50">
            <a:fgClr>
              <a:schemeClr val="accent3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t" anchorCtr="0"/>
          <a:lstStyle/>
          <a:p>
            <a:pPr algn="l"/>
            <a:endParaRPr lang="de-CH" sz="1600" dirty="0"/>
          </a:p>
        </p:txBody>
      </p:sp>
      <p:sp>
        <p:nvSpPr>
          <p:cNvPr id="40" name="Rechteck: abgerundete Ecken 39">
            <a:extLst>
              <a:ext uri="{FF2B5EF4-FFF2-40B4-BE49-F238E27FC236}">
                <a16:creationId xmlns:a16="http://schemas.microsoft.com/office/drawing/2014/main" id="{D409611B-ED8D-D75F-2339-3C88268EFAB1}"/>
              </a:ext>
            </a:extLst>
          </p:cNvPr>
          <p:cNvSpPr/>
          <p:nvPr/>
        </p:nvSpPr>
        <p:spPr>
          <a:xfrm>
            <a:off x="10710864" y="2955133"/>
            <a:ext cx="545306" cy="592930"/>
          </a:xfrm>
          <a:prstGeom prst="roundRect">
            <a:avLst/>
          </a:prstGeom>
          <a:pattFill prst="pct50">
            <a:fgClr>
              <a:schemeClr val="accent3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t" anchorCtr="0"/>
          <a:lstStyle/>
          <a:p>
            <a:pPr algn="l"/>
            <a:endParaRPr lang="de-CH" sz="1600" dirty="0"/>
          </a:p>
        </p:txBody>
      </p:sp>
      <p:sp>
        <p:nvSpPr>
          <p:cNvPr id="41" name="Rechteck: abgerundete Ecken 40">
            <a:extLst>
              <a:ext uri="{FF2B5EF4-FFF2-40B4-BE49-F238E27FC236}">
                <a16:creationId xmlns:a16="http://schemas.microsoft.com/office/drawing/2014/main" id="{B4FBCD5D-D7BD-5A77-F2A0-6C57A255A7F0}"/>
              </a:ext>
            </a:extLst>
          </p:cNvPr>
          <p:cNvSpPr/>
          <p:nvPr/>
        </p:nvSpPr>
        <p:spPr>
          <a:xfrm>
            <a:off x="10139712" y="2339404"/>
            <a:ext cx="545306" cy="592930"/>
          </a:xfrm>
          <a:prstGeom prst="roundRect">
            <a:avLst/>
          </a:prstGeom>
          <a:pattFill prst="pct50">
            <a:fgClr>
              <a:schemeClr val="accent3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t" anchorCtr="0"/>
          <a:lstStyle/>
          <a:p>
            <a:pPr algn="l"/>
            <a:endParaRPr lang="de-CH" sz="1600" dirty="0"/>
          </a:p>
        </p:txBody>
      </p:sp>
      <p:sp>
        <p:nvSpPr>
          <p:cNvPr id="42" name="Rechteck: abgerundete Ecken 41">
            <a:extLst>
              <a:ext uri="{FF2B5EF4-FFF2-40B4-BE49-F238E27FC236}">
                <a16:creationId xmlns:a16="http://schemas.microsoft.com/office/drawing/2014/main" id="{82B33804-1B7F-76DE-6183-EEE6BB3F77BD}"/>
              </a:ext>
            </a:extLst>
          </p:cNvPr>
          <p:cNvSpPr/>
          <p:nvPr/>
        </p:nvSpPr>
        <p:spPr>
          <a:xfrm>
            <a:off x="9571014" y="1731168"/>
            <a:ext cx="545306" cy="592930"/>
          </a:xfrm>
          <a:prstGeom prst="roundRect">
            <a:avLst/>
          </a:prstGeom>
          <a:pattFill prst="pct50">
            <a:fgClr>
              <a:schemeClr val="accent3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t" anchorCtr="0"/>
          <a:lstStyle/>
          <a:p>
            <a:pPr algn="l"/>
            <a:endParaRPr lang="de-CH" sz="1600" dirty="0"/>
          </a:p>
        </p:txBody>
      </p:sp>
      <p:sp>
        <p:nvSpPr>
          <p:cNvPr id="43" name="Rechteck: abgerundete Ecken 42">
            <a:extLst>
              <a:ext uri="{FF2B5EF4-FFF2-40B4-BE49-F238E27FC236}">
                <a16:creationId xmlns:a16="http://schemas.microsoft.com/office/drawing/2014/main" id="{BA69F07E-2247-53FE-77C5-459A2C905502}"/>
              </a:ext>
            </a:extLst>
          </p:cNvPr>
          <p:cNvSpPr/>
          <p:nvPr/>
        </p:nvSpPr>
        <p:spPr>
          <a:xfrm>
            <a:off x="10130187" y="2955133"/>
            <a:ext cx="554831" cy="1209673"/>
          </a:xfrm>
          <a:prstGeom prst="roundRect">
            <a:avLst/>
          </a:prstGeom>
          <a:pattFill prst="pct50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t" anchorCtr="0"/>
          <a:lstStyle/>
          <a:p>
            <a:pPr algn="l"/>
            <a:endParaRPr lang="de-CH" sz="1600" dirty="0"/>
          </a:p>
        </p:txBody>
      </p:sp>
      <p:sp>
        <p:nvSpPr>
          <p:cNvPr id="44" name="Rechteck: abgerundete Ecken 43">
            <a:extLst>
              <a:ext uri="{FF2B5EF4-FFF2-40B4-BE49-F238E27FC236}">
                <a16:creationId xmlns:a16="http://schemas.microsoft.com/office/drawing/2014/main" id="{A48BDBFF-6C1D-4C7A-50B4-70541C70666B}"/>
              </a:ext>
            </a:extLst>
          </p:cNvPr>
          <p:cNvSpPr/>
          <p:nvPr/>
        </p:nvSpPr>
        <p:spPr>
          <a:xfrm>
            <a:off x="9562259" y="2339405"/>
            <a:ext cx="554831" cy="1837308"/>
          </a:xfrm>
          <a:prstGeom prst="roundRect">
            <a:avLst/>
          </a:prstGeom>
          <a:pattFill prst="pct50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t" anchorCtr="0"/>
          <a:lstStyle/>
          <a:p>
            <a:pPr algn="l"/>
            <a:endParaRPr lang="de-CH" sz="1600" dirty="0"/>
          </a:p>
        </p:txBody>
      </p:sp>
    </p:spTree>
    <p:extLst>
      <p:ext uri="{BB962C8B-B14F-4D97-AF65-F5344CB8AC3E}">
        <p14:creationId xmlns:p14="http://schemas.microsoft.com/office/powerpoint/2010/main" val="26243611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9108A-DA4B-2DCA-AD5E-6878ADC45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5400" dirty="0"/>
              <a:t>Formal Approach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F0A8FE-8562-603F-E515-A4765B96D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 October 2024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1F49EC-C90F-EF7E-1009-72ED59941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9AB5E-215F-4BC4-9EB7-C8883DA834C0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36D448-666D-9478-466D-AAE7BA1B0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your presentation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2FC4C0D-1EF0-E9E3-8C78-BC78152F792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#04</a:t>
            </a:r>
            <a:endParaRPr lang="de-DE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0FAA992-D99B-E79F-7FCC-373067DD31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Establishing a mathematical framework for the pricing of modifications</a:t>
            </a:r>
            <a:endParaRPr lang="de-DE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4334908-CBB1-5834-8F5F-7E6C0540D5F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Modifications of insurances</a:t>
            </a:r>
          </a:p>
          <a:p>
            <a:r>
              <a:rPr lang="en-US" dirty="0"/>
              <a:t>Graphical Examples</a:t>
            </a:r>
          </a:p>
          <a:p>
            <a:pPr lvl="1"/>
            <a:r>
              <a:rPr lang="en-US" dirty="0"/>
              <a:t>Formal Approach</a:t>
            </a:r>
          </a:p>
          <a:p>
            <a:r>
              <a:rPr lang="en-US" dirty="0"/>
              <a:t>Premium Financing</a:t>
            </a:r>
          </a:p>
          <a:p>
            <a:r>
              <a:rPr lang="en-US" dirty="0"/>
              <a:t>FAQ</a:t>
            </a:r>
          </a:p>
          <a:p>
            <a:r>
              <a:rPr lang="en-US" dirty="0"/>
              <a:t>Conclusion and Outlook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73061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Picture 48" descr="A red square with white text&#10;&#10;Description automatically generated">
            <a:extLst>
              <a:ext uri="{FF2B5EF4-FFF2-40B4-BE49-F238E27FC236}">
                <a16:creationId xmlns:a16="http://schemas.microsoft.com/office/drawing/2014/main" id="{4F0E6662-2A6D-883B-17C9-4505A8CEAC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0488" y="3429000"/>
            <a:ext cx="4180745" cy="310454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C425B57-DF16-22A3-E202-021292C76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1043535"/>
            <a:ext cx="11306175" cy="483831"/>
          </a:xfrm>
        </p:spPr>
        <p:txBody>
          <a:bodyPr/>
          <a:lstStyle/>
          <a:p>
            <a:r>
              <a:rPr lang="de-CH" dirty="0" err="1"/>
              <a:t>Specific</a:t>
            </a:r>
            <a:r>
              <a:rPr lang="de-CH" dirty="0"/>
              <a:t> Risk Premium </a:t>
            </a:r>
            <a:r>
              <a:rPr lang="de-CH" dirty="0" err="1"/>
              <a:t>as</a:t>
            </a:r>
            <a:r>
              <a:rPr lang="de-CH" dirty="0"/>
              <a:t> Premium Density</a:t>
            </a:r>
            <a:endParaRPr lang="de-D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EF002C-CD30-FF27-897E-ADE243463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 October 2024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2A80D6-5709-E7A4-0D6F-72F8A1903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9AB5E-215F-4BC4-9EB7-C8883DA834C0}" type="slidenum">
              <a:rPr lang="en-US" smtClean="0"/>
              <a:pPr/>
              <a:t>15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Inhaltsplatzhalter 2">
                <a:extLst>
                  <a:ext uri="{FF2B5EF4-FFF2-40B4-BE49-F238E27FC236}">
                    <a16:creationId xmlns:a16="http://schemas.microsoft.com/office/drawing/2014/main" id="{559A96DA-DCCC-C099-F350-2EE442F9007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89390" y="4022054"/>
                <a:ext cx="2701779" cy="2222602"/>
              </a:xfrm>
              <a:prstGeom prst="roundRect">
                <a:avLst/>
              </a:prstGeom>
              <a:solidFill>
                <a:schemeClr val="bg2"/>
              </a:solidFill>
            </p:spPr>
            <p:txBody>
              <a:bodyPr/>
              <a:lstStyle>
                <a:lvl1pPr marL="0" indent="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0" indent="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80000" indent="-18000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buClr>
                    <a:schemeClr val="accent1"/>
                  </a:buClr>
                  <a:buFont typeface="Arial" panose="020B0604020202020204" pitchFamily="34" charset="0"/>
                  <a:buChar char="»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360000" indent="-18000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18000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spcAft>
                    <a:spcPts val="600"/>
                  </a:spcAft>
                </a:pPr>
                <a:r>
                  <a:rPr lang="de-CH" sz="1400" b="1" dirty="0">
                    <a:sym typeface="Wingdings" panose="05000000000000000000" pitchFamily="2" charset="2"/>
                  </a:rPr>
                  <a:t>Example</a:t>
                </a:r>
                <a:r>
                  <a:rPr lang="de-CH" sz="1400" dirty="0">
                    <a:sym typeface="Wingdings" panose="05000000000000000000" pitchFamily="2" charset="2"/>
                  </a:rPr>
                  <a:t> </a:t>
                </a:r>
              </a:p>
              <a:p>
                <a:pPr marL="285750" indent="-2857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𝑅𝑃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=1 000 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𝐶𝐻𝐹</m:t>
                    </m:r>
                  </m:oMath>
                </a14:m>
                <a:endParaRPr lang="en-US" sz="1400" b="0" dirty="0">
                  <a:sym typeface="Wingdings" panose="05000000000000000000" pitchFamily="2" charset="2"/>
                </a:endParaRPr>
              </a:p>
              <a:p>
                <a:pPr marL="285750" indent="-2857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=1 000 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𝐶𝐻𝐹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∙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𝑌𝑒𝑎𝑟𝑠</m:t>
                    </m:r>
                  </m:oMath>
                </a14:m>
                <a:endParaRPr lang="de-CH" sz="1400" dirty="0">
                  <a:sym typeface="Wingdings" panose="05000000000000000000" pitchFamily="2" charset="2"/>
                </a:endParaRPr>
              </a:p>
              <a:p>
                <a:pPr marL="285750" indent="-285750"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GB" sz="1400" i="1" smtClean="0">
                        <a:latin typeface="Cambria Math" panose="02040503050406030204" pitchFamily="18" charset="0"/>
                        <a:ea typeface="PMingLiU" panose="020B0604030504040204" pitchFamily="18" charset="-120"/>
                        <a:cs typeface="Arial" panose="020B0604020202020204" pitchFamily="34" charset="0"/>
                      </a:rPr>
                      <m:t>𝑆𝑅𝑃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PMingLiU" panose="020B0604030504040204" pitchFamily="18" charset="-120"/>
                        <a:cs typeface="Arial" panose="020B0604020202020204" pitchFamily="34" charset="0"/>
                      </a:rPr>
                      <m:t>=1.0</m:t>
                    </m:r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∙</m:t>
                    </m:r>
                    <m:f>
                      <m:fPr>
                        <m:ctrlPr>
                          <a:rPr lang="en-US" sz="1400" b="0" i="1" smtClean="0">
                            <a:latin typeface="Cambria Math" panose="02040503050406030204" pitchFamily="18" charset="0"/>
                            <a:ea typeface="PMingLiU" panose="020B0604030504040204" pitchFamily="18" charset="-12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PMingLiU" panose="020B0604030504040204" pitchFamily="18" charset="-120"/>
                            <a:cs typeface="Arial" panose="020B0604020202020204" pitchFamily="34" charset="0"/>
                          </a:rPr>
                          <m:t>1</m:t>
                        </m:r>
                      </m:num>
                      <m:den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𝑌𝑒𝑎𝑟𝑠</m:t>
                        </m:r>
                      </m:den>
                    </m:f>
                  </m:oMath>
                </a14:m>
                <a:endParaRPr lang="de-CH" sz="14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20" name="Inhaltsplatzhalter 2">
                <a:extLst>
                  <a:ext uri="{FF2B5EF4-FFF2-40B4-BE49-F238E27FC236}">
                    <a16:creationId xmlns:a16="http://schemas.microsoft.com/office/drawing/2014/main" id="{559A96DA-DCCC-C099-F350-2EE442F900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390" y="4022054"/>
                <a:ext cx="2701779" cy="2222602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Inhaltsplatzhalter 2">
                <a:extLst>
                  <a:ext uri="{FF2B5EF4-FFF2-40B4-BE49-F238E27FC236}">
                    <a16:creationId xmlns:a16="http://schemas.microsoft.com/office/drawing/2014/main" id="{2D10DE87-47B4-A96E-0371-595DCFA5628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482" y="1681341"/>
                <a:ext cx="6412753" cy="1871787"/>
              </a:xfrm>
              <a:prstGeom prst="roundRect">
                <a:avLst/>
              </a:prstGeom>
              <a:solidFill>
                <a:schemeClr val="bg2"/>
              </a:solidFill>
            </p:spPr>
            <p:txBody>
              <a:bodyPr/>
              <a:lstStyle>
                <a:lvl1pPr marL="0" indent="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0" indent="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80000" indent="-18000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buClr>
                    <a:schemeClr val="accent1"/>
                  </a:buClr>
                  <a:buFont typeface="Arial" panose="020B0604020202020204" pitchFamily="34" charset="0"/>
                  <a:buChar char="»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360000" indent="-18000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18000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Aft>
                    <a:spcPts val="600"/>
                  </a:spcAft>
                </a:pPr>
                <a:r>
                  <a:rPr lang="de-CH" sz="1400" dirty="0" err="1">
                    <a:sym typeface="Wingdings" panose="05000000000000000000" pitchFamily="2" charset="2"/>
                  </a:rPr>
                  <a:t>Introduction</a:t>
                </a:r>
                <a:r>
                  <a:rPr lang="de-CH" sz="1400" dirty="0">
                    <a:sym typeface="Wingdings" panose="05000000000000000000" pitchFamily="2" charset="2"/>
                  </a:rPr>
                  <a:t> </a:t>
                </a:r>
                <a:r>
                  <a:rPr lang="de-CH" sz="1400" dirty="0" err="1">
                    <a:sym typeface="Wingdings" panose="05000000000000000000" pitchFamily="2" charset="2"/>
                  </a:rPr>
                  <a:t>of</a:t>
                </a:r>
                <a:r>
                  <a:rPr lang="de-CH" sz="1400" dirty="0">
                    <a:sym typeface="Wingdings" panose="05000000000000000000" pitchFamily="2" charset="2"/>
                  </a:rPr>
                  <a:t> </a:t>
                </a:r>
                <a:r>
                  <a:rPr lang="de-CH" sz="1400" dirty="0" err="1">
                    <a:sym typeface="Wingdings" panose="05000000000000000000" pitchFamily="2" charset="2"/>
                  </a:rPr>
                  <a:t>the</a:t>
                </a:r>
                <a:r>
                  <a:rPr lang="de-CH" sz="1400" dirty="0">
                    <a:sym typeface="Wingdings" panose="05000000000000000000" pitchFamily="2" charset="2"/>
                  </a:rPr>
                  <a:t> so-</a:t>
                </a:r>
                <a:r>
                  <a:rPr lang="de-CH" sz="1400" dirty="0" err="1">
                    <a:sym typeface="Wingdings" panose="05000000000000000000" pitchFamily="2" charset="2"/>
                  </a:rPr>
                  <a:t>called</a:t>
                </a:r>
                <a:r>
                  <a:rPr lang="de-CH" sz="1400" dirty="0">
                    <a:sym typeface="Wingdings" panose="05000000000000000000" pitchFamily="2" charset="2"/>
                  </a:rPr>
                  <a:t> </a:t>
                </a:r>
                <a:r>
                  <a:rPr lang="de-CH" sz="1400" i="1" dirty="0" err="1">
                    <a:sym typeface="Wingdings" panose="05000000000000000000" pitchFamily="2" charset="2"/>
                  </a:rPr>
                  <a:t>specific</a:t>
                </a:r>
                <a:r>
                  <a:rPr lang="de-CH" sz="1400" i="1" dirty="0">
                    <a:sym typeface="Wingdings" panose="05000000000000000000" pitchFamily="2" charset="2"/>
                  </a:rPr>
                  <a:t> </a:t>
                </a:r>
                <a:r>
                  <a:rPr lang="de-CH" sz="1400" i="1" dirty="0" err="1">
                    <a:sym typeface="Wingdings" panose="05000000000000000000" pitchFamily="2" charset="2"/>
                  </a:rPr>
                  <a:t>risk</a:t>
                </a:r>
                <a:r>
                  <a:rPr lang="de-CH" sz="1400" i="1" dirty="0">
                    <a:sym typeface="Wingdings" panose="05000000000000000000" pitchFamily="2" charset="2"/>
                  </a:rPr>
                  <a:t> premium:</a:t>
                </a:r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 smtClean="0">
                          <a:latin typeface="Cambria Math" panose="02040503050406030204" pitchFamily="18" charset="0"/>
                          <a:ea typeface="PMingLiU" panose="020B0604030504040204" pitchFamily="18" charset="-120"/>
                          <a:cs typeface="Arial" panose="020B0604020202020204" pitchFamily="34" charset="0"/>
                        </a:rPr>
                        <m:t>𝑆𝑅𝑃</m:t>
                      </m:r>
                      <m:r>
                        <a:rPr lang="en-GB" sz="1400">
                          <a:latin typeface="Cambria Math" panose="02040503050406030204" pitchFamily="18" charset="0"/>
                          <a:ea typeface="PMingLiU" panose="020B0604030504040204" pitchFamily="18" charset="-12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de-DE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i="1">
                              <a:latin typeface="Cambria Math" panose="02040503050406030204" pitchFamily="18" charset="0"/>
                              <a:ea typeface="PMingLiU" panose="020B0604030504040204" pitchFamily="18" charset="-120"/>
                              <a:cs typeface="Arial" panose="020B0604020202020204" pitchFamily="34" charset="0"/>
                            </a:rPr>
                            <m:t>𝑅𝑃</m:t>
                          </m:r>
                        </m:num>
                        <m:den>
                          <m:r>
                            <a:rPr lang="en-GB" sz="1400" i="1">
                              <a:latin typeface="Cambria Math" panose="02040503050406030204" pitchFamily="18" charset="0"/>
                              <a:ea typeface="PMingLiU" panose="020B0604030504040204" pitchFamily="18" charset="-120"/>
                              <a:cs typeface="Arial" panose="020B0604020202020204" pitchFamily="34" charset="0"/>
                            </a:rPr>
                            <m:t>𝐴</m:t>
                          </m:r>
                        </m:den>
                      </m:f>
                      <m:r>
                        <a:rPr lang="en-GB" sz="1400">
                          <a:latin typeface="Cambria Math" panose="02040503050406030204" pitchFamily="18" charset="0"/>
                          <a:ea typeface="PMingLiU" panose="020B0604030504040204" pitchFamily="18" charset="-12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de-DE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i="1">
                              <a:latin typeface="Cambria Math" panose="02040503050406030204" pitchFamily="18" charset="0"/>
                              <a:ea typeface="PMingLiU" panose="020B0604030504040204" pitchFamily="18" charset="-120"/>
                              <a:cs typeface="Arial" panose="020B0604020202020204" pitchFamily="34" charset="0"/>
                            </a:rPr>
                            <m:t>𝑅𝑃</m:t>
                          </m:r>
                        </m:num>
                        <m:den>
                          <m:nary>
                            <m:naryPr>
                              <m:limLoc m:val="subSup"/>
                              <m:ctrlPr>
                                <a:rPr lang="de-DE" sz="1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  <a:ea typeface="PMingLiU" panose="020B0604030504040204" pitchFamily="18" charset="-120"/>
                                  <a:cs typeface="Arial" panose="020B0604020202020204" pitchFamily="34" charset="0"/>
                                </a:rPr>
                                <m:t>𝑡</m:t>
                              </m:r>
                              <m:r>
                                <a:rPr lang="en-GB" sz="1400">
                                  <a:latin typeface="Cambria Math" panose="02040503050406030204" pitchFamily="18" charset="0"/>
                                  <a:ea typeface="PMingLiU" panose="020B0604030504040204" pitchFamily="18" charset="-120"/>
                                  <a:cs typeface="Arial" panose="020B0604020202020204" pitchFamily="34" charset="0"/>
                                </a:rPr>
                                <m:t>=</m:t>
                              </m:r>
                              <m:r>
                                <a:rPr lang="en-GB" sz="1400" i="1">
                                  <a:latin typeface="Cambria Math" panose="02040503050406030204" pitchFamily="18" charset="0"/>
                                  <a:ea typeface="PMingLiU" panose="020B0604030504040204" pitchFamily="18" charset="-12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r>
                                <a:rPr lang="en-GB" sz="1400">
                                  <a:latin typeface="Cambria Math" panose="02040503050406030204" pitchFamily="18" charset="0"/>
                                  <a:ea typeface="PMingLiU" panose="020B0604030504040204" pitchFamily="18" charset="-120"/>
                                  <a:cs typeface="Arial" panose="020B0604020202020204" pitchFamily="34" charset="0"/>
                                </a:rPr>
                                <m:t>∞</m:t>
                              </m:r>
                            </m:sub>
                            <m:sup>
                              <m:r>
                                <a:rPr lang="en-GB" sz="1400">
                                  <a:latin typeface="Cambria Math" panose="02040503050406030204" pitchFamily="18" charset="0"/>
                                  <a:ea typeface="PMingLiU" panose="020B0604030504040204" pitchFamily="18" charset="-120"/>
                                  <a:cs typeface="Arial" panose="020B0604020202020204" pitchFamily="34" charset="0"/>
                                </a:rPr>
                                <m:t>∞</m:t>
                              </m:r>
                            </m:sup>
                            <m:e>
                              <m:r>
                                <a:rPr lang="en-GB" sz="1400">
                                  <a:latin typeface="Cambria Math" panose="02040503050406030204" pitchFamily="18" charset="0"/>
                                  <a:ea typeface="PMingLiU" panose="020B0604030504040204" pitchFamily="18" charset="-120"/>
                                  <a:cs typeface="Arial" panose="020B0604020202020204" pitchFamily="34" charset="0"/>
                                </a:rPr>
                                <m:t> </m:t>
                              </m:r>
                            </m:e>
                          </m:nary>
                          <m:r>
                            <a:rPr lang="en-GB" sz="1400" i="1">
                              <a:latin typeface="Cambria Math" panose="02040503050406030204" pitchFamily="18" charset="0"/>
                              <a:ea typeface="PMingLiU" panose="020B0604030504040204" pitchFamily="18" charset="-120"/>
                              <a:cs typeface="Arial" panose="020B0604020202020204" pitchFamily="34" charset="0"/>
                            </a:rPr>
                            <m:t>𝐶𝑃</m:t>
                          </m:r>
                          <m:d>
                            <m:dPr>
                              <m:ctrlPr>
                                <a:rPr lang="de-DE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  <a:ea typeface="PMingLiU" panose="020B0604030504040204" pitchFamily="18" charset="-12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GB" sz="1400">
                              <a:latin typeface="Cambria Math" panose="02040503050406030204" pitchFamily="18" charset="0"/>
                              <a:ea typeface="PMingLiU" panose="020B0604030504040204" pitchFamily="18" charset="-120"/>
                              <a:cs typeface="Arial" panose="020B0604020202020204" pitchFamily="34" charset="0"/>
                            </a:rPr>
                            <m:t>∙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  <a:ea typeface="PMingLiU" panose="020B0604030504040204" pitchFamily="18" charset="-120"/>
                              <a:cs typeface="Arial" panose="020B0604020202020204" pitchFamily="34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de-CH" sz="1400" dirty="0">
                  <a:sym typeface="Wingdings" panose="05000000000000000000" pitchFamily="2" charset="2"/>
                </a:endParaRPr>
              </a:p>
              <a:p>
                <a:pPr marL="285750" indent="-2857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  <a:ea typeface="PMingLiU" panose="020B0604030504040204" pitchFamily="18" charset="-120"/>
                        <a:cs typeface="Arial" panose="020B0604020202020204" pitchFamily="34" charset="0"/>
                      </a:rPr>
                      <m:t>𝑅𝑃</m:t>
                    </m:r>
                  </m:oMath>
                </a14:m>
                <a:r>
                  <a:rPr lang="de-CH" sz="1400" dirty="0">
                    <a:sym typeface="Wingdings" panose="05000000000000000000" pitchFamily="2" charset="2"/>
                  </a:rPr>
                  <a:t> – </a:t>
                </a:r>
                <a:r>
                  <a:rPr lang="de-CH" sz="1400" dirty="0" err="1">
                    <a:sym typeface="Wingdings" panose="05000000000000000000" pitchFamily="2" charset="2"/>
                  </a:rPr>
                  <a:t>risk</a:t>
                </a:r>
                <a:r>
                  <a:rPr lang="de-CH" sz="1400" dirty="0">
                    <a:sym typeface="Wingdings" panose="05000000000000000000" pitchFamily="2" charset="2"/>
                  </a:rPr>
                  <a:t> premium,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  <a:ea typeface="PMingLiU" panose="020B0604030504040204" pitchFamily="18" charset="-120"/>
                        <a:cs typeface="Arial" panose="020B0604020202020204" pitchFamily="34" charset="0"/>
                      </a:rPr>
                      <m:t>𝐴</m:t>
                    </m:r>
                  </m:oMath>
                </a14:m>
                <a:r>
                  <a:rPr lang="de-CH" sz="1400" dirty="0">
                    <a:sym typeface="Wingdings" panose="05000000000000000000" pitchFamily="2" charset="2"/>
                  </a:rPr>
                  <a:t> – </a:t>
                </a:r>
                <a:r>
                  <a:rPr lang="de-CH" sz="1400" dirty="0" err="1">
                    <a:sym typeface="Wingdings" panose="05000000000000000000" pitchFamily="2" charset="2"/>
                  </a:rPr>
                  <a:t>risk</a:t>
                </a:r>
                <a:r>
                  <a:rPr lang="de-CH" sz="1400" dirty="0">
                    <a:sym typeface="Wingdings" panose="05000000000000000000" pitchFamily="2" charset="2"/>
                  </a:rPr>
                  <a:t> </a:t>
                </a:r>
                <a:r>
                  <a:rPr lang="de-CH" sz="1400" dirty="0" err="1">
                    <a:sym typeface="Wingdings" panose="05000000000000000000" pitchFamily="2" charset="2"/>
                  </a:rPr>
                  <a:t>area</a:t>
                </a:r>
                <a:r>
                  <a:rPr lang="de-CH" sz="1400" dirty="0">
                    <a:sym typeface="Wingdings" panose="05000000000000000000" pitchFamily="2" charset="2"/>
                  </a:rPr>
                  <a:t> </a:t>
                </a:r>
                <a:r>
                  <a:rPr lang="de-CH" sz="1400" dirty="0" err="1">
                    <a:sym typeface="Wingdings" panose="05000000000000000000" pitchFamily="2" charset="2"/>
                  </a:rPr>
                  <a:t>under</a:t>
                </a:r>
                <a:r>
                  <a:rPr lang="de-CH" sz="1400" dirty="0">
                    <a:sym typeface="Wingdings" panose="05000000000000000000" pitchFamily="2" charset="2"/>
                  </a:rPr>
                  <a:t> </a:t>
                </a:r>
                <a:r>
                  <a:rPr lang="de-CH" sz="1400" dirty="0" err="1">
                    <a:sym typeface="Wingdings" panose="05000000000000000000" pitchFamily="2" charset="2"/>
                  </a:rPr>
                  <a:t>cover</a:t>
                </a:r>
                <a:r>
                  <a:rPr lang="de-CH" sz="1400" dirty="0">
                    <a:sym typeface="Wingdings" panose="05000000000000000000" pitchFamily="2" charset="2"/>
                  </a:rPr>
                  <a:t> </a:t>
                </a:r>
                <a:r>
                  <a:rPr lang="de-CH" sz="1400" dirty="0" err="1">
                    <a:sym typeface="Wingdings" panose="05000000000000000000" pitchFamily="2" charset="2"/>
                  </a:rPr>
                  <a:t>profile</a:t>
                </a:r>
                <a:r>
                  <a:rPr lang="de-CH" sz="1400" dirty="0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  <a:ea typeface="PMingLiU" panose="020B0604030504040204" pitchFamily="18" charset="-120"/>
                        <a:cs typeface="Arial" panose="020B0604020202020204" pitchFamily="34" charset="0"/>
                      </a:rPr>
                      <m:t>𝐶𝑃</m:t>
                    </m:r>
                    <m:d>
                      <m:dPr>
                        <m:ctrlPr>
                          <a:rPr lang="de-DE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i="1">
                            <a:latin typeface="Cambria Math" panose="02040503050406030204" pitchFamily="18" charset="0"/>
                            <a:ea typeface="PMingLiU" panose="020B0604030504040204" pitchFamily="18" charset="-120"/>
                            <a:cs typeface="Arial" panose="020B0604020202020204" pitchFamily="34" charset="0"/>
                          </a:rPr>
                          <m:t>𝑡</m:t>
                        </m:r>
                      </m:e>
                    </m:d>
                  </m:oMath>
                </a14:m>
                <a:endParaRPr lang="de-CH" sz="1400" dirty="0">
                  <a:sym typeface="Wingdings" panose="05000000000000000000" pitchFamily="2" charset="2"/>
                </a:endParaRPr>
              </a:p>
              <a:p>
                <a:pPr marL="285750" indent="-285750"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  <a:ea typeface="PMingLiU" panose="020B0604030504040204" pitchFamily="18" charset="-120"/>
                        <a:cs typeface="Arial" panose="020B0604020202020204" pitchFamily="34" charset="0"/>
                      </a:rPr>
                      <m:t>𝑆𝑅𝑃</m:t>
                    </m:r>
                    <m:r>
                      <a:rPr lang="en-GB" sz="1400" i="1">
                        <a:latin typeface="Cambria Math" panose="02040503050406030204" pitchFamily="18" charset="0"/>
                        <a:ea typeface="PMingLiU" panose="020B0604030504040204" pitchFamily="18" charset="-12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de-CH" sz="1400" dirty="0">
                    <a:sym typeface="Wingdings" panose="05000000000000000000" pitchFamily="2" charset="2"/>
                  </a:rPr>
                  <a:t>quantifies </a:t>
                </a:r>
                <a:r>
                  <a:rPr lang="de-CH" sz="1400" dirty="0" err="1">
                    <a:sym typeface="Wingdings" panose="05000000000000000000" pitchFamily="2" charset="2"/>
                  </a:rPr>
                  <a:t>the</a:t>
                </a:r>
                <a:r>
                  <a:rPr lang="de-CH" sz="1400" dirty="0">
                    <a:sym typeface="Wingdings" panose="05000000000000000000" pitchFamily="2" charset="2"/>
                  </a:rPr>
                  <a:t> </a:t>
                </a:r>
                <a:r>
                  <a:rPr lang="de-CH" sz="1400" dirty="0" err="1">
                    <a:sym typeface="Wingdings" panose="05000000000000000000" pitchFamily="2" charset="2"/>
                  </a:rPr>
                  <a:t>risk</a:t>
                </a:r>
                <a:r>
                  <a:rPr lang="de-CH" sz="1400" dirty="0">
                    <a:sym typeface="Wingdings" panose="05000000000000000000" pitchFamily="2" charset="2"/>
                  </a:rPr>
                  <a:t> premium due </a:t>
                </a:r>
                <a:r>
                  <a:rPr lang="de-CH" sz="1400" dirty="0" err="1">
                    <a:sym typeface="Wingdings" panose="05000000000000000000" pitchFamily="2" charset="2"/>
                  </a:rPr>
                  <a:t>for</a:t>
                </a:r>
                <a:r>
                  <a:rPr lang="de-CH" sz="1400" dirty="0">
                    <a:sym typeface="Wingdings" panose="05000000000000000000" pitchFamily="2" charset="2"/>
                  </a:rPr>
                  <a:t> a </a:t>
                </a:r>
                <a:r>
                  <a:rPr lang="de-CH" sz="1400" dirty="0" err="1">
                    <a:sym typeface="Wingdings" panose="05000000000000000000" pitchFamily="2" charset="2"/>
                  </a:rPr>
                  <a:t>risk</a:t>
                </a:r>
                <a:r>
                  <a:rPr lang="de-CH" sz="1400" dirty="0">
                    <a:sym typeface="Wingdings" panose="05000000000000000000" pitchFamily="2" charset="2"/>
                  </a:rPr>
                  <a:t> </a:t>
                </a:r>
                <a:r>
                  <a:rPr lang="de-CH" sz="1400" dirty="0" err="1">
                    <a:sym typeface="Wingdings" panose="05000000000000000000" pitchFamily="2" charset="2"/>
                  </a:rPr>
                  <a:t>area</a:t>
                </a:r>
                <a:r>
                  <a:rPr lang="de-CH" sz="1400" dirty="0">
                    <a:sym typeface="Wingdings" panose="05000000000000000000" pitchFamily="2" charset="2"/>
                  </a:rPr>
                  <a:t> </a:t>
                </a:r>
                <a:r>
                  <a:rPr lang="de-CH" sz="1400" dirty="0" err="1">
                    <a:sym typeface="Wingdings" panose="05000000000000000000" pitchFamily="2" charset="2"/>
                  </a:rPr>
                  <a:t>of</a:t>
                </a:r>
                <a:r>
                  <a:rPr lang="de-CH" sz="1400" dirty="0">
                    <a:sym typeface="Wingdings" panose="05000000000000000000" pitchFamily="2" charset="2"/>
                  </a:rPr>
                  <a:t> </a:t>
                </a:r>
                <a:r>
                  <a:rPr lang="de-CH" sz="1400" dirty="0" err="1">
                    <a:sym typeface="Wingdings" panose="05000000000000000000" pitchFamily="2" charset="2"/>
                  </a:rPr>
                  <a:t>unity</a:t>
                </a:r>
                <a:endParaRPr lang="de-CH" sz="14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6" name="Inhaltsplatzhalter 2">
                <a:extLst>
                  <a:ext uri="{FF2B5EF4-FFF2-40B4-BE49-F238E27FC236}">
                    <a16:creationId xmlns:a16="http://schemas.microsoft.com/office/drawing/2014/main" id="{2D10DE87-47B4-A96E-0371-595DCFA562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482" y="1681341"/>
                <a:ext cx="6412753" cy="1871787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Isosceles Triangle 50">
            <a:extLst>
              <a:ext uri="{FF2B5EF4-FFF2-40B4-BE49-F238E27FC236}">
                <a16:creationId xmlns:a16="http://schemas.microsoft.com/office/drawing/2014/main" id="{FF424C91-41F4-A995-7342-A6E3315F9118}"/>
              </a:ext>
            </a:extLst>
          </p:cNvPr>
          <p:cNvSpPr/>
          <p:nvPr/>
        </p:nvSpPr>
        <p:spPr>
          <a:xfrm rot="5400000">
            <a:off x="6957873" y="4861957"/>
            <a:ext cx="788071" cy="485779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t" anchorCtr="0"/>
          <a:lstStyle/>
          <a:p>
            <a:pPr algn="l"/>
            <a:endParaRPr lang="de-DE" sz="16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AC41EBB-CE2A-1E56-58F5-E6105E4E1FAC}"/>
              </a:ext>
            </a:extLst>
          </p:cNvPr>
          <p:cNvGrpSpPr/>
          <p:nvPr/>
        </p:nvGrpSpPr>
        <p:grpSpPr>
          <a:xfrm>
            <a:off x="7609070" y="1767052"/>
            <a:ext cx="4301294" cy="2301252"/>
            <a:chOff x="7447361" y="1791856"/>
            <a:chExt cx="4301294" cy="2301252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097B46B3-9D54-5BE8-272B-57E70BF7D4E1}"/>
                </a:ext>
              </a:extLst>
            </p:cNvPr>
            <p:cNvGrpSpPr/>
            <p:nvPr/>
          </p:nvGrpSpPr>
          <p:grpSpPr>
            <a:xfrm>
              <a:off x="7447361" y="1822224"/>
              <a:ext cx="2925451" cy="2270884"/>
              <a:chOff x="8120402" y="822321"/>
              <a:chExt cx="3204841" cy="242629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Rectangle: Rounded Corners 21">
                    <a:extLst>
                      <a:ext uri="{FF2B5EF4-FFF2-40B4-BE49-F238E27FC236}">
                        <a16:creationId xmlns:a16="http://schemas.microsoft.com/office/drawing/2014/main" id="{12013B83-14BC-CB8E-50BB-F3062014CF6B}"/>
                      </a:ext>
                    </a:extLst>
                  </p:cNvPr>
                  <p:cNvSpPr/>
                  <p:nvPr/>
                </p:nvSpPr>
                <p:spPr>
                  <a:xfrm>
                    <a:off x="8883883" y="822321"/>
                    <a:ext cx="2441360" cy="1636794"/>
                  </a:xfrm>
                  <a:prstGeom prst="roundRect">
                    <a:avLst/>
                  </a:prstGeom>
                  <a:solidFill>
                    <a:srgbClr val="C0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90000" tIns="90000" rIns="90000" bIns="90000" rtlCol="0" anchor="t" anchorCtr="0"/>
                  <a:lstStyle/>
                  <a:p>
                    <a:pPr algn="l"/>
                    <a:endParaRPr lang="en-US" sz="1600" i="1" dirty="0">
                      <a:latin typeface="Cambria Math" panose="02040503050406030204" pitchFamily="18" charset="0"/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160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1600" i="1" dirty="0" smtClean="0">
                              <a:latin typeface="Cambria Math" panose="02040503050406030204" pitchFamily="18" charset="0"/>
                            </a:rPr>
                            <m:t> =</m:t>
                          </m:r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𝐶𝑟𝑒𝑑𝑖𝑡</m:t>
                          </m:r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 ∙∆</m:t>
                          </m:r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𝑇𝑖𝑚𝑒</m:t>
                          </m:r>
                        </m:oMath>
                        <m:oMath xmlns:m="http://schemas.openxmlformats.org/officeDocument/2006/math">
                          <m:r>
                            <a:rPr lang="en-US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oMath>
                      </m:oMathPara>
                    </a14:m>
                    <a:endParaRPr lang="en-US" sz="1600" b="0" i="1" dirty="0"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#</m:t>
                          </m:r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𝐹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𝑋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∙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𝑌𝑒𝑎𝑟𝑠</m:t>
                          </m:r>
                        </m:oMath>
                      </m:oMathPara>
                    </a14:m>
                    <a:endParaRPr lang="en-US" sz="1600" b="0" dirty="0">
                      <a:ea typeface="Cambria Math" panose="02040503050406030204" pitchFamily="18" charset="0"/>
                    </a:endParaRPr>
                  </a:p>
                  <a:p>
                    <a:pPr algn="l"/>
                    <a:endParaRPr lang="en-US" sz="1600" b="0" dirty="0">
                      <a:ea typeface="Cambria Math" panose="02040503050406030204" pitchFamily="18" charset="0"/>
                    </a:endParaRPr>
                  </a:p>
                  <a:p>
                    <a:pPr algn="l"/>
                    <a:endParaRPr lang="de-DE" sz="1600" dirty="0"/>
                  </a:p>
                </p:txBody>
              </p:sp>
            </mc:Choice>
            <mc:Fallback xmlns="">
              <p:sp>
                <p:nvSpPr>
                  <p:cNvPr id="22" name="Rectangle: Rounded Corners 21">
                    <a:extLst>
                      <a:ext uri="{FF2B5EF4-FFF2-40B4-BE49-F238E27FC236}">
                        <a16:creationId xmlns:a16="http://schemas.microsoft.com/office/drawing/2014/main" id="{12013B83-14BC-CB8E-50BB-F3062014CF6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883883" y="822321"/>
                    <a:ext cx="2441360" cy="1636794"/>
                  </a:xfrm>
                  <a:prstGeom prst="round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3" name="Left Brace 22">
                <a:extLst>
                  <a:ext uri="{FF2B5EF4-FFF2-40B4-BE49-F238E27FC236}">
                    <a16:creationId xmlns:a16="http://schemas.microsoft.com/office/drawing/2014/main" id="{C8E253E6-B690-CA9D-29F5-6010A7F171C2}"/>
                  </a:ext>
                </a:extLst>
              </p:cNvPr>
              <p:cNvSpPr/>
              <p:nvPr/>
            </p:nvSpPr>
            <p:spPr>
              <a:xfrm>
                <a:off x="8457754" y="870012"/>
                <a:ext cx="402162" cy="1541412"/>
              </a:xfrm>
              <a:prstGeom prst="leftBrace">
                <a:avLst>
                  <a:gd name="adj1" fmla="val 8333"/>
                  <a:gd name="adj2" fmla="val 51169"/>
                </a:avLst>
              </a:prstGeom>
              <a:ln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24" name="Left Brace 23">
                <a:extLst>
                  <a:ext uri="{FF2B5EF4-FFF2-40B4-BE49-F238E27FC236}">
                    <a16:creationId xmlns:a16="http://schemas.microsoft.com/office/drawing/2014/main" id="{2581BB11-EF67-9E71-AE1A-D81BFF722E82}"/>
                  </a:ext>
                </a:extLst>
              </p:cNvPr>
              <p:cNvSpPr/>
              <p:nvPr/>
            </p:nvSpPr>
            <p:spPr>
              <a:xfrm rot="16200000">
                <a:off x="9895939" y="1447060"/>
                <a:ext cx="417250" cy="2441359"/>
              </a:xfrm>
              <a:prstGeom prst="leftBrace">
                <a:avLst>
                  <a:gd name="adj1" fmla="val 8333"/>
                  <a:gd name="adj2" fmla="val 51169"/>
                </a:avLst>
              </a:prstGeom>
              <a:ln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5F82366D-39E1-3849-05C2-4DEF85BDF961}"/>
                      </a:ext>
                    </a:extLst>
                  </p:cNvPr>
                  <p:cNvSpPr txBox="1"/>
                  <p:nvPr/>
                </p:nvSpPr>
                <p:spPr>
                  <a:xfrm>
                    <a:off x="9312677" y="2911260"/>
                    <a:ext cx="2012566" cy="337352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1600" i="1" dirty="0" smtClean="0">
                              <a:latin typeface="Cambria Math" panose="02040503050406030204" pitchFamily="18" charset="0"/>
                            </a:rPr>
                            <m:t>𝑇𝑖𝑚𝑒</m:t>
                          </m:r>
                          <m:r>
                            <a:rPr lang="en-US" sz="1600" i="1" dirty="0" smtClean="0">
                              <a:latin typeface="Cambria Math" panose="02040503050406030204" pitchFamily="18" charset="0"/>
                            </a:rPr>
                            <m:t> =#∙</m:t>
                          </m:r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𝑌𝑒𝑎𝑟𝑠</m:t>
                          </m:r>
                        </m:oMath>
                      </m:oMathPara>
                    </a14:m>
                    <a:endParaRPr lang="de-DE" sz="1600" dirty="0"/>
                  </a:p>
                </p:txBody>
              </p:sp>
            </mc:Choice>
            <mc:Fallback xmlns="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5F82366D-39E1-3849-05C2-4DEF85BDF96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312677" y="2911260"/>
                    <a:ext cx="2012566" cy="33735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69F1C6E2-A4FB-9FE8-AB8C-EBAC931EF3BA}"/>
                      </a:ext>
                    </a:extLst>
                  </p:cNvPr>
                  <p:cNvSpPr txBox="1"/>
                  <p:nvPr/>
                </p:nvSpPr>
                <p:spPr>
                  <a:xfrm rot="16200000">
                    <a:off x="7436822" y="1553592"/>
                    <a:ext cx="1704512" cy="337352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sz="16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</m:t>
                          </m:r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𝑟𝑒𝑑𝑖𝑡</m:t>
                          </m:r>
                          <m:r>
                            <a:rPr lang="en-US" sz="1600" i="1" dirty="0" smtClean="0">
                              <a:latin typeface="Cambria Math" panose="02040503050406030204" pitchFamily="18" charset="0"/>
                            </a:rPr>
                            <m:t> =</m:t>
                          </m:r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#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∙</m:t>
                          </m:r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𝐹𝑋</m:t>
                          </m:r>
                        </m:oMath>
                      </m:oMathPara>
                    </a14:m>
                    <a:endParaRPr lang="de-DE" sz="1600" dirty="0"/>
                  </a:p>
                </p:txBody>
              </p:sp>
            </mc:Choice>
            <mc:Fallback xmlns="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69F1C6E2-A4FB-9FE8-AB8C-EBAC931EF3B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6200000">
                    <a:off x="7436822" y="1553592"/>
                    <a:ext cx="1704512" cy="33735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32FB192B-9B54-1592-CD59-155C17556F2E}"/>
                </a:ext>
              </a:extLst>
            </p:cNvPr>
            <p:cNvGrpSpPr/>
            <p:nvPr/>
          </p:nvGrpSpPr>
          <p:grpSpPr>
            <a:xfrm>
              <a:off x="10056410" y="1791856"/>
              <a:ext cx="1692245" cy="1687482"/>
              <a:chOff x="10056410" y="1867530"/>
              <a:chExt cx="1611807" cy="1611807"/>
            </a:xfrm>
          </p:grpSpPr>
          <p:pic>
            <p:nvPicPr>
              <p:cNvPr id="52" name="Graphic 51" descr="Tag outline">
                <a:extLst>
                  <a:ext uri="{FF2B5EF4-FFF2-40B4-BE49-F238E27FC236}">
                    <a16:creationId xmlns:a16="http://schemas.microsoft.com/office/drawing/2014/main" id="{7E588F93-82CE-FBEC-F162-943B096D3E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10056410" y="1867530"/>
                <a:ext cx="1611807" cy="1611807"/>
              </a:xfrm>
              <a:prstGeom prst="rect">
                <a:avLst/>
              </a:prstGeom>
            </p:spPr>
          </p:pic>
          <p:pic>
            <p:nvPicPr>
              <p:cNvPr id="55" name="Graphic 54" descr="Question Mark with solid fill">
                <a:extLst>
                  <a:ext uri="{FF2B5EF4-FFF2-40B4-BE49-F238E27FC236}">
                    <a16:creationId xmlns:a16="http://schemas.microsoft.com/office/drawing/2014/main" id="{DD22B37F-DED9-677E-D49D-91659309B2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0587706" y="2460364"/>
                <a:ext cx="549214" cy="549214"/>
              </a:xfrm>
              <a:prstGeom prst="rect">
                <a:avLst/>
              </a:prstGeom>
            </p:spPr>
          </p:pic>
        </p:grp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37ED8BF0-7E90-F295-E830-D6553E8F248B}"/>
              </a:ext>
            </a:extLst>
          </p:cNvPr>
          <p:cNvGrpSpPr/>
          <p:nvPr/>
        </p:nvGrpSpPr>
        <p:grpSpPr>
          <a:xfrm>
            <a:off x="7657209" y="4077264"/>
            <a:ext cx="4148894" cy="2329224"/>
            <a:chOff x="7971143" y="4210396"/>
            <a:chExt cx="4148894" cy="2329224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99AA8A5-60BF-17E2-C638-50600F3F1153}"/>
                </a:ext>
              </a:extLst>
            </p:cNvPr>
            <p:cNvGrpSpPr/>
            <p:nvPr/>
          </p:nvGrpSpPr>
          <p:grpSpPr>
            <a:xfrm>
              <a:off x="7971143" y="4290250"/>
              <a:ext cx="2925451" cy="2249370"/>
              <a:chOff x="8120402" y="822321"/>
              <a:chExt cx="3204841" cy="240330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Rectangle: Rounded Corners 11">
                    <a:extLst>
                      <a:ext uri="{FF2B5EF4-FFF2-40B4-BE49-F238E27FC236}">
                        <a16:creationId xmlns:a16="http://schemas.microsoft.com/office/drawing/2014/main" id="{59F97CCE-4BFC-B447-23F2-018888C0C448}"/>
                      </a:ext>
                    </a:extLst>
                  </p:cNvPr>
                  <p:cNvSpPr/>
                  <p:nvPr/>
                </p:nvSpPr>
                <p:spPr>
                  <a:xfrm>
                    <a:off x="8883883" y="822321"/>
                    <a:ext cx="2441360" cy="1636794"/>
                  </a:xfrm>
                  <a:prstGeom prst="roundRect">
                    <a:avLst/>
                  </a:prstGeom>
                  <a:solidFill>
                    <a:srgbClr val="C0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90000" tIns="90000" rIns="90000" bIns="90000" rtlCol="0" anchor="t" anchorCtr="0"/>
                  <a:lstStyle/>
                  <a:p>
                    <a:pPr algn="l"/>
                    <a:endParaRPr lang="en-US" sz="1600" i="1" dirty="0">
                      <a:latin typeface="Cambria Math" panose="02040503050406030204" pitchFamily="18" charset="0"/>
                    </a:endParaRPr>
                  </a:p>
                  <a:p>
                    <a:pPr algn="l"/>
                    <a:endParaRPr lang="en-US" sz="1600" i="1" dirty="0">
                      <a:latin typeface="Cambria Math" panose="02040503050406030204" pitchFamily="18" charset="0"/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160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1600" i="1" dirty="0" smtClean="0">
                              <a:latin typeface="Cambria Math" panose="02040503050406030204" pitchFamily="18" charset="0"/>
                            </a:rPr>
                            <m:t> =1 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𝐶𝐻𝐹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∙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𝑌𝑒𝑎𝑟𝑠</m:t>
                          </m:r>
                        </m:oMath>
                      </m:oMathPara>
                    </a14:m>
                    <a:br>
                      <a:rPr lang="en-US" sz="1600" b="0" dirty="0">
                        <a:ea typeface="Cambria Math" panose="02040503050406030204" pitchFamily="18" charset="0"/>
                      </a:rPr>
                    </a:br>
                    <a:endParaRPr lang="en-US" sz="1600" b="0" dirty="0">
                      <a:ea typeface="Cambria Math" panose="02040503050406030204" pitchFamily="18" charset="0"/>
                    </a:endParaRPr>
                  </a:p>
                  <a:p>
                    <a:pPr algn="l"/>
                    <a:endParaRPr lang="de-DE" sz="1600" dirty="0"/>
                  </a:p>
                </p:txBody>
              </p:sp>
            </mc:Choice>
            <mc:Fallback xmlns="">
              <p:sp>
                <p:nvSpPr>
                  <p:cNvPr id="12" name="Rectangle: Rounded Corners 11">
                    <a:extLst>
                      <a:ext uri="{FF2B5EF4-FFF2-40B4-BE49-F238E27FC236}">
                        <a16:creationId xmlns:a16="http://schemas.microsoft.com/office/drawing/2014/main" id="{59F97CCE-4BFC-B447-23F2-018888C0C44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883883" y="822321"/>
                    <a:ext cx="2441360" cy="1636794"/>
                  </a:xfrm>
                  <a:prstGeom prst="round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3" name="Left Brace 12">
                <a:extLst>
                  <a:ext uri="{FF2B5EF4-FFF2-40B4-BE49-F238E27FC236}">
                    <a16:creationId xmlns:a16="http://schemas.microsoft.com/office/drawing/2014/main" id="{2D759DD4-38CA-1F11-2281-BBEBCBD71E55}"/>
                  </a:ext>
                </a:extLst>
              </p:cNvPr>
              <p:cNvSpPr/>
              <p:nvPr/>
            </p:nvSpPr>
            <p:spPr>
              <a:xfrm>
                <a:off x="8457754" y="870012"/>
                <a:ext cx="402162" cy="1541412"/>
              </a:xfrm>
              <a:prstGeom prst="leftBrace">
                <a:avLst>
                  <a:gd name="adj1" fmla="val 8333"/>
                  <a:gd name="adj2" fmla="val 51169"/>
                </a:avLst>
              </a:prstGeom>
              <a:ln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14" name="Left Brace 13">
                <a:extLst>
                  <a:ext uri="{FF2B5EF4-FFF2-40B4-BE49-F238E27FC236}">
                    <a16:creationId xmlns:a16="http://schemas.microsoft.com/office/drawing/2014/main" id="{1F5F2642-DA46-2C20-4D3F-CF9C7A216A09}"/>
                  </a:ext>
                </a:extLst>
              </p:cNvPr>
              <p:cNvSpPr/>
              <p:nvPr/>
            </p:nvSpPr>
            <p:spPr>
              <a:xfrm rot="16200000">
                <a:off x="9895939" y="1447060"/>
                <a:ext cx="417250" cy="2441359"/>
              </a:xfrm>
              <a:prstGeom prst="leftBrace">
                <a:avLst>
                  <a:gd name="adj1" fmla="val 8333"/>
                  <a:gd name="adj2" fmla="val 51169"/>
                </a:avLst>
              </a:prstGeom>
              <a:ln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0FC1FD20-D5C5-8663-411E-0065351990CB}"/>
                      </a:ext>
                    </a:extLst>
                  </p:cNvPr>
                  <p:cNvSpPr txBox="1"/>
                  <p:nvPr/>
                </p:nvSpPr>
                <p:spPr>
                  <a:xfrm>
                    <a:off x="9312677" y="2888274"/>
                    <a:ext cx="1845612" cy="337352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no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1600" i="1" dirty="0" smtClean="0">
                              <a:latin typeface="Cambria Math" panose="02040503050406030204" pitchFamily="18" charset="0"/>
                            </a:rPr>
                            <m:t>𝑇𝑖𝑚𝑒</m:t>
                          </m:r>
                          <m:r>
                            <a:rPr lang="en-US" sz="1600" i="1" dirty="0" smtClean="0">
                              <a:latin typeface="Cambria Math" panose="02040503050406030204" pitchFamily="18" charset="0"/>
                            </a:rPr>
                            <m:t> = 1 </m:t>
                          </m:r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𝑌𝑒𝑎𝑟</m:t>
                          </m:r>
                        </m:oMath>
                      </m:oMathPara>
                    </a14:m>
                    <a:endParaRPr lang="de-DE" sz="1600" dirty="0"/>
                  </a:p>
                </p:txBody>
              </p:sp>
            </mc:Choice>
            <mc:Fallback xmlns="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0FC1FD20-D5C5-8663-411E-0065351990C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312677" y="2888274"/>
                    <a:ext cx="1845612" cy="337352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559BE8D7-343B-B09F-035C-7A65A18C34B2}"/>
                      </a:ext>
                    </a:extLst>
                  </p:cNvPr>
                  <p:cNvSpPr txBox="1"/>
                  <p:nvPr/>
                </p:nvSpPr>
                <p:spPr>
                  <a:xfrm rot="16200000">
                    <a:off x="7436822" y="1553592"/>
                    <a:ext cx="1704512" cy="337352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no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sz="16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</m:t>
                          </m:r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𝑟𝑒𝑑𝑖𝑡</m:t>
                          </m:r>
                          <m:r>
                            <a:rPr lang="en-US" sz="1600" i="1" dirty="0" smtClean="0">
                              <a:latin typeface="Cambria Math" panose="02040503050406030204" pitchFamily="18" charset="0"/>
                            </a:rPr>
                            <m:t> = 1 </m:t>
                          </m:r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𝐶𝐻𝐹</m:t>
                          </m:r>
                        </m:oMath>
                      </m:oMathPara>
                    </a14:m>
                    <a:endParaRPr lang="de-DE" sz="1600" dirty="0"/>
                  </a:p>
                </p:txBody>
              </p:sp>
            </mc:Choice>
            <mc:Fallback xmlns="">
              <p:sp>
                <p:nvSpPr>
                  <p:cNvPr id="43" name="TextBox 42">
                    <a:extLst>
                      <a:ext uri="{FF2B5EF4-FFF2-40B4-BE49-F238E27FC236}">
                        <a16:creationId xmlns:a16="http://schemas.microsoft.com/office/drawing/2014/main" id="{C858BBBD-CFB3-4310-AB4F-E9DEFF83E35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6200000">
                    <a:off x="7436822" y="1553592"/>
                    <a:ext cx="1704512" cy="337352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t="-763" b="-1145"/>
                    </a:stretch>
                  </a:blipFill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CCBBB27-C2E6-3963-9A5A-2533849B11C9}"/>
                </a:ext>
              </a:extLst>
            </p:cNvPr>
            <p:cNvGrpSpPr/>
            <p:nvPr/>
          </p:nvGrpSpPr>
          <p:grpSpPr>
            <a:xfrm>
              <a:off x="10508230" y="4210396"/>
              <a:ext cx="1611807" cy="1611807"/>
              <a:chOff x="10508230" y="4210396"/>
              <a:chExt cx="1611807" cy="1611807"/>
            </a:xfrm>
          </p:grpSpPr>
          <p:pic>
            <p:nvPicPr>
              <p:cNvPr id="10" name="Graphic 9" descr="Tag outline">
                <a:extLst>
                  <a:ext uri="{FF2B5EF4-FFF2-40B4-BE49-F238E27FC236}">
                    <a16:creationId xmlns:a16="http://schemas.microsoft.com/office/drawing/2014/main" id="{4769213A-D0E9-0726-28B9-17C39E6BC1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10508230" y="4210396"/>
                <a:ext cx="1611807" cy="1611807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61B18AF1-0F57-7510-69E5-3C59A447E86D}"/>
                      </a:ext>
                    </a:extLst>
                  </p:cNvPr>
                  <p:cNvSpPr txBox="1"/>
                  <p:nvPr/>
                </p:nvSpPr>
                <p:spPr>
                  <a:xfrm>
                    <a:off x="10918472" y="5016299"/>
                    <a:ext cx="1005397" cy="26161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1100" b="1" i="1">
                              <a:latin typeface="Cambria Math" panose="02040503050406030204" pitchFamily="18" charset="0"/>
                              <a:ea typeface="PMingLiU" panose="020B0604030504040204" pitchFamily="18" charset="-120"/>
                              <a:cs typeface="Arial" panose="020B0604020202020204" pitchFamily="34" charset="0"/>
                            </a:rPr>
                            <m:t>𝟏</m:t>
                          </m:r>
                          <m:r>
                            <a:rPr lang="en-US" sz="1100" b="1" i="1">
                              <a:latin typeface="Cambria Math" panose="02040503050406030204" pitchFamily="18" charset="0"/>
                              <a:ea typeface="PMingLiU" panose="020B0604030504040204" pitchFamily="18" charset="-120"/>
                              <a:cs typeface="Arial" panose="020B0604020202020204" pitchFamily="34" charset="0"/>
                            </a:rPr>
                            <m:t>.</m:t>
                          </m:r>
                          <m:r>
                            <a:rPr lang="en-US" sz="1100" b="1" i="1">
                              <a:latin typeface="Cambria Math" panose="02040503050406030204" pitchFamily="18" charset="0"/>
                              <a:ea typeface="PMingLiU" panose="020B0604030504040204" pitchFamily="18" charset="-120"/>
                              <a:cs typeface="Arial" panose="020B0604020202020204" pitchFamily="34" charset="0"/>
                            </a:rPr>
                            <m:t>𝟎</m:t>
                          </m:r>
                          <m:r>
                            <a:rPr lang="en-US" sz="1100" b="1" i="1" smtClean="0">
                              <a:latin typeface="Cambria Math" panose="02040503050406030204" pitchFamily="18" charset="0"/>
                              <a:ea typeface="PMingLiU" panose="020B0604030504040204" pitchFamily="18" charset="-12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lang="en-US" sz="11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𝑪𝑯𝑭</m:t>
                          </m:r>
                        </m:oMath>
                      </m:oMathPara>
                    </a14:m>
                    <a:endParaRPr lang="en-US" sz="1100" b="1" dirty="0">
                      <a:ea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61B18AF1-0F57-7510-69E5-3C59A447E86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918472" y="5016299"/>
                    <a:ext cx="1005397" cy="261610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47" name="Rectangle 46">
            <a:extLst>
              <a:ext uri="{FF2B5EF4-FFF2-40B4-BE49-F238E27FC236}">
                <a16:creationId xmlns:a16="http://schemas.microsoft.com/office/drawing/2014/main" id="{1AEBA394-40AA-ADA8-70F9-DA81A73BB41A}"/>
              </a:ext>
            </a:extLst>
          </p:cNvPr>
          <p:cNvSpPr/>
          <p:nvPr/>
        </p:nvSpPr>
        <p:spPr>
          <a:xfrm>
            <a:off x="7657209" y="4022054"/>
            <a:ext cx="3960268" cy="24575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t" anchorCtr="0"/>
          <a:lstStyle/>
          <a:p>
            <a:pPr algn="l"/>
            <a:endParaRPr lang="de-DE" sz="1600" dirty="0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5B5FB0AA-1C50-8670-3C18-A7C1FC4CF6C2}"/>
              </a:ext>
            </a:extLst>
          </p:cNvPr>
          <p:cNvGrpSpPr/>
          <p:nvPr/>
        </p:nvGrpSpPr>
        <p:grpSpPr>
          <a:xfrm>
            <a:off x="7657209" y="4022054"/>
            <a:ext cx="4205385" cy="2511487"/>
            <a:chOff x="7321389" y="-369948"/>
            <a:chExt cx="4205385" cy="2385455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7552F721-80AE-37D1-1341-556A66D2F59E}"/>
                </a:ext>
              </a:extLst>
            </p:cNvPr>
            <p:cNvGrpSpPr/>
            <p:nvPr/>
          </p:nvGrpSpPr>
          <p:grpSpPr>
            <a:xfrm>
              <a:off x="7321389" y="-369948"/>
              <a:ext cx="4205385" cy="2385455"/>
              <a:chOff x="7992518" y="4090070"/>
              <a:chExt cx="4205385" cy="2449550"/>
            </a:xfrm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7FF16363-8AA5-A9DD-DA0F-5D31FE10D99D}"/>
                  </a:ext>
                </a:extLst>
              </p:cNvPr>
              <p:cNvGrpSpPr/>
              <p:nvPr/>
            </p:nvGrpSpPr>
            <p:grpSpPr>
              <a:xfrm>
                <a:off x="7992518" y="4090070"/>
                <a:ext cx="2904082" cy="2449550"/>
                <a:chOff x="8143813" y="608442"/>
                <a:chExt cx="3181430" cy="2617184"/>
              </a:xfrm>
            </p:grpSpPr>
            <p:sp>
              <p:nvSpPr>
                <p:cNvPr id="30" name="Right Triangle 29">
                  <a:extLst>
                    <a:ext uri="{FF2B5EF4-FFF2-40B4-BE49-F238E27FC236}">
                      <a16:creationId xmlns:a16="http://schemas.microsoft.com/office/drawing/2014/main" id="{8177803A-31EE-708F-C7D0-D2FE330DA92D}"/>
                    </a:ext>
                  </a:extLst>
                </p:cNvPr>
                <p:cNvSpPr/>
                <p:nvPr/>
              </p:nvSpPr>
              <p:spPr>
                <a:xfrm rot="16200000">
                  <a:off x="9301765" y="547155"/>
                  <a:ext cx="1647574" cy="2304896"/>
                </a:xfrm>
                <a:prstGeom prst="rtTriangle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0000" tIns="90000" rIns="90000" bIns="90000" rtlCol="0" anchor="t" anchorCtr="0"/>
                <a:lstStyle/>
                <a:p>
                  <a:pPr algn="l"/>
                  <a:endParaRPr lang="de-DE" sz="1400" dirty="0"/>
                </a:p>
              </p:txBody>
            </p:sp>
            <p:sp>
              <p:nvSpPr>
                <p:cNvPr id="31" name="Left Brace 30">
                  <a:extLst>
                    <a:ext uri="{FF2B5EF4-FFF2-40B4-BE49-F238E27FC236}">
                      <a16:creationId xmlns:a16="http://schemas.microsoft.com/office/drawing/2014/main" id="{B87AEC01-DEAB-A540-84BF-2ABDE99A177D}"/>
                    </a:ext>
                  </a:extLst>
                </p:cNvPr>
                <p:cNvSpPr/>
                <p:nvPr/>
              </p:nvSpPr>
              <p:spPr>
                <a:xfrm>
                  <a:off x="8457754" y="870012"/>
                  <a:ext cx="402162" cy="1541412"/>
                </a:xfrm>
                <a:prstGeom prst="leftBrace">
                  <a:avLst>
                    <a:gd name="adj1" fmla="val 8333"/>
                    <a:gd name="adj2" fmla="val 51169"/>
                  </a:avLst>
                </a:prstGeom>
                <a:ln/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de-DE" dirty="0"/>
                </a:p>
              </p:txBody>
            </p:sp>
            <p:sp>
              <p:nvSpPr>
                <p:cNvPr id="32" name="Left Brace 31">
                  <a:extLst>
                    <a:ext uri="{FF2B5EF4-FFF2-40B4-BE49-F238E27FC236}">
                      <a16:creationId xmlns:a16="http://schemas.microsoft.com/office/drawing/2014/main" id="{50555EAC-106C-1710-369D-146BD9433235}"/>
                    </a:ext>
                  </a:extLst>
                </p:cNvPr>
                <p:cNvSpPr/>
                <p:nvPr/>
              </p:nvSpPr>
              <p:spPr>
                <a:xfrm rot="16200000">
                  <a:off x="9895939" y="1447060"/>
                  <a:ext cx="417250" cy="2441359"/>
                </a:xfrm>
                <a:prstGeom prst="leftBrace">
                  <a:avLst>
                    <a:gd name="adj1" fmla="val 8333"/>
                    <a:gd name="adj2" fmla="val 51169"/>
                  </a:avLst>
                </a:prstGeom>
                <a:ln/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de-DE" dirty="0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3" name="TextBox 32">
                      <a:extLst>
                        <a:ext uri="{FF2B5EF4-FFF2-40B4-BE49-F238E27FC236}">
                          <a16:creationId xmlns:a16="http://schemas.microsoft.com/office/drawing/2014/main" id="{C03B7A07-94F4-E5A5-7D91-B5A491FD130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312677" y="2888274"/>
                      <a:ext cx="1845612" cy="33735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no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60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  <m:t>𝑇𝑖𝑚𝑒</m:t>
                            </m:r>
                          </m:oMath>
                        </m:oMathPara>
                      </a14:m>
                      <a:endParaRPr lang="de-DE" sz="1600" dirty="0"/>
                    </a:p>
                  </p:txBody>
                </p:sp>
              </mc:Choice>
              <mc:Fallback xmlns="">
                <p:sp>
                  <p:nvSpPr>
                    <p:cNvPr id="33" name="TextBox 32">
                      <a:extLst>
                        <a:ext uri="{FF2B5EF4-FFF2-40B4-BE49-F238E27FC236}">
                          <a16:creationId xmlns:a16="http://schemas.microsoft.com/office/drawing/2014/main" id="{C03B7A07-94F4-E5A5-7D91-B5A491FD130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312677" y="2888274"/>
                      <a:ext cx="1845612" cy="337352"/>
                    </a:xfrm>
                    <a:prstGeom prst="rect">
                      <a:avLst/>
                    </a:prstGeom>
                    <a:blipFill>
                      <a:blip r:embed="rId1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de-DE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4" name="TextBox 33">
                      <a:extLst>
                        <a:ext uri="{FF2B5EF4-FFF2-40B4-BE49-F238E27FC236}">
                          <a16:creationId xmlns:a16="http://schemas.microsoft.com/office/drawing/2014/main" id="{0F9C5BF7-221D-27DC-888C-CC792029CCB5}"/>
                        </a:ext>
                      </a:extLst>
                    </p:cNvPr>
                    <p:cNvSpPr txBox="1"/>
                    <p:nvPr/>
                  </p:nvSpPr>
                  <p:spPr>
                    <a:xfrm rot="16200000">
                      <a:off x="7232702" y="1519553"/>
                      <a:ext cx="2164591" cy="34237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no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m:rPr>
                                <m:sty m:val="p"/>
                              </m:rPr>
                              <a:rPr lang="en-US" sz="160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C</m:t>
                            </m:r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𝑟𝑒𝑑𝑖𝑡</m:t>
                            </m:r>
                          </m:oMath>
                        </m:oMathPara>
                      </a14:m>
                      <a:endParaRPr lang="de-DE" sz="1600" dirty="0"/>
                    </a:p>
                  </p:txBody>
                </p:sp>
              </mc:Choice>
              <mc:Fallback xmlns="">
                <p:sp>
                  <p:nvSpPr>
                    <p:cNvPr id="34" name="TextBox 33">
                      <a:extLst>
                        <a:ext uri="{FF2B5EF4-FFF2-40B4-BE49-F238E27FC236}">
                          <a16:creationId xmlns:a16="http://schemas.microsoft.com/office/drawing/2014/main" id="{0F9C5BF7-221D-27DC-888C-CC792029CCB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rot="16200000">
                      <a:off x="7232702" y="1519553"/>
                      <a:ext cx="2164591" cy="342370"/>
                    </a:xfrm>
                    <a:prstGeom prst="rect">
                      <a:avLst/>
                    </a:prstGeom>
                    <a:blipFill>
                      <a:blip r:embed="rId1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de-DE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0211DBCA-5808-80BB-DC2F-FC1EC0E0ADAC}"/>
                  </a:ext>
                </a:extLst>
              </p:cNvPr>
              <p:cNvGrpSpPr/>
              <p:nvPr/>
            </p:nvGrpSpPr>
            <p:grpSpPr>
              <a:xfrm>
                <a:off x="10571750" y="4212750"/>
                <a:ext cx="1626153" cy="1611806"/>
                <a:chOff x="10571750" y="4212750"/>
                <a:chExt cx="1626153" cy="1611806"/>
              </a:xfrm>
            </p:grpSpPr>
            <p:pic>
              <p:nvPicPr>
                <p:cNvPr id="27" name="Graphic 26" descr="Tag outline">
                  <a:extLst>
                    <a:ext uri="{FF2B5EF4-FFF2-40B4-BE49-F238E27FC236}">
                      <a16:creationId xmlns:a16="http://schemas.microsoft.com/office/drawing/2014/main" id="{4DBCF2B3-1313-F89B-E17E-87CA5524EFB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tretch>
                  <a:fillRect/>
                </a:stretch>
              </p:blipFill>
              <p:spPr>
                <a:xfrm rot="21422961">
                  <a:off x="10571750" y="4212750"/>
                  <a:ext cx="1626153" cy="1611806"/>
                </a:xfrm>
                <a:prstGeom prst="rect">
                  <a:avLst/>
                </a:prstGeom>
              </p:spPr>
            </p:pic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8" name="TextBox 27">
                      <a:extLst>
                        <a:ext uri="{FF2B5EF4-FFF2-40B4-BE49-F238E27FC236}">
                          <a16:creationId xmlns:a16="http://schemas.microsoft.com/office/drawing/2014/main" id="{5DD071BF-DF29-290B-26C7-E5C36C045F6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961216" y="4980535"/>
                      <a:ext cx="1005397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r>
                              <a:rPr lang="en-US" sz="1100" b="1" i="1" smtClean="0">
                                <a:latin typeface="Cambria Math" panose="02040503050406030204" pitchFamily="18" charset="0"/>
                                <a:ea typeface="PMingLiU" panose="020B0604030504040204" pitchFamily="18" charset="-120"/>
                                <a:cs typeface="Arial" panose="020B0604020202020204" pitchFamily="34" charset="0"/>
                              </a:rPr>
                              <m:t>𝟎</m:t>
                            </m:r>
                            <m:r>
                              <a:rPr lang="en-US" sz="1100" b="1" i="1" smtClean="0">
                                <a:latin typeface="Cambria Math" panose="02040503050406030204" pitchFamily="18" charset="0"/>
                                <a:ea typeface="PMingLiU" panose="020B0604030504040204" pitchFamily="18" charset="-120"/>
                                <a:cs typeface="Arial" panose="020B0604020202020204" pitchFamily="34" charset="0"/>
                              </a:rPr>
                              <m:t>.</m:t>
                            </m:r>
                            <m:r>
                              <a:rPr lang="en-US" sz="1100" b="1" i="1" smtClean="0">
                                <a:latin typeface="Cambria Math" panose="02040503050406030204" pitchFamily="18" charset="0"/>
                                <a:ea typeface="PMingLiU" panose="020B0604030504040204" pitchFamily="18" charset="-120"/>
                                <a:cs typeface="Arial" panose="020B0604020202020204" pitchFamily="34" charset="0"/>
                              </a:rPr>
                              <m:t>𝟓</m:t>
                            </m:r>
                            <m:r>
                              <a:rPr lang="en-US" sz="1100" b="1" i="1" smtClean="0">
                                <a:latin typeface="Cambria Math" panose="02040503050406030204" pitchFamily="18" charset="0"/>
                                <a:ea typeface="PMingLiU" panose="020B0604030504040204" pitchFamily="18" charset="-12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a:rPr lang="en-US" sz="11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𝑪𝑯𝑭</m:t>
                            </m:r>
                          </m:oMath>
                        </m:oMathPara>
                      </a14:m>
                      <a:endParaRPr lang="en-US" sz="1100" b="1" dirty="0">
                        <a:ea typeface="Cambria Math" panose="020405030504060302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28" name="TextBox 27">
                      <a:extLst>
                        <a:ext uri="{FF2B5EF4-FFF2-40B4-BE49-F238E27FC236}">
                          <a16:creationId xmlns:a16="http://schemas.microsoft.com/office/drawing/2014/main" id="{5DD071BF-DF29-290B-26C7-E5C36C045F6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961216" y="4980535"/>
                      <a:ext cx="1005397" cy="261610"/>
                    </a:xfrm>
                    <a:prstGeom prst="rect">
                      <a:avLst/>
                    </a:prstGeom>
                    <a:blipFill>
                      <a:blip r:embed="rId1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de-DE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5EDCCFB6-0892-5535-4781-1A9BAE599B07}"/>
                    </a:ext>
                  </a:extLst>
                </p:cNvPr>
                <p:cNvSpPr txBox="1"/>
                <p:nvPr/>
              </p:nvSpPr>
              <p:spPr>
                <a:xfrm>
                  <a:off x="8404132" y="989446"/>
                  <a:ext cx="1791632" cy="49696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14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=0.5 </m:t>
                        </m:r>
                        <m:r>
                          <a:rPr lang="en-US" sz="1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𝐶𝐻𝐹</m:t>
                        </m:r>
                        <m:r>
                          <a:rPr lang="en-US" sz="1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∙</m:t>
                        </m:r>
                        <m:r>
                          <a:rPr lang="en-US" sz="1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𝑌𝑒𝑎𝑟𝑠</m:t>
                        </m:r>
                      </m:oMath>
                    </m:oMathPara>
                  </a14:m>
                  <a:br>
                    <a:rPr lang="en-US" sz="1400" b="0" dirty="0">
                      <a:solidFill>
                        <a:schemeClr val="bg1"/>
                      </a:solidFill>
                      <a:ea typeface="Cambria Math" panose="02040503050406030204" pitchFamily="18" charset="0"/>
                    </a:rPr>
                  </a:br>
                  <a:endParaRPr lang="en-US" sz="1400" b="0" dirty="0">
                    <a:solidFill>
                      <a:schemeClr val="bg1"/>
                    </a:solidFill>
                    <a:ea typeface="Cambria Math" panose="02040503050406030204" pitchFamily="18" charset="0"/>
                  </a:endParaRPr>
                </a:p>
                <a:p>
                  <a:pPr algn="l"/>
                  <a:endParaRPr lang="de-DE" sz="14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5EDCCFB6-0892-5535-4781-1A9BAE599B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04132" y="989446"/>
                  <a:ext cx="1791632" cy="496964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874110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6" grpId="0" animBg="1"/>
      <p:bldP spid="51" grpId="0" animBg="1"/>
      <p:bldP spid="4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25B57-DF16-22A3-E202-021292C76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1043535"/>
            <a:ext cx="11306175" cy="483831"/>
          </a:xfrm>
        </p:spPr>
        <p:txBody>
          <a:bodyPr/>
          <a:lstStyle/>
          <a:p>
            <a:r>
              <a:rPr lang="de-CH" dirty="0" err="1"/>
              <a:t>Earned</a:t>
            </a:r>
            <a:r>
              <a:rPr lang="de-CH" dirty="0"/>
              <a:t> and </a:t>
            </a:r>
            <a:r>
              <a:rPr lang="de-CH" dirty="0" err="1"/>
              <a:t>Unearned</a:t>
            </a:r>
            <a:r>
              <a:rPr lang="de-CH" dirty="0"/>
              <a:t> </a:t>
            </a:r>
            <a:r>
              <a:rPr lang="de-CH" dirty="0" err="1"/>
              <a:t>Premiums</a:t>
            </a:r>
            <a:endParaRPr lang="de-D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EF002C-CD30-FF27-897E-ADE243463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 October 2024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2A80D6-5709-E7A4-0D6F-72F8A1903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9AB5E-215F-4BC4-9EB7-C8883DA834C0}" type="slidenum">
              <a:rPr lang="en-US" smtClean="0"/>
              <a:pPr/>
              <a:t>16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Inhaltsplatzhalter 2">
                <a:extLst>
                  <a:ext uri="{FF2B5EF4-FFF2-40B4-BE49-F238E27FC236}">
                    <a16:creationId xmlns:a16="http://schemas.microsoft.com/office/drawing/2014/main" id="{2D10DE87-47B4-A96E-0371-595DCFA5628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7666" y="1882141"/>
                <a:ext cx="7423082" cy="3260848"/>
              </a:xfrm>
              <a:prstGeom prst="roundRect">
                <a:avLst/>
              </a:prstGeom>
              <a:solidFill>
                <a:schemeClr val="bg2"/>
              </a:solidFill>
            </p:spPr>
            <p:txBody>
              <a:bodyPr/>
              <a:lstStyle>
                <a:lvl1pPr marL="0" indent="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0" indent="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80000" indent="-18000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buClr>
                    <a:schemeClr val="accent1"/>
                  </a:buClr>
                  <a:buFont typeface="Arial" panose="020B0604020202020204" pitchFamily="34" charset="0"/>
                  <a:buChar char="»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360000" indent="-18000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18000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dirty="0"/>
                  <a:t>The earned risk premium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𝐸𝑅𝑃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at time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can be defined via the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PMingLiU" panose="020B0604030504040204" pitchFamily="18" charset="-120"/>
                        <a:cs typeface="Arial" panose="020B0604020202020204" pitchFamily="34" charset="0"/>
                      </a:rPr>
                      <m:t>𝑆𝑅𝑃</m:t>
                    </m:r>
                  </m:oMath>
                </a14:m>
                <a:r>
                  <a:rPr lang="en-GB" dirty="0"/>
                  <a:t> as follows</a:t>
                </a:r>
                <a:endParaRPr lang="de-DE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𝐸𝑅𝑃</m:t>
                      </m:r>
                      <m:d>
                        <m:dPr>
                          <m:ctrlPr>
                            <a:rPr lang="de-DE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𝑆𝑅𝑃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∙</m:t>
                      </m:r>
                      <m:nary>
                        <m:naryPr>
                          <m:limLoc m:val="subSup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′=−∞</m:t>
                          </m:r>
                        </m:sub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𝐶𝑃</m:t>
                          </m:r>
                          <m:d>
                            <m:d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d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𝑑𝑡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</m:nary>
                      <m:r>
                        <a:rPr lang="en-GB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de-DE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GB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dirty="0"/>
                  <a:t>The unearned risk premium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𝑈𝑅𝑃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at time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dirty="0"/>
                  <a:t> is the difference of the total risk premium and the amount already earned thereof until time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𝑈𝑅𝑃</m:t>
                      </m:r>
                      <m:d>
                        <m:dPr>
                          <m:ctrlPr>
                            <a:rPr lang="de-DE" i="1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𝑅𝑃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𝐸𝑅𝑃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𝑆𝑅𝑃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∙</m:t>
                      </m:r>
                      <m:nary>
                        <m:naryPr>
                          <m:limLoc m:val="subSup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𝐶𝑃</m:t>
                          </m:r>
                          <m:d>
                            <m:d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nary>
                      <m:r>
                        <a:rPr lang="de-DE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  <a:p>
                <a:endParaRPr lang="de-DE" dirty="0"/>
              </a:p>
            </p:txBody>
          </p:sp>
        </mc:Choice>
        <mc:Fallback xmlns="">
          <p:sp>
            <p:nvSpPr>
              <p:cNvPr id="6" name="Inhaltsplatzhalter 2">
                <a:extLst>
                  <a:ext uri="{FF2B5EF4-FFF2-40B4-BE49-F238E27FC236}">
                    <a16:creationId xmlns:a16="http://schemas.microsoft.com/office/drawing/2014/main" id="{2D10DE87-47B4-A96E-0371-595DCFA562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666" y="1882141"/>
                <a:ext cx="7423082" cy="3260848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4" name="Group 63">
            <a:extLst>
              <a:ext uri="{FF2B5EF4-FFF2-40B4-BE49-F238E27FC236}">
                <a16:creationId xmlns:a16="http://schemas.microsoft.com/office/drawing/2014/main" id="{FC565595-CEA5-792C-948C-F1C0C70B18A7}"/>
              </a:ext>
            </a:extLst>
          </p:cNvPr>
          <p:cNvGrpSpPr/>
          <p:nvPr/>
        </p:nvGrpSpPr>
        <p:grpSpPr>
          <a:xfrm>
            <a:off x="8067715" y="1882141"/>
            <a:ext cx="3675267" cy="3564756"/>
            <a:chOff x="8227173" y="2606583"/>
            <a:chExt cx="3381421" cy="2977473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F94523C8-9919-4EE2-59CE-BA6D8318206B}"/>
                </a:ext>
              </a:extLst>
            </p:cNvPr>
            <p:cNvSpPr/>
            <p:nvPr/>
          </p:nvSpPr>
          <p:spPr>
            <a:xfrm>
              <a:off x="9960525" y="3432049"/>
              <a:ext cx="1201251" cy="180512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90000" rIns="90000" bIns="90000" rtlCol="0" anchor="t" anchorCtr="0"/>
            <a:lstStyle/>
            <a:p>
              <a:pPr algn="l"/>
              <a:endParaRPr lang="de-DE" sz="1600" dirty="0"/>
            </a:p>
          </p:txBody>
        </p: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378792F2-6B1E-5575-C304-58203710835A}"/>
                </a:ext>
              </a:extLst>
            </p:cNvPr>
            <p:cNvGrpSpPr/>
            <p:nvPr/>
          </p:nvGrpSpPr>
          <p:grpSpPr>
            <a:xfrm>
              <a:off x="8227173" y="2606583"/>
              <a:ext cx="3381421" cy="2977473"/>
              <a:chOff x="8227173" y="2606583"/>
              <a:chExt cx="3381421" cy="2977473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C723E7BD-DD06-3845-73AC-DBC7A34FF648}"/>
                  </a:ext>
                </a:extLst>
              </p:cNvPr>
              <p:cNvGrpSpPr/>
              <p:nvPr/>
            </p:nvGrpSpPr>
            <p:grpSpPr>
              <a:xfrm>
                <a:off x="8227173" y="2606583"/>
                <a:ext cx="3381421" cy="2977473"/>
                <a:chOff x="300302" y="1887523"/>
                <a:chExt cx="2877423" cy="2448183"/>
              </a:xfrm>
            </p:grpSpPr>
            <p:grpSp>
              <p:nvGrpSpPr>
                <p:cNvPr id="38" name="Group 37">
                  <a:extLst>
                    <a:ext uri="{FF2B5EF4-FFF2-40B4-BE49-F238E27FC236}">
                      <a16:creationId xmlns:a16="http://schemas.microsoft.com/office/drawing/2014/main" id="{6A472ACB-F0BC-EEEE-2FA5-985D5F2489F5}"/>
                    </a:ext>
                  </a:extLst>
                </p:cNvPr>
                <p:cNvGrpSpPr/>
                <p:nvPr/>
              </p:nvGrpSpPr>
              <p:grpSpPr>
                <a:xfrm>
                  <a:off x="666619" y="1887523"/>
                  <a:ext cx="2511106" cy="2448183"/>
                  <a:chOff x="666619" y="1887523"/>
                  <a:chExt cx="2511106" cy="2448183"/>
                </a:xfrm>
              </p:grpSpPr>
              <p:grpSp>
                <p:nvGrpSpPr>
                  <p:cNvPr id="40" name="Group 39">
                    <a:extLst>
                      <a:ext uri="{FF2B5EF4-FFF2-40B4-BE49-F238E27FC236}">
                        <a16:creationId xmlns:a16="http://schemas.microsoft.com/office/drawing/2014/main" id="{EC1993A8-90ED-EF20-346B-15BEA94C55B8}"/>
                      </a:ext>
                    </a:extLst>
                  </p:cNvPr>
                  <p:cNvGrpSpPr/>
                  <p:nvPr/>
                </p:nvGrpSpPr>
                <p:grpSpPr>
                  <a:xfrm>
                    <a:off x="666619" y="1887523"/>
                    <a:ext cx="2511106" cy="2162962"/>
                    <a:chOff x="847288" y="1711354"/>
                    <a:chExt cx="2223083" cy="1717646"/>
                  </a:xfrm>
                </p:grpSpPr>
                <p:sp>
                  <p:nvSpPr>
                    <p:cNvPr id="44" name="Rectangle 43">
                      <a:extLst>
                        <a:ext uri="{FF2B5EF4-FFF2-40B4-BE49-F238E27FC236}">
                          <a16:creationId xmlns:a16="http://schemas.microsoft.com/office/drawing/2014/main" id="{E7F97CE5-72F1-C21F-C695-F7A16DCBA41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7290" y="2248352"/>
                      <a:ext cx="751677" cy="1180648"/>
                    </a:xfrm>
                    <a:prstGeom prst="rect">
                      <a:avLst/>
                    </a:prstGeom>
                    <a:solidFill>
                      <a:srgbClr val="C00000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90000" tIns="90000" rIns="90000" bIns="90000" rtlCol="0" anchor="t" anchorCtr="0"/>
                    <a:lstStyle/>
                    <a:p>
                      <a:pPr algn="ctr"/>
                      <a:endParaRPr lang="de-DE" sz="1100" dirty="0"/>
                    </a:p>
                  </p:txBody>
                </p:sp>
                <p:cxnSp>
                  <p:nvCxnSpPr>
                    <p:cNvPr id="42" name="Straight Arrow Connector 41">
                      <a:extLst>
                        <a:ext uri="{FF2B5EF4-FFF2-40B4-BE49-F238E27FC236}">
                          <a16:creationId xmlns:a16="http://schemas.microsoft.com/office/drawing/2014/main" id="{6C640DA6-0174-D22C-CD0D-14DECD9297F0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847288" y="1711354"/>
                      <a:ext cx="0" cy="1717646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3" name="Straight Arrow Connector 42">
                      <a:extLst>
                        <a:ext uri="{FF2B5EF4-FFF2-40B4-BE49-F238E27FC236}">
                          <a16:creationId xmlns:a16="http://schemas.microsoft.com/office/drawing/2014/main" id="{1CF42B33-9B72-CF4A-03A4-C53E829E9D8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47288" y="3429000"/>
                      <a:ext cx="2223083" cy="0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41" name="Rectangle 40">
                        <a:extLst>
                          <a:ext uri="{FF2B5EF4-FFF2-40B4-BE49-F238E27FC236}">
                            <a16:creationId xmlns:a16="http://schemas.microsoft.com/office/drawing/2014/main" id="{C04C2D2D-7B21-3E77-CDAD-52D1C4FC411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546226" y="4050484"/>
                        <a:ext cx="617647" cy="2852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90000" tIns="90000" rIns="90000" bIns="90000" rtlCol="0" anchor="t" anchorCtr="0"/>
                      <a:lstStyle/>
                      <a:p>
                        <a:pPr algn="l"/>
                        <a:r>
                          <a:rPr lang="en-US" sz="1200" dirty="0">
                            <a:solidFill>
                              <a:schemeClr val="tx1"/>
                            </a:solidFill>
                          </a:rPr>
                          <a:t>Time </a:t>
                        </a:r>
                        <a14:m>
                          <m:oMath xmlns:m="http://schemas.openxmlformats.org/officeDocument/2006/math"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oMath>
                        </a14:m>
                        <a:endParaRPr lang="de-DE" sz="12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41" name="Rectangle 40">
                        <a:extLst>
                          <a:ext uri="{FF2B5EF4-FFF2-40B4-BE49-F238E27FC236}">
                            <a16:creationId xmlns:a16="http://schemas.microsoft.com/office/drawing/2014/main" id="{C04C2D2D-7B21-3E77-CDAD-52D1C4FC411D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546226" y="4050484"/>
                        <a:ext cx="617647" cy="285222"/>
                      </a:xfrm>
                      <a:prstGeom prst="rect">
                        <a:avLst/>
                      </a:prstGeom>
                      <a:blipFill>
                        <a:blip r:embed="rId3"/>
                        <a:stretch>
                          <a:fillRect/>
                        </a:stretch>
                      </a:blipFill>
                      <a:ln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de-DE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FDE051AC-5DBE-DB57-D0D2-4667A9C9EC57}"/>
                    </a:ext>
                  </a:extLst>
                </p:cNvPr>
                <p:cNvSpPr/>
                <p:nvPr/>
              </p:nvSpPr>
              <p:spPr>
                <a:xfrm rot="16200000">
                  <a:off x="134089" y="2840070"/>
                  <a:ext cx="617647" cy="28522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0000" tIns="90000" rIns="90000" bIns="90000" rtlCol="0" anchor="t" anchorCtr="0"/>
                <a:lstStyle/>
                <a:p>
                  <a:pPr algn="l"/>
                  <a:r>
                    <a:rPr lang="en-US" sz="1200" b="0" dirty="0">
                      <a:solidFill>
                        <a:schemeClr val="tx1"/>
                      </a:solidFill>
                    </a:rPr>
                    <a:t>Credit </a:t>
                  </a:r>
                  <a:endParaRPr lang="de-DE" sz="1200" dirty="0">
                    <a:solidFill>
                      <a:schemeClr val="tx1"/>
                    </a:solidFill>
                  </a:endParaRPr>
                </a:p>
              </p:txBody>
            </p:sp>
          </p:grp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9A17A124-8209-423A-F2B2-0F5C6AECC12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960525" y="2698812"/>
                <a:ext cx="221" cy="2538357"/>
              </a:xfrm>
              <a:prstGeom prst="line">
                <a:avLst/>
              </a:prstGeom>
              <a:ln w="9525" cap="flat" cmpd="sng" algn="ctr">
                <a:solidFill>
                  <a:schemeClr val="dk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6" name="TextBox 55">
                    <a:extLst>
                      <a:ext uri="{FF2B5EF4-FFF2-40B4-BE49-F238E27FC236}">
                        <a16:creationId xmlns:a16="http://schemas.microsoft.com/office/drawing/2014/main" id="{A5D17D59-FE26-0BDF-4BEB-34F2DEEF37D6}"/>
                      </a:ext>
                    </a:extLst>
                  </p:cNvPr>
                  <p:cNvSpPr txBox="1"/>
                  <p:nvPr/>
                </p:nvSpPr>
                <p:spPr>
                  <a:xfrm>
                    <a:off x="9772926" y="4968742"/>
                    <a:ext cx="560124" cy="30777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oMath>
                      </m:oMathPara>
                    </a14:m>
                    <a:endParaRPr lang="de-DE" sz="1400" dirty="0"/>
                  </a:p>
                </p:txBody>
              </p:sp>
            </mc:Choice>
            <mc:Fallback xmlns="">
              <p:sp>
                <p:nvSpPr>
                  <p:cNvPr id="56" name="TextBox 55">
                    <a:extLst>
                      <a:ext uri="{FF2B5EF4-FFF2-40B4-BE49-F238E27FC236}">
                        <a16:creationId xmlns:a16="http://schemas.microsoft.com/office/drawing/2014/main" id="{A5D17D59-FE26-0BDF-4BEB-34F2DEEF37D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772926" y="4968742"/>
                    <a:ext cx="560124" cy="30777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AF85EF34-A12F-032F-2AAC-3C9BF441F8EF}"/>
                    </a:ext>
                  </a:extLst>
                </p:cNvPr>
                <p:cNvSpPr txBox="1"/>
                <p:nvPr/>
              </p:nvSpPr>
              <p:spPr>
                <a:xfrm>
                  <a:off x="10217865" y="2613452"/>
                  <a:ext cx="560124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𝑅𝑃</m:t>
                        </m:r>
                        <m:d>
                          <m:dPr>
                            <m:ctrlPr>
                              <a:rPr lang="de-DE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oMath>
                    </m:oMathPara>
                  </a14:m>
                  <a:endParaRPr lang="de-DE" sz="1400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AF85EF34-A12F-032F-2AAC-3C9BF441F8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17865" y="2613452"/>
                  <a:ext cx="560124" cy="307777"/>
                </a:xfrm>
                <a:prstGeom prst="rect">
                  <a:avLst/>
                </a:prstGeom>
                <a:blipFill>
                  <a:blip r:embed="rId5"/>
                  <a:stretch>
                    <a:fillRect r="-6000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0" name="Arrow: Down 59">
              <a:extLst>
                <a:ext uri="{FF2B5EF4-FFF2-40B4-BE49-F238E27FC236}">
                  <a16:creationId xmlns:a16="http://schemas.microsoft.com/office/drawing/2014/main" id="{B4C568A7-DBCB-31B8-6592-839AF6DE6CF4}"/>
                </a:ext>
              </a:extLst>
            </p:cNvPr>
            <p:cNvSpPr/>
            <p:nvPr/>
          </p:nvSpPr>
          <p:spPr>
            <a:xfrm>
              <a:off x="10448436" y="2911894"/>
              <a:ext cx="235588" cy="480805"/>
            </a:xfrm>
            <a:prstGeom prst="downArrow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90000" rIns="90000" bIns="90000" rtlCol="0" anchor="t" anchorCtr="0"/>
            <a:lstStyle/>
            <a:p>
              <a:pPr algn="l"/>
              <a:endParaRPr lang="de-DE" sz="16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A3C6E97A-9E31-AF5B-B91C-157A99581D24}"/>
                    </a:ext>
                  </a:extLst>
                </p:cNvPr>
                <p:cNvSpPr txBox="1"/>
                <p:nvPr/>
              </p:nvSpPr>
              <p:spPr>
                <a:xfrm>
                  <a:off x="9109095" y="2617014"/>
                  <a:ext cx="517406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𝐸𝑅𝑃</m:t>
                        </m:r>
                        <m:d>
                          <m:dPr>
                            <m:ctrlPr>
                              <a:rPr lang="de-DE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oMath>
                    </m:oMathPara>
                  </a14:m>
                  <a:endParaRPr lang="de-DE" sz="1400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A3C6E97A-9E31-AF5B-B91C-157A99581D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09095" y="2617014"/>
                  <a:ext cx="517406" cy="307777"/>
                </a:xfrm>
                <a:prstGeom prst="rect">
                  <a:avLst/>
                </a:prstGeom>
                <a:blipFill>
                  <a:blip r:embed="rId6"/>
                  <a:stretch>
                    <a:fillRect r="-13043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2" name="Arrow: Down 61">
              <a:extLst>
                <a:ext uri="{FF2B5EF4-FFF2-40B4-BE49-F238E27FC236}">
                  <a16:creationId xmlns:a16="http://schemas.microsoft.com/office/drawing/2014/main" id="{A927E600-8668-E5F4-6CD7-A1C71E580201}"/>
                </a:ext>
              </a:extLst>
            </p:cNvPr>
            <p:cNvSpPr/>
            <p:nvPr/>
          </p:nvSpPr>
          <p:spPr>
            <a:xfrm>
              <a:off x="9367798" y="2914832"/>
              <a:ext cx="217621" cy="447107"/>
            </a:xfrm>
            <a:prstGeom prst="down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90000" rIns="90000" bIns="90000" rtlCol="0" anchor="t" anchorCtr="0"/>
            <a:lstStyle/>
            <a:p>
              <a:pPr algn="l"/>
              <a:endParaRPr lang="de-DE" sz="1600" dirty="0"/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C39E0204-FC47-269C-6E75-8CD0C60C2054}"/>
              </a:ext>
            </a:extLst>
          </p:cNvPr>
          <p:cNvGrpSpPr/>
          <p:nvPr/>
        </p:nvGrpSpPr>
        <p:grpSpPr>
          <a:xfrm>
            <a:off x="1273117" y="5586749"/>
            <a:ext cx="9645765" cy="730711"/>
            <a:chOff x="2012156" y="5697416"/>
            <a:chExt cx="8819967" cy="580910"/>
          </a:xfrm>
        </p:grpSpPr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3B6305D4-2F06-8C1C-6DEB-17CE72D3D91B}"/>
                </a:ext>
              </a:extLst>
            </p:cNvPr>
            <p:cNvSpPr/>
            <p:nvPr/>
          </p:nvSpPr>
          <p:spPr>
            <a:xfrm>
              <a:off x="2012156" y="5697416"/>
              <a:ext cx="8819967" cy="572756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90000" rIns="90000" bIns="90000" rtlCol="0" anchor="t" anchorCtr="0"/>
            <a:lstStyle/>
            <a:p>
              <a:pPr algn="ctr">
                <a:spcAft>
                  <a:spcPts val="600"/>
                </a:spcAft>
              </a:pPr>
              <a:r>
                <a:rPr lang="de-CH" sz="1600" dirty="0">
                  <a:sym typeface="Wingdings" panose="05000000000000000000" pitchFamily="2" charset="2"/>
                </a:rPr>
                <a:t>           The </a:t>
              </a:r>
              <a:r>
                <a:rPr lang="de-CH" sz="1600" dirty="0" err="1">
                  <a:sym typeface="Wingdings" panose="05000000000000000000" pitchFamily="2" charset="2"/>
                </a:rPr>
                <a:t>earned</a:t>
              </a:r>
              <a:r>
                <a:rPr lang="de-CH" sz="1600" dirty="0">
                  <a:sym typeface="Wingdings" panose="05000000000000000000" pitchFamily="2" charset="2"/>
                </a:rPr>
                <a:t> and </a:t>
              </a:r>
              <a:r>
                <a:rPr lang="de-CH" sz="1600" dirty="0" err="1">
                  <a:sym typeface="Wingdings" panose="05000000000000000000" pitchFamily="2" charset="2"/>
                </a:rPr>
                <a:t>unearned</a:t>
              </a:r>
              <a:r>
                <a:rPr lang="de-CH" sz="1600" dirty="0">
                  <a:sym typeface="Wingdings" panose="05000000000000000000" pitchFamily="2" charset="2"/>
                </a:rPr>
                <a:t> </a:t>
              </a:r>
              <a:r>
                <a:rPr lang="de-CH" sz="1600" dirty="0" err="1">
                  <a:sym typeface="Wingdings" panose="05000000000000000000" pitchFamily="2" charset="2"/>
                </a:rPr>
                <a:t>risk</a:t>
              </a:r>
              <a:r>
                <a:rPr lang="de-CH" sz="1600" dirty="0">
                  <a:sym typeface="Wingdings" panose="05000000000000000000" pitchFamily="2" charset="2"/>
                </a:rPr>
                <a:t> </a:t>
              </a:r>
              <a:r>
                <a:rPr lang="de-CH" sz="1600" dirty="0" err="1">
                  <a:sym typeface="Wingdings" panose="05000000000000000000" pitchFamily="2" charset="2"/>
                </a:rPr>
                <a:t>premiums</a:t>
              </a:r>
              <a:r>
                <a:rPr lang="de-CH" sz="1600" dirty="0">
                  <a:sym typeface="Wingdings" panose="05000000000000000000" pitchFamily="2" charset="2"/>
                </a:rPr>
                <a:t> </a:t>
              </a:r>
              <a:r>
                <a:rPr lang="de-CH" sz="1600" dirty="0" err="1">
                  <a:sym typeface="Wingdings" panose="05000000000000000000" pitchFamily="2" charset="2"/>
                </a:rPr>
                <a:t>are</a:t>
              </a:r>
              <a:r>
                <a:rPr lang="de-CH" sz="1600" dirty="0">
                  <a:sym typeface="Wingdings" panose="05000000000000000000" pitchFamily="2" charset="2"/>
                </a:rPr>
                <a:t> </a:t>
              </a:r>
              <a:r>
                <a:rPr lang="de-CH" sz="1600" dirty="0" err="1">
                  <a:sym typeface="Wingdings" panose="05000000000000000000" pitchFamily="2" charset="2"/>
                </a:rPr>
                <a:t>related</a:t>
              </a:r>
              <a:r>
                <a:rPr lang="de-CH" sz="1600" dirty="0">
                  <a:sym typeface="Wingdings" panose="05000000000000000000" pitchFamily="2" charset="2"/>
                </a:rPr>
                <a:t> </a:t>
              </a:r>
              <a:r>
                <a:rPr lang="de-CH" sz="1600" dirty="0" err="1">
                  <a:sym typeface="Wingdings" panose="05000000000000000000" pitchFamily="2" charset="2"/>
                </a:rPr>
                <a:t>to</a:t>
              </a:r>
              <a:r>
                <a:rPr lang="de-CH" sz="1600" dirty="0">
                  <a:sym typeface="Wingdings" panose="05000000000000000000" pitchFamily="2" charset="2"/>
                </a:rPr>
                <a:t> </a:t>
              </a:r>
              <a:r>
                <a:rPr lang="de-CH" sz="1600" dirty="0" err="1">
                  <a:sym typeface="Wingdings" panose="05000000000000000000" pitchFamily="2" charset="2"/>
                </a:rPr>
                <a:t>the</a:t>
              </a:r>
              <a:r>
                <a:rPr lang="de-CH" sz="1600" dirty="0">
                  <a:sym typeface="Wingdings" panose="05000000000000000000" pitchFamily="2" charset="2"/>
                </a:rPr>
                <a:t> time-</a:t>
              </a:r>
              <a:r>
                <a:rPr lang="de-CH" sz="1600" dirty="0" err="1">
                  <a:sym typeface="Wingdings" panose="05000000000000000000" pitchFamily="2" charset="2"/>
                </a:rPr>
                <a:t>sliced</a:t>
              </a:r>
              <a:r>
                <a:rPr lang="de-CH" sz="1600" dirty="0">
                  <a:sym typeface="Wingdings" panose="05000000000000000000" pitchFamily="2" charset="2"/>
                </a:rPr>
                <a:t> </a:t>
              </a:r>
              <a:r>
                <a:rPr lang="de-CH" sz="1600" dirty="0" err="1">
                  <a:sym typeface="Wingdings" panose="05000000000000000000" pitchFamily="2" charset="2"/>
                </a:rPr>
                <a:t>cover</a:t>
              </a:r>
              <a:r>
                <a:rPr lang="de-CH" sz="1600" dirty="0">
                  <a:sym typeface="Wingdings" panose="05000000000000000000" pitchFamily="2" charset="2"/>
                </a:rPr>
                <a:t> </a:t>
              </a:r>
              <a:r>
                <a:rPr lang="de-CH" sz="1600" dirty="0" err="1">
                  <a:sym typeface="Wingdings" panose="05000000000000000000" pitchFamily="2" charset="2"/>
                </a:rPr>
                <a:t>profile</a:t>
              </a:r>
              <a:r>
                <a:rPr lang="de-CH" sz="1600" dirty="0">
                  <a:sym typeface="Wingdings" panose="05000000000000000000" pitchFamily="2" charset="2"/>
                </a:rPr>
                <a:t> via </a:t>
              </a:r>
              <a:r>
                <a:rPr lang="de-CH" sz="1600" dirty="0" err="1">
                  <a:sym typeface="Wingdings" panose="05000000000000000000" pitchFamily="2" charset="2"/>
                </a:rPr>
                <a:t>the</a:t>
              </a:r>
              <a:r>
                <a:rPr lang="de-CH" sz="1600" dirty="0">
                  <a:sym typeface="Wingdings" panose="05000000000000000000" pitchFamily="2" charset="2"/>
                </a:rPr>
                <a:t> </a:t>
              </a:r>
              <a:r>
                <a:rPr lang="de-CH" sz="1600" dirty="0" err="1">
                  <a:sym typeface="Wingdings" panose="05000000000000000000" pitchFamily="2" charset="2"/>
                </a:rPr>
                <a:t>specific</a:t>
              </a:r>
              <a:r>
                <a:rPr lang="de-CH" sz="1600" dirty="0">
                  <a:sym typeface="Wingdings" panose="05000000000000000000" pitchFamily="2" charset="2"/>
                </a:rPr>
                <a:t> </a:t>
              </a:r>
              <a:r>
                <a:rPr lang="de-CH" sz="1600" dirty="0" err="1">
                  <a:sym typeface="Wingdings" panose="05000000000000000000" pitchFamily="2" charset="2"/>
                </a:rPr>
                <a:t>risk</a:t>
              </a:r>
              <a:r>
                <a:rPr lang="de-CH" sz="1600" dirty="0">
                  <a:sym typeface="Wingdings" panose="05000000000000000000" pitchFamily="2" charset="2"/>
                </a:rPr>
                <a:t> premium and </a:t>
              </a:r>
              <a:r>
                <a:rPr lang="de-CH" sz="1600" dirty="0" err="1">
                  <a:sym typeface="Wingdings" panose="05000000000000000000" pitchFamily="2" charset="2"/>
                </a:rPr>
                <a:t>ensure</a:t>
              </a:r>
              <a:r>
                <a:rPr lang="de-CH" sz="1600" dirty="0">
                  <a:sym typeface="Wingdings" panose="05000000000000000000" pitchFamily="2" charset="2"/>
                </a:rPr>
                <a:t> </a:t>
              </a:r>
              <a:r>
                <a:rPr lang="de-CH" sz="1600" dirty="0" err="1">
                  <a:sym typeface="Wingdings" panose="05000000000000000000" pitchFamily="2" charset="2"/>
                </a:rPr>
                <a:t>consistency</a:t>
              </a:r>
              <a:r>
                <a:rPr lang="de-CH" sz="1600" dirty="0">
                  <a:sym typeface="Wingdings" panose="05000000000000000000" pitchFamily="2" charset="2"/>
                </a:rPr>
                <a:t> </a:t>
              </a:r>
              <a:r>
                <a:rPr lang="de-CH" sz="1600" dirty="0" err="1">
                  <a:sym typeface="Wingdings" panose="05000000000000000000" pitchFamily="2" charset="2"/>
                </a:rPr>
                <a:t>between</a:t>
              </a:r>
              <a:r>
                <a:rPr lang="de-CH" sz="1600" dirty="0">
                  <a:sym typeface="Wingdings" panose="05000000000000000000" pitchFamily="2" charset="2"/>
                </a:rPr>
                <a:t> premium </a:t>
              </a:r>
              <a:r>
                <a:rPr lang="de-CH" sz="1600" dirty="0" err="1">
                  <a:sym typeface="Wingdings" panose="05000000000000000000" pitchFamily="2" charset="2"/>
                </a:rPr>
                <a:t>calculation</a:t>
              </a:r>
              <a:r>
                <a:rPr lang="de-CH" sz="1600" dirty="0">
                  <a:sym typeface="Wingdings" panose="05000000000000000000" pitchFamily="2" charset="2"/>
                </a:rPr>
                <a:t> and </a:t>
              </a:r>
              <a:r>
                <a:rPr lang="de-CH" sz="1600" dirty="0" err="1">
                  <a:sym typeface="Wingdings" panose="05000000000000000000" pitchFamily="2" charset="2"/>
                </a:rPr>
                <a:t>accrual</a:t>
              </a:r>
              <a:r>
                <a:rPr lang="de-CH" sz="1600" dirty="0">
                  <a:sym typeface="Wingdings" panose="05000000000000000000" pitchFamily="2" charset="2"/>
                </a:rPr>
                <a:t>.</a:t>
              </a:r>
            </a:p>
          </p:txBody>
        </p:sp>
        <p:sp>
          <p:nvSpPr>
            <p:cNvPr id="69" name="Isosceles Triangle 68">
              <a:extLst>
                <a:ext uri="{FF2B5EF4-FFF2-40B4-BE49-F238E27FC236}">
                  <a16:creationId xmlns:a16="http://schemas.microsoft.com/office/drawing/2014/main" id="{C4FE98BD-880B-BE0A-82B8-2966AE07BEAA}"/>
                </a:ext>
              </a:extLst>
            </p:cNvPr>
            <p:cNvSpPr/>
            <p:nvPr/>
          </p:nvSpPr>
          <p:spPr>
            <a:xfrm rot="5400000">
              <a:off x="2020961" y="5696764"/>
              <a:ext cx="572757" cy="590367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90000" rIns="90000" bIns="90000" rtlCol="0" anchor="t" anchorCtr="0"/>
            <a:lstStyle/>
            <a:p>
              <a:pPr algn="l"/>
              <a:endParaRPr lang="de-DE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2079673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diagram of a graph">
            <a:extLst>
              <a:ext uri="{FF2B5EF4-FFF2-40B4-BE49-F238E27FC236}">
                <a16:creationId xmlns:a16="http://schemas.microsoft.com/office/drawing/2014/main" id="{08E2DCDC-9025-E2FB-66B0-06377AC5CC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3393" y="1448810"/>
            <a:ext cx="4127626" cy="309913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C425B57-DF16-22A3-E202-021292C76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1043535"/>
            <a:ext cx="11306175" cy="483831"/>
          </a:xfrm>
        </p:spPr>
        <p:txBody>
          <a:bodyPr/>
          <a:lstStyle/>
          <a:p>
            <a:r>
              <a:rPr lang="de-CH" dirty="0"/>
              <a:t>Pricing Framework </a:t>
            </a:r>
            <a:r>
              <a:rPr lang="de-CH" dirty="0" err="1"/>
              <a:t>for</a:t>
            </a:r>
            <a:r>
              <a:rPr lang="de-CH" dirty="0"/>
              <a:t> </a:t>
            </a:r>
            <a:r>
              <a:rPr lang="de-CH" dirty="0" err="1"/>
              <a:t>Modifications</a:t>
            </a:r>
            <a:endParaRPr lang="de-D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EF002C-CD30-FF27-897E-ADE243463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 October 2024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2A80D6-5709-E7A4-0D6F-72F8A1903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9AB5E-215F-4BC4-9EB7-C8883DA834C0}" type="slidenum">
              <a:rPr lang="en-US" smtClean="0"/>
              <a:pPr/>
              <a:t>17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Inhaltsplatzhalter 2">
                <a:extLst>
                  <a:ext uri="{FF2B5EF4-FFF2-40B4-BE49-F238E27FC236}">
                    <a16:creationId xmlns:a16="http://schemas.microsoft.com/office/drawing/2014/main" id="{2D10DE87-47B4-A96E-0371-595DCFA5628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2912" y="1656231"/>
                <a:ext cx="7360560" cy="2805836"/>
              </a:xfrm>
              <a:prstGeom prst="roundRect">
                <a:avLst/>
              </a:prstGeom>
              <a:solidFill>
                <a:schemeClr val="bg2"/>
              </a:solidFill>
            </p:spPr>
            <p:txBody>
              <a:bodyPr/>
              <a:lstStyle>
                <a:lvl1pPr marL="0" indent="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0" indent="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80000" indent="-18000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buClr>
                    <a:schemeClr val="accent1"/>
                  </a:buClr>
                  <a:buFont typeface="Arial" panose="020B0604020202020204" pitchFamily="34" charset="0"/>
                  <a:buChar char="»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360000" indent="-18000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18000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indent="-2857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de-DE" sz="1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𝐶𝑃</m:t>
                        </m:r>
                      </m:e>
                    </m:acc>
                    <m:d>
                      <m:d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de-CH" sz="1400" dirty="0">
                    <a:sym typeface="Wingdings" panose="05000000000000000000" pitchFamily="2" charset="2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𝐶𝑃</m:t>
                    </m:r>
                    <m:d>
                      <m:dPr>
                        <m:ctrlPr>
                          <a:rPr lang="de-DE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i="1">
                            <a:latin typeface="Cambria Math" panose="02040503050406030204" pitchFamily="18" charset="0"/>
                            <a:ea typeface="PMingLiU" panose="020B0604030504040204" pitchFamily="18" charset="-120"/>
                            <a:cs typeface="Arial" panose="020B0604020202020204" pitchFamily="34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de-CH" sz="1400" dirty="0">
                    <a:sym typeface="Wingdings" panose="05000000000000000000" pitchFamily="2" charset="2"/>
                  </a:rPr>
                  <a:t> are </a:t>
                </a:r>
                <a:r>
                  <a:rPr lang="de-CH" sz="1400" dirty="0" err="1">
                    <a:sym typeface="Wingdings" panose="05000000000000000000" pitchFamily="2" charset="2"/>
                  </a:rPr>
                  <a:t>the</a:t>
                </a:r>
                <a:r>
                  <a:rPr lang="de-CH" sz="1400" dirty="0">
                    <a:sym typeface="Wingdings" panose="05000000000000000000" pitchFamily="2" charset="2"/>
                  </a:rPr>
                  <a:t> </a:t>
                </a:r>
                <a:r>
                  <a:rPr lang="de-CH" sz="1400" dirty="0" err="1">
                    <a:sym typeface="Wingdings" panose="05000000000000000000" pitchFamily="2" charset="2"/>
                  </a:rPr>
                  <a:t>new</a:t>
                </a:r>
                <a:r>
                  <a:rPr lang="de-CH" sz="1400" dirty="0">
                    <a:sym typeface="Wingdings" panose="05000000000000000000" pitchFamily="2" charset="2"/>
                  </a:rPr>
                  <a:t> and </a:t>
                </a:r>
                <a:r>
                  <a:rPr lang="de-CH" sz="1400" dirty="0" err="1">
                    <a:sym typeface="Wingdings" panose="05000000000000000000" pitchFamily="2" charset="2"/>
                  </a:rPr>
                  <a:t>old</a:t>
                </a:r>
                <a:r>
                  <a:rPr lang="de-CH" sz="1400" dirty="0">
                    <a:sym typeface="Wingdings" panose="05000000000000000000" pitchFamily="2" charset="2"/>
                  </a:rPr>
                  <a:t> </a:t>
                </a:r>
                <a:r>
                  <a:rPr lang="de-CH" sz="1400" dirty="0" err="1">
                    <a:sym typeface="Wingdings" panose="05000000000000000000" pitchFamily="2" charset="2"/>
                  </a:rPr>
                  <a:t>cover</a:t>
                </a:r>
                <a:r>
                  <a:rPr lang="de-CH" sz="1400" dirty="0">
                    <a:sym typeface="Wingdings" panose="05000000000000000000" pitchFamily="2" charset="2"/>
                  </a:rPr>
                  <a:t> </a:t>
                </a:r>
                <a:r>
                  <a:rPr lang="de-CH" sz="1400" dirty="0" err="1">
                    <a:sym typeface="Wingdings" panose="05000000000000000000" pitchFamily="2" charset="2"/>
                  </a:rPr>
                  <a:t>profiles</a:t>
                </a:r>
                <a:r>
                  <a:rPr lang="de-CH" sz="1400" dirty="0">
                    <a:sym typeface="Wingdings" panose="05000000000000000000" pitchFamily="2" charset="2"/>
                  </a:rPr>
                  <a:t> </a:t>
                </a:r>
                <a:r>
                  <a:rPr lang="de-CH" sz="1400" dirty="0" err="1">
                    <a:sym typeface="Wingdings" panose="05000000000000000000" pitchFamily="2" charset="2"/>
                  </a:rPr>
                  <a:t>corresponding</a:t>
                </a:r>
                <a:r>
                  <a:rPr lang="de-CH" sz="1400" dirty="0">
                    <a:sym typeface="Wingdings" panose="05000000000000000000" pitchFamily="2" charset="2"/>
                  </a:rPr>
                  <a:t> </a:t>
                </a:r>
                <a:r>
                  <a:rPr lang="de-CH" sz="1400" dirty="0" err="1">
                    <a:sym typeface="Wingdings" panose="05000000000000000000" pitchFamily="2" charset="2"/>
                  </a:rPr>
                  <a:t>to</a:t>
                </a:r>
                <a:r>
                  <a:rPr lang="de-CH" sz="1400" dirty="0">
                    <a:sym typeface="Wingdings" panose="05000000000000000000" pitchFamily="2" charset="2"/>
                  </a:rPr>
                  <a:t> </a:t>
                </a:r>
                <a:r>
                  <a:rPr lang="de-CH" sz="1400" dirty="0" err="1">
                    <a:sym typeface="Wingdings" panose="05000000000000000000" pitchFamily="2" charset="2"/>
                  </a:rPr>
                  <a:t>the</a:t>
                </a:r>
                <a:r>
                  <a:rPr lang="de-CH" sz="1400" dirty="0">
                    <a:sym typeface="Wingdings" panose="05000000000000000000" pitchFamily="2" charset="2"/>
                  </a:rPr>
                  <a:t> initial and </a:t>
                </a:r>
                <a:r>
                  <a:rPr lang="de-CH" sz="1400" dirty="0" err="1">
                    <a:sym typeface="Wingdings" panose="05000000000000000000" pitchFamily="2" charset="2"/>
                  </a:rPr>
                  <a:t>modified</a:t>
                </a:r>
                <a:r>
                  <a:rPr lang="de-CH" sz="1400" dirty="0">
                    <a:sym typeface="Wingdings" panose="05000000000000000000" pitchFamily="2" charset="2"/>
                  </a:rPr>
                  <a:t> </a:t>
                </a:r>
                <a:r>
                  <a:rPr lang="de-CH" sz="1400" dirty="0" err="1">
                    <a:sym typeface="Wingdings" panose="05000000000000000000" pitchFamily="2" charset="2"/>
                  </a:rPr>
                  <a:t>transaction</a:t>
                </a:r>
                <a:r>
                  <a:rPr lang="de-CH" sz="1400" dirty="0">
                    <a:sym typeface="Wingdings" panose="05000000000000000000" pitchFamily="2" charset="2"/>
                  </a:rPr>
                  <a:t>, </a:t>
                </a:r>
                <a:r>
                  <a:rPr lang="de-CH" sz="1400" dirty="0" err="1">
                    <a:sym typeface="Wingdings" panose="05000000000000000000" pitchFamily="2" charset="2"/>
                  </a:rPr>
                  <a:t>respectively</a:t>
                </a:r>
                <a:endParaRPr lang="de-CH" sz="1400" dirty="0">
                  <a:sym typeface="Wingdings" panose="05000000000000000000" pitchFamily="2" charset="2"/>
                </a:endParaRPr>
              </a:p>
              <a:p>
                <a:pPr marL="285750" indent="-2857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de-CH" sz="1400" dirty="0" err="1">
                    <a:sym typeface="Wingdings" panose="05000000000000000000" pitchFamily="2" charset="2"/>
                  </a:rPr>
                  <a:t>Let</a:t>
                </a:r>
                <a:r>
                  <a:rPr lang="de-CH" sz="1400" dirty="0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de-DE" sz="1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GB" sz="1400">
                        <a:latin typeface="Cambria Math" panose="02040503050406030204" pitchFamily="18" charset="0"/>
                        <a:ea typeface="PMingLiU" panose="02020500000000000000" pitchFamily="18" charset="-120"/>
                        <a:cs typeface="Arial" panose="020B0604020202020204" pitchFamily="34" charset="0"/>
                      </a:rPr>
                      <m:t>(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de-D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i="1">
                            <a:latin typeface="Cambria Math" panose="02040503050406030204" pitchFamily="18" charset="0"/>
                            <a:ea typeface="PMingLiU" panose="02020500000000000000" pitchFamily="18" charset="-120"/>
                            <a:cs typeface="Arial" panose="020B0604020202020204" pitchFamily="34" charset="0"/>
                          </a:rPr>
                          <m:t>𝑡</m:t>
                        </m:r>
                      </m:e>
                      <m:sub>
                        <m:r>
                          <a:rPr lang="en-GB" sz="1400" i="1">
                            <a:latin typeface="Cambria Math" panose="02040503050406030204" pitchFamily="18" charset="0"/>
                            <a:ea typeface="PMingLiU" panose="02020500000000000000" pitchFamily="18" charset="-120"/>
                            <a:cs typeface="Arial" panose="020B0604020202020204" pitchFamily="34" charset="0"/>
                          </a:rPr>
                          <m:t>𝑚</m:t>
                        </m:r>
                      </m:sub>
                    </m:sSub>
                    <m:r>
                      <a:rPr lang="en-GB" sz="1400">
                        <a:latin typeface="Cambria Math" panose="02040503050406030204" pitchFamily="18" charset="0"/>
                        <a:ea typeface="PMingLiU" panose="02020500000000000000" pitchFamily="18" charset="-120"/>
                        <a:cs typeface="Arial" panose="020B0604020202020204" pitchFamily="34" charset="0"/>
                      </a:rPr>
                      <m:t>)</m:t>
                    </m:r>
                    <m:r>
                      <a:rPr lang="en-GB" sz="1400">
                        <a:latin typeface="Cambria Math" panose="02040503050406030204" pitchFamily="18" charset="0"/>
                        <a:ea typeface="PMingLiU" panose="020B0604030504040204" pitchFamily="18" charset="-120"/>
                        <a:cs typeface="Arial" panose="020B0604020202020204" pitchFamily="34" charset="0"/>
                      </a:rPr>
                      <m:t>=</m:t>
                    </m:r>
                    <m:nary>
                      <m:naryPr>
                        <m:limLoc m:val="subSup"/>
                        <m:ctrlPr>
                          <a:rPr lang="de-DE" sz="1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GB" sz="1400" i="1">
                            <a:latin typeface="Cambria Math" panose="02040503050406030204" pitchFamily="18" charset="0"/>
                            <a:ea typeface="PMingLiU" panose="020B0604030504040204" pitchFamily="18" charset="-120"/>
                            <a:cs typeface="Arial" panose="020B0604020202020204" pitchFamily="34" charset="0"/>
                          </a:rPr>
                          <m:t>𝑡</m:t>
                        </m:r>
                        <m:r>
                          <a:rPr lang="en-GB" sz="1400">
                            <a:latin typeface="Cambria Math" panose="02040503050406030204" pitchFamily="18" charset="0"/>
                            <a:ea typeface="PMingLiU" panose="020B0604030504040204" pitchFamily="18" charset="-120"/>
                            <a:cs typeface="Arial" panose="020B0604020202020204" pitchFamily="34" charset="0"/>
                          </a:rPr>
                          <m:t>=</m:t>
                        </m:r>
                        <m:sSub>
                          <m:sSubPr>
                            <m:ctrlPr>
                              <a:rPr lang="de-DE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400" i="1">
                                <a:latin typeface="Cambria Math" panose="02040503050406030204" pitchFamily="18" charset="0"/>
                                <a:ea typeface="PMingLiU" panose="02020500000000000000" pitchFamily="18" charset="-120"/>
                                <a:cs typeface="Arial" panose="020B0604020202020204" pitchFamily="34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GB" sz="1400" i="1">
                                <a:latin typeface="Cambria Math" panose="02040503050406030204" pitchFamily="18" charset="0"/>
                                <a:ea typeface="PMingLiU" panose="02020500000000000000" pitchFamily="18" charset="-120"/>
                                <a:cs typeface="Arial" panose="020B0604020202020204" pitchFamily="34" charset="0"/>
                              </a:rPr>
                              <m:t>𝑚</m:t>
                            </m:r>
                          </m:sub>
                        </m:sSub>
                      </m:sub>
                      <m:sup>
                        <m:r>
                          <a:rPr lang="en-GB" sz="1400">
                            <a:latin typeface="Cambria Math" panose="02040503050406030204" pitchFamily="18" charset="0"/>
                            <a:ea typeface="PMingLiU" panose="020B0604030504040204" pitchFamily="18" charset="-120"/>
                            <a:cs typeface="Arial" panose="020B0604020202020204" pitchFamily="34" charset="0"/>
                          </a:rPr>
                          <m:t>∞</m:t>
                        </m:r>
                      </m:sup>
                      <m:e>
                        <m:r>
                          <a:rPr lang="en-GB" sz="1400">
                            <a:latin typeface="Cambria Math" panose="02040503050406030204" pitchFamily="18" charset="0"/>
                            <a:ea typeface="PMingLiU" panose="020B0604030504040204" pitchFamily="18" charset="-120"/>
                            <a:cs typeface="Arial" panose="020B0604020202020204" pitchFamily="34" charset="0"/>
                          </a:rPr>
                          <m:t> </m:t>
                        </m:r>
                      </m:e>
                    </m:nary>
                    <m:acc>
                      <m:accPr>
                        <m:chr m:val="̃"/>
                        <m:ctrlPr>
                          <a:rPr lang="de-DE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𝐶𝑃</m:t>
                        </m:r>
                      </m:e>
                    </m:acc>
                    <m:d>
                      <m:dPr>
                        <m:ctrlPr>
                          <a:rPr lang="de-DE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i="1">
                            <a:latin typeface="Cambria Math" panose="02040503050406030204" pitchFamily="18" charset="0"/>
                            <a:ea typeface="PMingLiU" panose="020B0604030504040204" pitchFamily="18" charset="-120"/>
                            <a:cs typeface="Arial" panose="020B0604020202020204" pitchFamily="34" charset="0"/>
                          </a:rPr>
                          <m:t>𝑡</m:t>
                        </m:r>
                      </m:e>
                    </m:d>
                    <m:r>
                      <a:rPr lang="en-GB" sz="1400">
                        <a:latin typeface="Cambria Math" panose="02040503050406030204" pitchFamily="18" charset="0"/>
                        <a:ea typeface="PMingLiU" panose="020B0604030504040204" pitchFamily="18" charset="-120"/>
                        <a:cs typeface="Arial" panose="020B0604020202020204" pitchFamily="34" charset="0"/>
                      </a:rPr>
                      <m:t>∙</m:t>
                    </m:r>
                    <m:r>
                      <a:rPr lang="en-GB" sz="1400" i="1">
                        <a:latin typeface="Cambria Math" panose="02040503050406030204" pitchFamily="18" charset="0"/>
                        <a:ea typeface="PMingLiU" panose="020B0604030504040204" pitchFamily="18" charset="-120"/>
                        <a:cs typeface="Arial" panose="020B0604020202020204" pitchFamily="34" charset="0"/>
                      </a:rPr>
                      <m:t>𝑑𝑡</m:t>
                    </m:r>
                  </m:oMath>
                </a14:m>
                <a:r>
                  <a:rPr lang="de-CH" sz="1400" dirty="0">
                    <a:sym typeface="Wingdings" panose="05000000000000000000" pitchFamily="2" charset="2"/>
                  </a:rPr>
                  <a:t>  and 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sz="1400">
                        <a:latin typeface="Cambria Math" panose="02040503050406030204" pitchFamily="18" charset="0"/>
                        <a:ea typeface="PMingLiU" panose="02020500000000000000" pitchFamily="18" charset="-120"/>
                        <a:cs typeface="Arial" panose="020B0604020202020204" pitchFamily="34" charset="0"/>
                      </a:rPr>
                      <m:t>(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de-D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i="1">
                            <a:latin typeface="Cambria Math" panose="02040503050406030204" pitchFamily="18" charset="0"/>
                            <a:ea typeface="PMingLiU" panose="02020500000000000000" pitchFamily="18" charset="-120"/>
                            <a:cs typeface="Arial" panose="020B0604020202020204" pitchFamily="34" charset="0"/>
                          </a:rPr>
                          <m:t>𝑡</m:t>
                        </m:r>
                      </m:e>
                      <m:sub>
                        <m:r>
                          <a:rPr lang="en-GB" sz="1400" i="1">
                            <a:latin typeface="Cambria Math" panose="02040503050406030204" pitchFamily="18" charset="0"/>
                            <a:ea typeface="PMingLiU" panose="02020500000000000000" pitchFamily="18" charset="-120"/>
                            <a:cs typeface="Arial" panose="020B0604020202020204" pitchFamily="34" charset="0"/>
                          </a:rPr>
                          <m:t>𝑚</m:t>
                        </m:r>
                      </m:sub>
                    </m:sSub>
                    <m:r>
                      <a:rPr lang="en-GB" sz="1400">
                        <a:latin typeface="Cambria Math" panose="02040503050406030204" pitchFamily="18" charset="0"/>
                        <a:ea typeface="PMingLiU" panose="02020500000000000000" pitchFamily="18" charset="-120"/>
                        <a:cs typeface="Arial" panose="020B0604020202020204" pitchFamily="34" charset="0"/>
                      </a:rPr>
                      <m:t>)</m:t>
                    </m:r>
                    <m:r>
                      <a:rPr lang="en-GB" sz="1400">
                        <a:latin typeface="Cambria Math" panose="02040503050406030204" pitchFamily="18" charset="0"/>
                        <a:ea typeface="PMingLiU" panose="020B0604030504040204" pitchFamily="18" charset="-120"/>
                        <a:cs typeface="Arial" panose="020B0604020202020204" pitchFamily="34" charset="0"/>
                      </a:rPr>
                      <m:t>=</m:t>
                    </m:r>
                    <m:nary>
                      <m:naryPr>
                        <m:limLoc m:val="subSup"/>
                        <m:ctrlPr>
                          <a:rPr lang="de-DE" sz="1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GB" sz="1400" i="1">
                            <a:latin typeface="Cambria Math" panose="02040503050406030204" pitchFamily="18" charset="0"/>
                            <a:ea typeface="PMingLiU" panose="020B0604030504040204" pitchFamily="18" charset="-120"/>
                            <a:cs typeface="Arial" panose="020B0604020202020204" pitchFamily="34" charset="0"/>
                          </a:rPr>
                          <m:t>𝑡</m:t>
                        </m:r>
                        <m:r>
                          <a:rPr lang="en-GB" sz="1400">
                            <a:latin typeface="Cambria Math" panose="02040503050406030204" pitchFamily="18" charset="0"/>
                            <a:ea typeface="PMingLiU" panose="020B0604030504040204" pitchFamily="18" charset="-120"/>
                            <a:cs typeface="Arial" panose="020B0604020202020204" pitchFamily="34" charset="0"/>
                          </a:rPr>
                          <m:t>=</m:t>
                        </m:r>
                        <m:sSub>
                          <m:sSubPr>
                            <m:ctrlPr>
                              <a:rPr lang="de-DE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400" i="1">
                                <a:latin typeface="Cambria Math" panose="02040503050406030204" pitchFamily="18" charset="0"/>
                                <a:ea typeface="PMingLiU" panose="02020500000000000000" pitchFamily="18" charset="-120"/>
                                <a:cs typeface="Arial" panose="020B0604020202020204" pitchFamily="34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GB" sz="1400" i="1">
                                <a:latin typeface="Cambria Math" panose="02040503050406030204" pitchFamily="18" charset="0"/>
                                <a:ea typeface="PMingLiU" panose="02020500000000000000" pitchFamily="18" charset="-120"/>
                                <a:cs typeface="Arial" panose="020B0604020202020204" pitchFamily="34" charset="0"/>
                              </a:rPr>
                              <m:t>𝑚</m:t>
                            </m:r>
                          </m:sub>
                        </m:sSub>
                      </m:sub>
                      <m:sup>
                        <m:r>
                          <a:rPr lang="en-GB" sz="1400">
                            <a:latin typeface="Cambria Math" panose="02040503050406030204" pitchFamily="18" charset="0"/>
                            <a:ea typeface="PMingLiU" panose="020B0604030504040204" pitchFamily="18" charset="-120"/>
                            <a:cs typeface="Arial" panose="020B0604020202020204" pitchFamily="34" charset="0"/>
                          </a:rPr>
                          <m:t>∞</m:t>
                        </m:r>
                      </m:sup>
                      <m:e>
                        <m:r>
                          <a:rPr lang="en-GB" sz="1400">
                            <a:latin typeface="Cambria Math" panose="02040503050406030204" pitchFamily="18" charset="0"/>
                            <a:ea typeface="PMingLiU" panose="020B0604030504040204" pitchFamily="18" charset="-120"/>
                            <a:cs typeface="Arial" panose="020B0604020202020204" pitchFamily="34" charset="0"/>
                          </a:rPr>
                          <m:t> </m:t>
                        </m:r>
                      </m:e>
                    </m:nary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𝐶𝑃</m:t>
                    </m:r>
                    <m:d>
                      <m:dPr>
                        <m:ctrlPr>
                          <a:rPr lang="de-DE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i="1">
                            <a:latin typeface="Cambria Math" panose="02040503050406030204" pitchFamily="18" charset="0"/>
                            <a:ea typeface="PMingLiU" panose="020B0604030504040204" pitchFamily="18" charset="-120"/>
                            <a:cs typeface="Arial" panose="020B0604020202020204" pitchFamily="34" charset="0"/>
                          </a:rPr>
                          <m:t>𝑡</m:t>
                        </m:r>
                      </m:e>
                    </m:d>
                    <m:r>
                      <a:rPr lang="en-GB" sz="1400">
                        <a:latin typeface="Cambria Math" panose="02040503050406030204" pitchFamily="18" charset="0"/>
                        <a:ea typeface="PMingLiU" panose="020B0604030504040204" pitchFamily="18" charset="-120"/>
                        <a:cs typeface="Arial" panose="020B0604020202020204" pitchFamily="34" charset="0"/>
                      </a:rPr>
                      <m:t>∙</m:t>
                    </m:r>
                    <m:r>
                      <a:rPr lang="en-GB" sz="1400" i="1">
                        <a:latin typeface="Cambria Math" panose="02040503050406030204" pitchFamily="18" charset="0"/>
                        <a:ea typeface="PMingLiU" panose="020B0604030504040204" pitchFamily="18" charset="-120"/>
                        <a:cs typeface="Arial" panose="020B0604020202020204" pitchFamily="34" charset="0"/>
                      </a:rPr>
                      <m:t>𝑑𝑡</m:t>
                    </m:r>
                  </m:oMath>
                </a14:m>
                <a:endParaRPr lang="de-CH" sz="1400" dirty="0">
                  <a:sym typeface="Wingdings" panose="05000000000000000000" pitchFamily="2" charset="2"/>
                </a:endParaRPr>
              </a:p>
              <a:p>
                <a:pPr marL="285750" indent="-2857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de-CH" sz="1400" dirty="0">
                    <a:sym typeface="Wingdings" panose="05000000000000000000" pitchFamily="2" charset="2"/>
                  </a:rPr>
                  <a:t>The </a:t>
                </a:r>
                <a:r>
                  <a:rPr lang="de-CH" sz="1400" dirty="0" err="1">
                    <a:sym typeface="Wingdings" panose="05000000000000000000" pitchFamily="2" charset="2"/>
                  </a:rPr>
                  <a:t>change</a:t>
                </a:r>
                <a:r>
                  <a:rPr lang="de-CH" sz="1400" dirty="0">
                    <a:sym typeface="Wingdings" panose="05000000000000000000" pitchFamily="2" charset="2"/>
                  </a:rPr>
                  <a:t> in </a:t>
                </a:r>
                <a:r>
                  <a:rPr lang="de-CH" sz="1400" dirty="0" err="1">
                    <a:sym typeface="Wingdings" panose="05000000000000000000" pitchFamily="2" charset="2"/>
                  </a:rPr>
                  <a:t>risk</a:t>
                </a:r>
                <a:r>
                  <a:rPr lang="de-CH" sz="1400" dirty="0">
                    <a:sym typeface="Wingdings" panose="05000000000000000000" pitchFamily="2" charset="2"/>
                  </a:rPr>
                  <a:t> premium </a:t>
                </a:r>
                <a:r>
                  <a:rPr lang="de-CH" sz="1400" dirty="0" err="1">
                    <a:sym typeface="Wingdings" panose="05000000000000000000" pitchFamily="2" charset="2"/>
                  </a:rPr>
                  <a:t>is</a:t>
                </a:r>
                <a:r>
                  <a:rPr lang="de-CH" sz="1400" dirty="0">
                    <a:sym typeface="Wingdings" panose="05000000000000000000" pitchFamily="2" charset="2"/>
                  </a:rPr>
                  <a:t> </a:t>
                </a:r>
                <a:r>
                  <a:rPr lang="de-CH" sz="1400" dirty="0" err="1">
                    <a:sym typeface="Wingdings" panose="05000000000000000000" pitchFamily="2" charset="2"/>
                  </a:rPr>
                  <a:t>the</a:t>
                </a:r>
                <a:r>
                  <a:rPr lang="de-CH" sz="1400" dirty="0">
                    <a:sym typeface="Wingdings" panose="05000000000000000000" pitchFamily="2" charset="2"/>
                  </a:rPr>
                  <a:t> </a:t>
                </a:r>
                <a:r>
                  <a:rPr lang="de-CH" sz="1400" dirty="0" err="1">
                    <a:sym typeface="Wingdings" panose="05000000000000000000" pitchFamily="2" charset="2"/>
                  </a:rPr>
                  <a:t>difference</a:t>
                </a:r>
                <a:r>
                  <a:rPr lang="de-CH" sz="1400" dirty="0">
                    <a:sym typeface="Wingdings" panose="05000000000000000000" pitchFamily="2" charset="2"/>
                  </a:rPr>
                  <a:t> in </a:t>
                </a:r>
                <a:r>
                  <a:rPr lang="de-CH" sz="1400" dirty="0" err="1">
                    <a:sym typeface="Wingdings" panose="05000000000000000000" pitchFamily="2" charset="2"/>
                  </a:rPr>
                  <a:t>unearned</a:t>
                </a:r>
                <a:r>
                  <a:rPr lang="de-CH" sz="1400" dirty="0">
                    <a:sym typeface="Wingdings" panose="05000000000000000000" pitchFamily="2" charset="2"/>
                  </a:rPr>
                  <a:t> </a:t>
                </a:r>
                <a:r>
                  <a:rPr lang="de-CH" sz="1400" dirty="0" err="1">
                    <a:sym typeface="Wingdings" panose="05000000000000000000" pitchFamily="2" charset="2"/>
                  </a:rPr>
                  <a:t>risk</a:t>
                </a:r>
                <a:r>
                  <a:rPr lang="de-CH" sz="1400" dirty="0">
                    <a:sym typeface="Wingdings" panose="05000000000000000000" pitchFamily="2" charset="2"/>
                  </a:rPr>
                  <a:t> </a:t>
                </a:r>
                <a:r>
                  <a:rPr lang="de-CH" sz="1400" dirty="0" err="1">
                    <a:sym typeface="Wingdings" panose="05000000000000000000" pitchFamily="2" charset="2"/>
                  </a:rPr>
                  <a:t>premiums</a:t>
                </a:r>
                <a:r>
                  <a:rPr lang="de-CH" sz="1400" dirty="0">
                    <a:sym typeface="Wingdings" panose="05000000000000000000" pitchFamily="2" charset="2"/>
                  </a:rPr>
                  <a:t> </a:t>
                </a:r>
                <a:r>
                  <a:rPr lang="de-CH" sz="1400" dirty="0" err="1">
                    <a:sym typeface="Wingdings" panose="05000000000000000000" pitchFamily="2" charset="2"/>
                  </a:rPr>
                  <a:t>counting</a:t>
                </a:r>
                <a:r>
                  <a:rPr lang="de-CH" sz="1400" dirty="0">
                    <a:sym typeface="Wingdings" panose="05000000000000000000" pitchFamily="2" charset="2"/>
                  </a:rPr>
                  <a:t> </a:t>
                </a:r>
                <a:r>
                  <a:rPr lang="de-CH" sz="1400" dirty="0" err="1">
                    <a:sym typeface="Wingdings" panose="05000000000000000000" pitchFamily="2" charset="2"/>
                  </a:rPr>
                  <a:t>from</a:t>
                </a:r>
                <a:r>
                  <a:rPr lang="de-CH" sz="1400" dirty="0">
                    <a:sym typeface="Wingdings" panose="05000000000000000000" pitchFamily="2" charset="2"/>
                  </a:rPr>
                  <a:t> </a:t>
                </a:r>
                <a:r>
                  <a:rPr lang="de-CH" sz="1400" dirty="0" err="1">
                    <a:sym typeface="Wingdings" panose="05000000000000000000" pitchFamily="2" charset="2"/>
                  </a:rPr>
                  <a:t>the</a:t>
                </a:r>
                <a:r>
                  <a:rPr lang="de-CH" sz="1400" dirty="0">
                    <a:sym typeface="Wingdings" panose="05000000000000000000" pitchFamily="2" charset="2"/>
                  </a:rPr>
                  <a:t> date </a:t>
                </a:r>
                <a:r>
                  <a:rPr lang="de-CH" sz="1400" dirty="0" err="1">
                    <a:sym typeface="Wingdings" panose="05000000000000000000" pitchFamily="2" charset="2"/>
                  </a:rPr>
                  <a:t>of</a:t>
                </a:r>
                <a:r>
                  <a:rPr lang="de-CH" sz="1400" dirty="0">
                    <a:sym typeface="Wingdings" panose="05000000000000000000" pitchFamily="2" charset="2"/>
                  </a:rPr>
                  <a:t> </a:t>
                </a:r>
                <a:r>
                  <a:rPr lang="de-CH" sz="1400" dirty="0" err="1">
                    <a:sym typeface="Wingdings" panose="05000000000000000000" pitchFamily="2" charset="2"/>
                  </a:rPr>
                  <a:t>modification</a:t>
                </a:r>
                <a:r>
                  <a:rPr lang="de-CH" sz="1400" dirty="0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i="1">
                            <a:latin typeface="Cambria Math" panose="02040503050406030204" pitchFamily="18" charset="0"/>
                            <a:ea typeface="PMingLiU" panose="02020500000000000000" pitchFamily="18" charset="-120"/>
                            <a:cs typeface="Arial" panose="020B0604020202020204" pitchFamily="34" charset="0"/>
                          </a:rPr>
                          <m:t>𝑡</m:t>
                        </m:r>
                      </m:e>
                      <m:sub>
                        <m:r>
                          <a:rPr lang="en-GB" sz="1400" i="1">
                            <a:latin typeface="Cambria Math" panose="02040503050406030204" pitchFamily="18" charset="0"/>
                            <a:ea typeface="PMingLiU" panose="02020500000000000000" pitchFamily="18" charset="-120"/>
                            <a:cs typeface="Arial" panose="020B0604020202020204" pitchFamily="34" charset="0"/>
                          </a:rPr>
                          <m:t>𝑚</m:t>
                        </m:r>
                      </m:sub>
                    </m:sSub>
                  </m:oMath>
                </a14:m>
                <a:endParaRPr lang="de-CH" sz="1400" dirty="0">
                  <a:sym typeface="Wingdings" panose="05000000000000000000" pitchFamily="2" charset="2"/>
                </a:endParaRPr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smtClean="0">
                          <a:effectLst/>
                          <a:latin typeface="Cambria Math" panose="02040503050406030204" pitchFamily="18" charset="0"/>
                          <a:ea typeface="PMingLiU" panose="02020500000000000000" pitchFamily="18" charset="-120"/>
                          <a:cs typeface="Arial" panose="020B0604020202020204" pitchFamily="34" charset="0"/>
                        </a:rPr>
                        <m:t>∆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PMingLiU" panose="02020500000000000000" pitchFamily="18" charset="-120"/>
                          <a:cs typeface="Arial" panose="020B0604020202020204" pitchFamily="34" charset="0"/>
                        </a:rPr>
                        <m:t>𝑅𝑃</m:t>
                      </m:r>
                      <m:r>
                        <a:rPr lang="en-US" sz="1400" b="0" i="0" smtClean="0">
                          <a:effectLst/>
                          <a:latin typeface="Cambria Math" panose="02040503050406030204" pitchFamily="18" charset="0"/>
                          <a:ea typeface="PMingLiU" panose="02020500000000000000" pitchFamily="18" charset="-120"/>
                          <a:cs typeface="Arial" panose="020B0604020202020204" pitchFamily="34" charset="0"/>
                        </a:rPr>
                        <m:t>=</m:t>
                      </m:r>
                      <m:acc>
                        <m:accPr>
                          <m:chr m:val="̃"/>
                          <m:ctrlPr>
                            <a:rPr lang="de-DE" sz="1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𝑅𝑃</m:t>
                          </m:r>
                        </m:e>
                      </m:acc>
                      <m:r>
                        <a:rPr lang="en-US" sz="1400" i="1">
                          <a:latin typeface="Cambria Math" panose="02040503050406030204" pitchFamily="18" charset="0"/>
                          <a:ea typeface="PMingLiU" panose="02020500000000000000" pitchFamily="18" charset="-120"/>
                          <a:cs typeface="Arial" panose="020B0604020202020204" pitchFamily="34" charset="0"/>
                        </a:rPr>
                        <m:t>−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𝑅𝑃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ctrlPr>
                            <a:rPr lang="de-DE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  <a:ea typeface="PMingLiU" panose="020B0604030504040204" pitchFamily="18" charset="-120"/>
                              <a:cs typeface="Arial" panose="020B0604020202020204" pitchFamily="34" charset="0"/>
                            </a:rPr>
                            <m:t>𝑡</m:t>
                          </m:r>
                          <m:r>
                            <a:rPr lang="en-GB" sz="1400">
                              <a:latin typeface="Cambria Math" panose="02040503050406030204" pitchFamily="18" charset="0"/>
                              <a:ea typeface="PMingLiU" panose="020B0604030504040204" pitchFamily="18" charset="-120"/>
                              <a:cs typeface="Arial" panose="020B0604020202020204" pitchFamily="34" charset="0"/>
                            </a:rPr>
                            <m:t>=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400">
                              <a:latin typeface="Cambria Math" panose="02040503050406030204" pitchFamily="18" charset="0"/>
                              <a:ea typeface="PMingLiU" panose="020B0604030504040204" pitchFamily="18" charset="-120"/>
                              <a:cs typeface="Arial" panose="020B0604020202020204" pitchFamily="34" charset="0"/>
                            </a:rPr>
                            <m:t>∞</m:t>
                          </m:r>
                        </m:sub>
                        <m:sup>
                          <m:r>
                            <a:rPr lang="en-GB" sz="1400">
                              <a:latin typeface="Cambria Math" panose="02040503050406030204" pitchFamily="18" charset="0"/>
                              <a:ea typeface="PMingLiU" panose="020B0604030504040204" pitchFamily="18" charset="-120"/>
                              <a:cs typeface="Arial" panose="020B0604020202020204" pitchFamily="34" charset="0"/>
                            </a:rPr>
                            <m:t>∞</m:t>
                          </m:r>
                        </m:sup>
                        <m:e>
                          <m:r>
                            <a:rPr lang="en-GB" sz="1400">
                              <a:latin typeface="Cambria Math" panose="02040503050406030204" pitchFamily="18" charset="0"/>
                              <a:ea typeface="PMingLiU" panose="020B0604030504040204" pitchFamily="18" charset="-12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PMingLiU" panose="020B0604030504040204" pitchFamily="18" charset="-120"/>
                              <a:cs typeface="Arial" panose="020B0604020202020204" pitchFamily="34" charset="0"/>
                            </a:rPr>
                            <m:t>𝑆𝑅𝑃</m:t>
                          </m:r>
                          <m:r>
                            <a:rPr lang="en-GB" sz="1400">
                              <a:latin typeface="Cambria Math" panose="02040503050406030204" pitchFamily="18" charset="0"/>
                              <a:ea typeface="PMingLiU" panose="020B0604030504040204" pitchFamily="18" charset="-120"/>
                              <a:cs typeface="Arial" panose="020B0604020202020204" pitchFamily="34" charset="0"/>
                            </a:rPr>
                            <m:t>∙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1400" i="1">
                                  <a:latin typeface="Cambria Math" panose="02040503050406030204" pitchFamily="18" charset="0"/>
                                  <a:ea typeface="PMingLiU" panose="020B0604030504040204" pitchFamily="18" charset="-12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̃"/>
                                  <m:ctrlPr>
                                    <a:rPr lang="de-DE" sz="1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𝐶𝑃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de-DE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  <a:ea typeface="PMingLiU" panose="020B0604030504040204" pitchFamily="18" charset="-120"/>
                                      <a:cs typeface="Arial" panose="020B0604020202020204" pitchFamily="34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PMingLiU" panose="020B0604030504040204" pitchFamily="18" charset="-12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𝐶𝑃</m:t>
                              </m:r>
                              <m:d>
                                <m:dPr>
                                  <m:ctrlPr>
                                    <a:rPr lang="de-DE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  <a:ea typeface="PMingLiU" panose="020B0604030504040204" pitchFamily="18" charset="-120"/>
                                      <a:cs typeface="Arial" panose="020B0604020202020204" pitchFamily="34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  <m:r>
                            <a:rPr lang="en-GB" sz="1400">
                              <a:latin typeface="Cambria Math" panose="02040503050406030204" pitchFamily="18" charset="0"/>
                              <a:ea typeface="PMingLiU" panose="020B0604030504040204" pitchFamily="18" charset="-120"/>
                              <a:cs typeface="Arial" panose="020B0604020202020204" pitchFamily="34" charset="0"/>
                            </a:rPr>
                            <m:t>∙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  <a:ea typeface="PMingLiU" panose="020B0604030504040204" pitchFamily="18" charset="-120"/>
                              <a:cs typeface="Arial" panose="020B0604020202020204" pitchFamily="34" charset="0"/>
                            </a:rPr>
                            <m:t>𝑑𝑡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PMingLiU" panose="020B0604030504040204" pitchFamily="18" charset="-120"/>
                              <a:cs typeface="Arial" panose="020B0604020202020204" pitchFamily="34" charset="0"/>
                            </a:rPr>
                            <m:t> </m:t>
                          </m:r>
                        </m:e>
                      </m:nary>
                      <m:r>
                        <a:rPr lang="en-US" sz="1400" b="0" i="1" smtClean="0">
                          <a:latin typeface="Cambria Math" panose="02040503050406030204" pitchFamily="18" charset="0"/>
                          <a:ea typeface="PMingLiU" panose="020B0604030504040204" pitchFamily="18" charset="-12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sz="1400" i="1">
                          <a:latin typeface="Cambria Math" panose="02040503050406030204" pitchFamily="18" charset="0"/>
                          <a:ea typeface="PMingLiU" panose="020B0604030504040204" pitchFamily="18" charset="-120"/>
                          <a:cs typeface="Arial" panose="020B0604020202020204" pitchFamily="34" charset="0"/>
                        </a:rPr>
                        <m:t>𝑆𝑅𝑃</m:t>
                      </m:r>
                      <m:r>
                        <a:rPr lang="en-GB" sz="1400">
                          <a:latin typeface="Cambria Math" panose="02040503050406030204" pitchFamily="18" charset="0"/>
                          <a:ea typeface="PMingLiU" panose="020B0604030504040204" pitchFamily="18" charset="-120"/>
                          <a:cs typeface="Arial" panose="020B0604020202020204" pitchFamily="34" charset="0"/>
                        </a:rPr>
                        <m:t>∙</m:t>
                      </m:r>
                      <m:nary>
                        <m:naryPr>
                          <m:limLoc m:val="subSup"/>
                          <m:ctrlPr>
                            <a:rPr lang="de-DE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  <a:ea typeface="PMingLiU" panose="020B0604030504040204" pitchFamily="18" charset="-120"/>
                              <a:cs typeface="Arial" panose="020B0604020202020204" pitchFamily="34" charset="0"/>
                            </a:rPr>
                            <m:t>𝑡</m:t>
                          </m:r>
                          <m:r>
                            <a:rPr lang="en-GB" sz="1400">
                              <a:latin typeface="Cambria Math" panose="02040503050406030204" pitchFamily="18" charset="0"/>
                              <a:ea typeface="PMingLiU" panose="020B0604030504040204" pitchFamily="18" charset="-120"/>
                              <a:cs typeface="Arial" panose="020B0604020202020204" pitchFamily="34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de-DE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  <a:ea typeface="PMingLiU" panose="02020500000000000000" pitchFamily="18" charset="-12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  <a:ea typeface="PMingLiU" panose="02020500000000000000" pitchFamily="18" charset="-120"/>
                                  <a:cs typeface="Arial" panose="020B0604020202020204" pitchFamily="34" charset="0"/>
                                </a:rPr>
                                <m:t>𝑚</m:t>
                              </m:r>
                            </m:sub>
                          </m:sSub>
                        </m:sub>
                        <m:sup>
                          <m:r>
                            <a:rPr lang="en-GB" sz="1400">
                              <a:latin typeface="Cambria Math" panose="02040503050406030204" pitchFamily="18" charset="0"/>
                              <a:ea typeface="PMingLiU" panose="020B0604030504040204" pitchFamily="18" charset="-120"/>
                              <a:cs typeface="Arial" panose="020B0604020202020204" pitchFamily="34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1400" i="1">
                                  <a:latin typeface="Cambria Math" panose="02040503050406030204" pitchFamily="18" charset="0"/>
                                  <a:ea typeface="PMingLiU" panose="020B0604030504040204" pitchFamily="18" charset="-12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̃"/>
                                  <m:ctrlPr>
                                    <a:rPr lang="de-DE" sz="1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𝐶𝑃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de-DE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  <a:ea typeface="PMingLiU" panose="020B0604030504040204" pitchFamily="18" charset="-120"/>
                                      <a:cs typeface="Arial" panose="020B0604020202020204" pitchFamily="34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PMingLiU" panose="020B0604030504040204" pitchFamily="18" charset="-12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𝐶𝑃</m:t>
                              </m:r>
                              <m:d>
                                <m:dPr>
                                  <m:ctrlPr>
                                    <a:rPr lang="de-DE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  <a:ea typeface="PMingLiU" panose="020B0604030504040204" pitchFamily="18" charset="-120"/>
                                      <a:cs typeface="Arial" panose="020B0604020202020204" pitchFamily="34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  <m:r>
                            <a:rPr lang="en-GB" sz="1400">
                              <a:latin typeface="Cambria Math" panose="02040503050406030204" pitchFamily="18" charset="0"/>
                              <a:ea typeface="PMingLiU" panose="020B0604030504040204" pitchFamily="18" charset="-120"/>
                              <a:cs typeface="Arial" panose="020B0604020202020204" pitchFamily="34" charset="0"/>
                            </a:rPr>
                            <m:t>∙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  <a:ea typeface="PMingLiU" panose="020B0604030504040204" pitchFamily="18" charset="-120"/>
                              <a:cs typeface="Arial" panose="020B0604020202020204" pitchFamily="34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US" sz="1400" i="1" dirty="0">
                  <a:latin typeface="Cambria Math" panose="02040503050406030204" pitchFamily="18" charset="0"/>
                  <a:ea typeface="PMingLiU" panose="020B0604030504040204" pitchFamily="18" charset="-120"/>
                  <a:cs typeface="Arial" panose="020B0604020202020204" pitchFamily="34" charset="0"/>
                </a:endParaRPr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0" smtClean="0">
                          <a:effectLst/>
                          <a:latin typeface="Cambria Math" panose="02040503050406030204" pitchFamily="18" charset="0"/>
                          <a:ea typeface="PMingLiU" panose="02020500000000000000" pitchFamily="18" charset="-12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GB" sz="1400">
                          <a:effectLst/>
                          <a:latin typeface="Cambria Math" panose="02040503050406030204" pitchFamily="18" charset="0"/>
                          <a:ea typeface="PMingLiU" panose="02020500000000000000" pitchFamily="18" charset="-120"/>
                          <a:cs typeface="Arial" panose="020B0604020202020204" pitchFamily="34" charset="0"/>
                        </a:rPr>
                        <m:t>=</m:t>
                      </m:r>
                      <m:acc>
                        <m:accPr>
                          <m:chr m:val="̃"/>
                          <m:ctrlPr>
                            <a:rPr lang="de-DE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𝑈𝑅𝑃</m:t>
                          </m:r>
                        </m:e>
                      </m:acc>
                      <m:d>
                        <m:dPr>
                          <m:ctrlPr>
                            <a:rPr lang="de-DE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𝑈𝑅𝑃</m:t>
                      </m:r>
                      <m:d>
                        <m:dPr>
                          <m:ctrlPr>
                            <a:rPr lang="de-DE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  <m:r>
                        <a:rPr lang="en-US" sz="1400" b="0" i="0" smtClean="0">
                          <a:effectLst/>
                          <a:latin typeface="Cambria Math" panose="02040503050406030204" pitchFamily="18" charset="0"/>
                          <a:ea typeface="PMingLiU" panose="02020500000000000000" pitchFamily="18" charset="-12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PMingLiU" panose="02020500000000000000" pitchFamily="18" charset="-120"/>
                          <a:cs typeface="Arial" panose="020B0604020202020204" pitchFamily="34" charset="0"/>
                        </a:rPr>
                        <m:t>𝑆𝑅𝑃</m:t>
                      </m:r>
                      <m:r>
                        <a:rPr lang="en-GB" sz="1400">
                          <a:effectLst/>
                          <a:latin typeface="Cambria Math" panose="02040503050406030204" pitchFamily="18" charset="0"/>
                          <a:ea typeface="PMingLiU" panose="02020500000000000000" pitchFamily="18" charset="-120"/>
                          <a:cs typeface="Arial" panose="020B0604020202020204" pitchFamily="34" charset="0"/>
                        </a:rPr>
                        <m:t>∙</m:t>
                      </m:r>
                      <m:d>
                        <m:dPr>
                          <m:begChr m:val="["/>
                          <m:endChr m:val="]"/>
                          <m:ctrlPr>
                            <a:rPr lang="de-DE" sz="1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̃"/>
                              <m:ctrlPr>
                                <a:rPr lang="de-DE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  <m:d>
                            <m:d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</m:t>
                              </m:r>
                              <m:sSub>
                                <m:sSubPr>
                                  <m:ctrlPr>
                                    <a:rPr lang="de-DE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  <a:ea typeface="PMingLiU" panose="02020500000000000000" pitchFamily="18" charset="-120"/>
                                      <a:cs typeface="Arial" panose="020B0604020202020204" pitchFamily="34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  <a:ea typeface="PMingLiU" panose="02020500000000000000" pitchFamily="18" charset="-120"/>
                                      <a:cs typeface="Arial" panose="020B0604020202020204" pitchFamily="34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PMingLiU" panose="02020500000000000000" pitchFamily="18" charset="-12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𝐴</m:t>
                          </m:r>
                          <m:d>
                            <m:d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</m:t>
                              </m:r>
                              <m:sSub>
                                <m:sSubPr>
                                  <m:ctrlPr>
                                    <a:rPr lang="de-DE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  <a:ea typeface="PMingLiU" panose="02020500000000000000" pitchFamily="18" charset="-120"/>
                                      <a:cs typeface="Arial" panose="020B0604020202020204" pitchFamily="34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  <a:ea typeface="PMingLiU" panose="02020500000000000000" pitchFamily="18" charset="-120"/>
                                      <a:cs typeface="Arial" panose="020B0604020202020204" pitchFamily="34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  <a:ea typeface="PMingLiU" panose="02020500000000000000" pitchFamily="18" charset="-120"/>
                          <a:cs typeface="Arial" panose="020B0604020202020204" pitchFamily="34" charset="0"/>
                        </a:rPr>
                        <m:t>                                      </m:t>
                      </m:r>
                    </m:oMath>
                  </m:oMathPara>
                </a14:m>
                <a:endParaRPr lang="en-US" sz="1400" b="0" dirty="0">
                  <a:ea typeface="PMingLiU" panose="02020500000000000000" pitchFamily="18" charset="-120"/>
                  <a:cs typeface="Arial" panose="020B0604020202020204" pitchFamily="34" charset="0"/>
                </a:endParaRPr>
              </a:p>
              <a:p>
                <a:pPr>
                  <a:spcAft>
                    <a:spcPts val="600"/>
                  </a:spcAft>
                </a:pPr>
                <a:endParaRPr lang="en-US" sz="1400" b="0" dirty="0">
                  <a:ea typeface="PMingLiU" panose="02020500000000000000" pitchFamily="18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Inhaltsplatzhalter 2">
                <a:extLst>
                  <a:ext uri="{FF2B5EF4-FFF2-40B4-BE49-F238E27FC236}">
                    <a16:creationId xmlns:a16="http://schemas.microsoft.com/office/drawing/2014/main" id="{2D10DE87-47B4-A96E-0371-595DCFA562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912" y="1656231"/>
                <a:ext cx="7360560" cy="2805836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0F125067-8430-21B7-73B7-14A76B285798}"/>
              </a:ext>
            </a:extLst>
          </p:cNvPr>
          <p:cNvGrpSpPr/>
          <p:nvPr/>
        </p:nvGrpSpPr>
        <p:grpSpPr>
          <a:xfrm>
            <a:off x="1145220" y="5939162"/>
            <a:ext cx="9512218" cy="658384"/>
            <a:chOff x="2012156" y="5697416"/>
            <a:chExt cx="8819967" cy="58091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A252E90-6FAF-1650-705D-F8636A644C8F}"/>
                </a:ext>
              </a:extLst>
            </p:cNvPr>
            <p:cNvSpPr/>
            <p:nvPr/>
          </p:nvSpPr>
          <p:spPr>
            <a:xfrm>
              <a:off x="2012156" y="5697416"/>
              <a:ext cx="8819967" cy="572756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90000" rIns="90000" bIns="90000" rtlCol="0" anchor="t" anchorCtr="0"/>
            <a:lstStyle/>
            <a:p>
              <a:pPr algn="ctr">
                <a:spcAft>
                  <a:spcPts val="600"/>
                </a:spcAft>
              </a:pPr>
              <a:r>
                <a:rPr lang="de-CH" sz="1600" dirty="0">
                  <a:sym typeface="Wingdings" panose="05000000000000000000" pitchFamily="2" charset="2"/>
                </a:rPr>
                <a:t>           Approach </a:t>
              </a:r>
              <a:r>
                <a:rPr lang="de-CH" sz="1600" dirty="0" err="1">
                  <a:sym typeface="Wingdings" panose="05000000000000000000" pitchFamily="2" charset="2"/>
                </a:rPr>
                <a:t>only</a:t>
              </a:r>
              <a:r>
                <a:rPr lang="de-CH" sz="1600" dirty="0">
                  <a:sym typeface="Wingdings" panose="05000000000000000000" pitchFamily="2" charset="2"/>
                </a:rPr>
                <a:t> </a:t>
              </a:r>
              <a:r>
                <a:rPr lang="de-CH" sz="1600" dirty="0" err="1">
                  <a:sym typeface="Wingdings" panose="05000000000000000000" pitchFamily="2" charset="2"/>
                </a:rPr>
                <a:t>requires</a:t>
              </a:r>
              <a:r>
                <a:rPr lang="de-CH" sz="1600" dirty="0">
                  <a:sym typeface="Wingdings" panose="05000000000000000000" pitchFamily="2" charset="2"/>
                </a:rPr>
                <a:t> </a:t>
              </a:r>
              <a:r>
                <a:rPr lang="de-CH" sz="1600" dirty="0" err="1">
                  <a:sym typeface="Wingdings" panose="05000000000000000000" pitchFamily="2" charset="2"/>
                </a:rPr>
                <a:t>knowledge</a:t>
              </a:r>
              <a:r>
                <a:rPr lang="de-CH" sz="1600" dirty="0">
                  <a:sym typeface="Wingdings" panose="05000000000000000000" pitchFamily="2" charset="2"/>
                </a:rPr>
                <a:t> </a:t>
              </a:r>
              <a:r>
                <a:rPr lang="de-CH" sz="1600" dirty="0" err="1">
                  <a:sym typeface="Wingdings" panose="05000000000000000000" pitchFamily="2" charset="2"/>
                </a:rPr>
                <a:t>of</a:t>
              </a:r>
              <a:r>
                <a:rPr lang="de-CH" sz="1600" dirty="0">
                  <a:sym typeface="Wingdings" panose="05000000000000000000" pitchFamily="2" charset="2"/>
                </a:rPr>
                <a:t> </a:t>
              </a:r>
              <a:r>
                <a:rPr lang="de-CH" sz="1600" dirty="0" err="1">
                  <a:sym typeface="Wingdings" panose="05000000000000000000" pitchFamily="2" charset="2"/>
                </a:rPr>
                <a:t>the</a:t>
              </a:r>
              <a:r>
                <a:rPr lang="de-CH" sz="1600" dirty="0">
                  <a:sym typeface="Wingdings" panose="05000000000000000000" pitchFamily="2" charset="2"/>
                </a:rPr>
                <a:t> </a:t>
              </a:r>
              <a:r>
                <a:rPr lang="de-CH" sz="1600" dirty="0" err="1">
                  <a:sym typeface="Wingdings" panose="05000000000000000000" pitchFamily="2" charset="2"/>
                </a:rPr>
                <a:t>cover</a:t>
              </a:r>
              <a:r>
                <a:rPr lang="de-CH" sz="1600" dirty="0">
                  <a:sym typeface="Wingdings" panose="05000000000000000000" pitchFamily="2" charset="2"/>
                </a:rPr>
                <a:t> </a:t>
              </a:r>
              <a:r>
                <a:rPr lang="de-CH" sz="1600" dirty="0" err="1">
                  <a:sym typeface="Wingdings" panose="05000000000000000000" pitchFamily="2" charset="2"/>
                </a:rPr>
                <a:t>profile</a:t>
              </a:r>
              <a:r>
                <a:rPr lang="de-CH" sz="1600" dirty="0">
                  <a:sym typeface="Wingdings" panose="05000000000000000000" pitchFamily="2" charset="2"/>
                </a:rPr>
                <a:t> </a:t>
              </a:r>
              <a:r>
                <a:rPr lang="de-CH" sz="1600" dirty="0" err="1">
                  <a:sym typeface="Wingdings" panose="05000000000000000000" pitchFamily="2" charset="2"/>
                </a:rPr>
                <a:t>topography</a:t>
              </a:r>
              <a:r>
                <a:rPr lang="de-CH" sz="1600" dirty="0">
                  <a:sym typeface="Wingdings" panose="05000000000000000000" pitchFamily="2" charset="2"/>
                </a:rPr>
                <a:t> and </a:t>
              </a:r>
              <a:r>
                <a:rPr lang="de-CH" sz="1600" dirty="0" err="1">
                  <a:sym typeface="Wingdings" panose="05000000000000000000" pitchFamily="2" charset="2"/>
                </a:rPr>
                <a:t>is</a:t>
              </a:r>
              <a:r>
                <a:rPr lang="de-CH" sz="1600" dirty="0">
                  <a:sym typeface="Wingdings" panose="05000000000000000000" pitchFamily="2" charset="2"/>
                </a:rPr>
                <a:t> </a:t>
              </a:r>
              <a:r>
                <a:rPr lang="de-CH" sz="1600" dirty="0" err="1">
                  <a:sym typeface="Wingdings" panose="05000000000000000000" pitchFamily="2" charset="2"/>
                </a:rPr>
                <a:t>therefore</a:t>
              </a:r>
              <a:r>
                <a:rPr lang="de-CH" sz="1600" dirty="0">
                  <a:sym typeface="Wingdings" panose="05000000000000000000" pitchFamily="2" charset="2"/>
                </a:rPr>
                <a:t> </a:t>
              </a:r>
              <a:r>
                <a:rPr lang="de-CH" sz="1600" dirty="0" err="1">
                  <a:sym typeface="Wingdings" panose="05000000000000000000" pitchFamily="2" charset="2"/>
                </a:rPr>
                <a:t>universally</a:t>
              </a:r>
              <a:r>
                <a:rPr lang="de-CH" sz="1600" dirty="0">
                  <a:sym typeface="Wingdings" panose="05000000000000000000" pitchFamily="2" charset="2"/>
                </a:rPr>
                <a:t> </a:t>
              </a:r>
              <a:r>
                <a:rPr lang="de-CH" sz="1600" dirty="0" err="1">
                  <a:sym typeface="Wingdings" panose="05000000000000000000" pitchFamily="2" charset="2"/>
                </a:rPr>
                <a:t>applicable</a:t>
              </a:r>
              <a:r>
                <a:rPr lang="de-CH" sz="1600" dirty="0">
                  <a:sym typeface="Wingdings" panose="05000000000000000000" pitchFamily="2" charset="2"/>
                </a:rPr>
                <a:t> </a:t>
              </a:r>
              <a:r>
                <a:rPr lang="de-CH" sz="1600" dirty="0" err="1">
                  <a:sym typeface="Wingdings" panose="05000000000000000000" pitchFamily="2" charset="2"/>
                </a:rPr>
                <a:t>across</a:t>
              </a:r>
              <a:r>
                <a:rPr lang="de-CH" sz="1600" dirty="0">
                  <a:sym typeface="Wingdings" panose="05000000000000000000" pitchFamily="2" charset="2"/>
                </a:rPr>
                <a:t> different </a:t>
              </a:r>
              <a:r>
                <a:rPr lang="de-CH" sz="1600" dirty="0" err="1">
                  <a:sym typeface="Wingdings" panose="05000000000000000000" pitchFamily="2" charset="2"/>
                </a:rPr>
                <a:t>export</a:t>
              </a:r>
              <a:r>
                <a:rPr lang="de-CH" sz="1600" dirty="0">
                  <a:sym typeface="Wingdings" panose="05000000000000000000" pitchFamily="2" charset="2"/>
                </a:rPr>
                <a:t> </a:t>
              </a:r>
              <a:r>
                <a:rPr lang="de-CH" sz="1600" dirty="0" err="1">
                  <a:sym typeface="Wingdings" panose="05000000000000000000" pitchFamily="2" charset="2"/>
                </a:rPr>
                <a:t>cases</a:t>
              </a:r>
              <a:r>
                <a:rPr lang="de-CH" sz="1600" dirty="0">
                  <a:sym typeface="Wingdings" panose="05000000000000000000" pitchFamily="2" charset="2"/>
                </a:rPr>
                <a:t>, </a:t>
              </a:r>
              <a:r>
                <a:rPr lang="de-CH" sz="1600" dirty="0" err="1">
                  <a:sym typeface="Wingdings" panose="05000000000000000000" pitchFamily="2" charset="2"/>
                </a:rPr>
                <a:t>policy</a:t>
              </a:r>
              <a:r>
                <a:rPr lang="de-CH" sz="1600" dirty="0">
                  <a:sym typeface="Wingdings" panose="05000000000000000000" pitchFamily="2" charset="2"/>
                </a:rPr>
                <a:t> </a:t>
              </a:r>
              <a:r>
                <a:rPr lang="de-CH" sz="1600" dirty="0" err="1">
                  <a:sym typeface="Wingdings" panose="05000000000000000000" pitchFamily="2" charset="2"/>
                </a:rPr>
                <a:t>types</a:t>
              </a:r>
              <a:r>
                <a:rPr lang="de-CH" sz="1600" dirty="0">
                  <a:sym typeface="Wingdings" panose="05000000000000000000" pitchFamily="2" charset="2"/>
                </a:rPr>
                <a:t>, etc.</a:t>
              </a:r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F6EAD944-25EC-EBFE-96FC-E305291F7DB3}"/>
                </a:ext>
              </a:extLst>
            </p:cNvPr>
            <p:cNvSpPr/>
            <p:nvPr/>
          </p:nvSpPr>
          <p:spPr>
            <a:xfrm rot="5400000">
              <a:off x="2020961" y="5696764"/>
              <a:ext cx="572757" cy="590367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90000" rIns="90000" bIns="90000" rtlCol="0" anchor="t" anchorCtr="0"/>
            <a:lstStyle/>
            <a:p>
              <a:pPr algn="l"/>
              <a:endParaRPr lang="de-DE" sz="1600" dirty="0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55562BE4-DF35-61C5-1BA0-836048604B5B}"/>
              </a:ext>
            </a:extLst>
          </p:cNvPr>
          <p:cNvSpPr/>
          <p:nvPr/>
        </p:nvSpPr>
        <p:spPr>
          <a:xfrm>
            <a:off x="398699" y="2918582"/>
            <a:ext cx="7618909" cy="16494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t" anchorCtr="0"/>
          <a:lstStyle/>
          <a:p>
            <a:pPr algn="l"/>
            <a:endParaRPr lang="de-DE" sz="1600" dirty="0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4440B3D-1907-3FBD-9E17-82679A675961}"/>
              </a:ext>
            </a:extLst>
          </p:cNvPr>
          <p:cNvGrpSpPr/>
          <p:nvPr/>
        </p:nvGrpSpPr>
        <p:grpSpPr>
          <a:xfrm>
            <a:off x="1095423" y="4722519"/>
            <a:ext cx="6429502" cy="958819"/>
            <a:chOff x="1095423" y="4722519"/>
            <a:chExt cx="6429502" cy="958819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5D397622-4A6C-F9B4-5C59-AE5E43AE9BFA}"/>
                </a:ext>
              </a:extLst>
            </p:cNvPr>
            <p:cNvGrpSpPr/>
            <p:nvPr/>
          </p:nvGrpSpPr>
          <p:grpSpPr>
            <a:xfrm>
              <a:off x="2348917" y="4722519"/>
              <a:ext cx="5176008" cy="958819"/>
              <a:chOff x="2348917" y="4823670"/>
              <a:chExt cx="5176008" cy="958819"/>
            </a:xfrm>
          </p:grpSpPr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E11A0C53-2658-6A22-20A6-194021810F2C}"/>
                  </a:ext>
                </a:extLst>
              </p:cNvPr>
              <p:cNvSpPr/>
              <p:nvPr/>
            </p:nvSpPr>
            <p:spPr>
              <a:xfrm>
                <a:off x="2348917" y="4823670"/>
                <a:ext cx="5176008" cy="95881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0000" tIns="90000" rIns="90000" bIns="90000" rtlCol="0" anchor="t" anchorCtr="0"/>
              <a:lstStyle/>
              <a:p>
                <a:pPr algn="l"/>
                <a:endParaRPr lang="de-DE" sz="1600" dirty="0"/>
              </a:p>
            </p:txBody>
          </p:sp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A98F1C6D-70DB-B127-3749-558A99B563F2}"/>
                  </a:ext>
                </a:extLst>
              </p:cNvPr>
              <p:cNvGrpSpPr/>
              <p:nvPr/>
            </p:nvGrpSpPr>
            <p:grpSpPr>
              <a:xfrm>
                <a:off x="2484423" y="4904471"/>
                <a:ext cx="4939834" cy="779266"/>
                <a:chOff x="2352471" y="5244608"/>
                <a:chExt cx="4805567" cy="779266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" name="Inhaltsplatzhalter 2">
                      <a:extLst>
                        <a:ext uri="{FF2B5EF4-FFF2-40B4-BE49-F238E27FC236}">
                          <a16:creationId xmlns:a16="http://schemas.microsoft.com/office/drawing/2014/main" id="{7A640B0B-61F4-EB40-4AD8-FD34678D27C5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>
                    <a:xfrm>
                      <a:off x="3357111" y="5244608"/>
                      <a:ext cx="2135640" cy="358101"/>
                    </a:xfrm>
                    <a:prstGeom prst="rect">
                      <a:avLst/>
                    </a:prstGeom>
                    <a:solidFill>
                      <a:srgbClr val="C00000"/>
                    </a:solidFill>
                    <a:ln>
                      <a:solidFill>
                        <a:schemeClr val="tx1"/>
                      </a:solidFill>
                    </a:ln>
                  </p:spPr>
                  <p:txBody>
                    <a:bodyPr/>
                    <a:lstStyle>
                      <a:lvl1pPr marL="0" indent="0" algn="l" defTabSz="914400" rtl="0" eaLnBrk="1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None/>
                        <a:defRPr sz="16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0" indent="0" algn="l" defTabSz="914400" rtl="0" eaLnBrk="1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  <a:defRPr sz="1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180000" indent="-180000" algn="l" defTabSz="914400" rtl="0" eaLnBrk="1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buChar char="»"/>
                        <a:defRPr sz="16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360000" indent="-180000" algn="l" defTabSz="914400" rtl="0" eaLnBrk="1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Char char="–"/>
                        <a:defRPr sz="16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540000" indent="-180000" algn="l" defTabSz="914400" rtl="0" eaLnBrk="1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Char char="–"/>
                        <a:defRPr sz="16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0" indent="0" algn="l" defTabSz="914400" rtl="0" eaLnBrk="1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None/>
                        <a:defRPr sz="16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0" indent="0" algn="l" defTabSz="914400" rtl="0" eaLnBrk="1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None/>
                        <a:defRPr sz="1600" b="1" kern="120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0" indent="0" algn="l" defTabSz="914400" rtl="0" eaLnBrk="1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None/>
                        <a:defRPr sz="2000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0" indent="0" algn="l" defTabSz="914400" rtl="0" eaLnBrk="1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None/>
                        <a:defRPr sz="2000" kern="120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>
                        <a:spcAft>
                          <a:spcPts val="600"/>
                        </a:spcAft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GB" smtClean="0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  <a:ea typeface="PMingLiU" panose="02020500000000000000" pitchFamily="18" charset="-120"/>
                                <a:cs typeface="Arial" panose="020B0604020202020204" pitchFamily="34" charset="0"/>
                              </a:rPr>
                              <m:t>∆</m:t>
                            </m:r>
                            <m:r>
                              <a:rPr lang="en-GB" i="1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  <a:ea typeface="PMingLiU" panose="02020500000000000000" pitchFamily="18" charset="-120"/>
                                <a:cs typeface="Arial" panose="020B0604020202020204" pitchFamily="34" charset="0"/>
                              </a:rPr>
                              <m:t>𝑅𝑃</m:t>
                            </m:r>
                            <m:r>
                              <a:rPr lang="en-US" b="0" i="0" smtClean="0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  <a:ea typeface="PMingLiU" panose="02020500000000000000" pitchFamily="18" charset="-120"/>
                                <a:cs typeface="Arial" panose="020B0604020202020204" pitchFamily="34" charset="0"/>
                              </a:rPr>
                              <m:t>=</m:t>
                            </m:r>
                            <m:r>
                              <a:rPr lang="en-GB" i="1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  <a:ea typeface="PMingLiU" panose="02020500000000000000" pitchFamily="18" charset="-120"/>
                                <a:cs typeface="Arial" panose="020B0604020202020204" pitchFamily="34" charset="0"/>
                              </a:rPr>
                              <m:t>𝑆𝑅𝑃</m:t>
                            </m:r>
                            <m:r>
                              <a:rPr lang="en-GB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  <a:ea typeface="PMingLiU" panose="02020500000000000000" pitchFamily="18" charset="-120"/>
                                <a:cs typeface="Arial" panose="020B0604020202020204" pitchFamily="34" charset="0"/>
                              </a:rPr>
                              <m:t>∙∆</m:t>
                            </m:r>
                            <m:r>
                              <a:rPr lang="en-GB" i="1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  <a:ea typeface="PMingLiU" panose="02020500000000000000" pitchFamily="18" charset="-120"/>
                                <a:cs typeface="Arial" panose="020B0604020202020204" pitchFamily="34" charset="0"/>
                              </a:rPr>
                              <m:t>𝐴</m:t>
                            </m:r>
                            <m:r>
                              <a:rPr lang="en-GB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  <a:ea typeface="PMingLiU" panose="02020500000000000000" pitchFamily="18" charset="-120"/>
                                <a:cs typeface="Arial" panose="020B0604020202020204" pitchFamily="34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de-DE" i="1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i="1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PMingLiU" panose="02020500000000000000" pitchFamily="18" charset="-120"/>
                                    <a:cs typeface="Arial" panose="020B0604020202020204" pitchFamily="34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GB" i="1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PMingLiU" panose="02020500000000000000" pitchFamily="18" charset="-120"/>
                                    <a:cs typeface="Arial" panose="020B0604020202020204" pitchFamily="34" charset="0"/>
                                  </a:rPr>
                                  <m:t>𝑚</m:t>
                                </m:r>
                              </m:sub>
                            </m:sSub>
                            <m:r>
                              <a:rPr lang="en-GB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  <a:ea typeface="PMingLiU" panose="02020500000000000000" pitchFamily="18" charset="-120"/>
                                <a:cs typeface="Arial" panose="020B0604020202020204" pitchFamily="34" charset="0"/>
                              </a:rPr>
                              <m:t>)</m:t>
                            </m:r>
                          </m:oMath>
                        </m:oMathPara>
                      </a14:m>
                      <a:endParaRPr lang="de-CH" dirty="0">
                        <a:solidFill>
                          <a:schemeClr val="bg1"/>
                        </a:solidFill>
                        <a:sym typeface="Wingdings" panose="05000000000000000000" pitchFamily="2" charset="2"/>
                      </a:endParaRPr>
                    </a:p>
                    <a:p>
                      <a:pPr>
                        <a:spcAft>
                          <a:spcPts val="600"/>
                        </a:spcAft>
                      </a:pPr>
                      <a:endParaRPr lang="de-CH" dirty="0">
                        <a:solidFill>
                          <a:schemeClr val="bg1"/>
                        </a:solidFill>
                        <a:sym typeface="Wingdings" panose="05000000000000000000" pitchFamily="2" charset="2"/>
                      </a:endParaRPr>
                    </a:p>
                  </p:txBody>
                </p:sp>
              </mc:Choice>
              <mc:Fallback xmlns="">
                <p:sp>
                  <p:nvSpPr>
                    <p:cNvPr id="4" name="Inhaltsplatzhalter 2">
                      <a:extLst>
                        <a:ext uri="{FF2B5EF4-FFF2-40B4-BE49-F238E27FC236}">
                          <a16:creationId xmlns:a16="http://schemas.microsoft.com/office/drawing/2014/main" id="{7A640B0B-61F4-EB40-4AD8-FD34678D27C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357111" y="5244608"/>
                      <a:ext cx="2135640" cy="358101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b="-4918"/>
                      </a:stretch>
                    </a:blipFill>
                    <a:ln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de-DE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3" name="Straight Connector 12">
                  <a:extLst>
                    <a:ext uri="{FF2B5EF4-FFF2-40B4-BE49-F238E27FC236}">
                      <a16:creationId xmlns:a16="http://schemas.microsoft.com/office/drawing/2014/main" id="{6BFA186D-0A9D-5971-081A-25A8E2C902B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339402" y="5579563"/>
                  <a:ext cx="0" cy="26224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804DCF1F-A035-DEAC-CDB4-D94A225BB30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186113" y="5423754"/>
                  <a:ext cx="303924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BE7BBDDD-D80D-45C8-3A4A-00E3C9FAA2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56225" y="5422411"/>
                  <a:ext cx="339725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63705AA7-7832-E30C-3794-4DF535413B35}"/>
                    </a:ext>
                  </a:extLst>
                </p:cNvPr>
                <p:cNvSpPr txBox="1"/>
                <p:nvPr/>
              </p:nvSpPr>
              <p:spPr>
                <a:xfrm>
                  <a:off x="2352471" y="5329468"/>
                  <a:ext cx="795248" cy="18324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 lIns="0" tIns="0" rIns="0" bIns="0" rtlCol="0">
                  <a:noAutofit/>
                </a:bodyPr>
                <a:lstStyle/>
                <a:p>
                  <a:pPr algn="l"/>
                  <a:r>
                    <a:rPr lang="en-US" sz="1000" dirty="0"/>
                    <a:t>Risk premium</a:t>
                  </a:r>
                  <a:endParaRPr lang="de-DE" sz="1000" dirty="0"/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A5585557-3733-448C-1BC3-517111DC5E11}"/>
                    </a:ext>
                  </a:extLst>
                </p:cNvPr>
                <p:cNvSpPr txBox="1"/>
                <p:nvPr/>
              </p:nvSpPr>
              <p:spPr>
                <a:xfrm>
                  <a:off x="5728711" y="5331964"/>
                  <a:ext cx="1429327" cy="18324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 lIns="0" tIns="0" rIns="0" bIns="0" rtlCol="0">
                  <a:noAutofit/>
                </a:bodyPr>
                <a:lstStyle/>
                <a:p>
                  <a:pPr algn="l"/>
                  <a:r>
                    <a:rPr lang="en-US" sz="1000" dirty="0"/>
                    <a:t>Cover profile topography</a:t>
                  </a:r>
                  <a:endParaRPr lang="de-DE" sz="1000" dirty="0"/>
                </a:p>
              </p:txBody>
            </p:sp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D3F6C3E8-FA6A-FFF8-425B-B4B9BBC1D0BB}"/>
                    </a:ext>
                  </a:extLst>
                </p:cNvPr>
                <p:cNvSpPr txBox="1"/>
                <p:nvPr/>
              </p:nvSpPr>
              <p:spPr>
                <a:xfrm>
                  <a:off x="3401560" y="5829113"/>
                  <a:ext cx="1726385" cy="194761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 lIns="0" tIns="0" rIns="0" bIns="0" rtlCol="0">
                  <a:noAutofit/>
                </a:bodyPr>
                <a:lstStyle/>
                <a:p>
                  <a:pPr algn="l"/>
                  <a:r>
                    <a:rPr lang="en-US" sz="1000" dirty="0"/>
                    <a:t>Constant</a:t>
                  </a:r>
                  <a:r>
                    <a:rPr lang="de-CH" sz="1400" dirty="0">
                      <a:solidFill>
                        <a:schemeClr val="accent1"/>
                      </a:solidFill>
                      <a:sym typeface="Wingdings" panose="05000000000000000000" pitchFamily="2" charset="2"/>
                    </a:rPr>
                    <a:t>*</a:t>
                  </a:r>
                  <a:r>
                    <a:rPr lang="en-US" sz="1000" dirty="0"/>
                    <a:t> from initial pricing</a:t>
                  </a:r>
                  <a:endParaRPr lang="de-DE" sz="1000" dirty="0"/>
                </a:p>
              </p:txBody>
            </p:sp>
          </p:grpSp>
        </p:grpSp>
        <p:sp>
          <p:nvSpPr>
            <p:cNvPr id="39" name="Arrow: Right 38">
              <a:extLst>
                <a:ext uri="{FF2B5EF4-FFF2-40B4-BE49-F238E27FC236}">
                  <a16:creationId xmlns:a16="http://schemas.microsoft.com/office/drawing/2014/main" id="{65FC46EE-88C5-AC44-23BB-E1FA40882528}"/>
                </a:ext>
              </a:extLst>
            </p:cNvPr>
            <p:cNvSpPr/>
            <p:nvPr/>
          </p:nvSpPr>
          <p:spPr>
            <a:xfrm>
              <a:off x="1095423" y="5076507"/>
              <a:ext cx="956345" cy="202299"/>
            </a:xfrm>
            <a:prstGeom prst="rightArrow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90000" rIns="90000" bIns="90000" rtlCol="0" anchor="t" anchorCtr="0"/>
            <a:lstStyle/>
            <a:p>
              <a:pPr algn="l"/>
              <a:endParaRPr lang="de-DE" sz="1600" dirty="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FE587BF5-7B70-0BC7-4D3A-7C6A4531BA93}"/>
              </a:ext>
            </a:extLst>
          </p:cNvPr>
          <p:cNvGrpSpPr/>
          <p:nvPr/>
        </p:nvGrpSpPr>
        <p:grpSpPr>
          <a:xfrm>
            <a:off x="8421862" y="4547946"/>
            <a:ext cx="3001081" cy="1191453"/>
            <a:chOff x="8421862" y="4547946"/>
            <a:chExt cx="3001081" cy="119145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Inhaltsplatzhalter 2">
                  <a:extLst>
                    <a:ext uri="{FF2B5EF4-FFF2-40B4-BE49-F238E27FC236}">
                      <a16:creationId xmlns:a16="http://schemas.microsoft.com/office/drawing/2014/main" id="{1FA3C926-1B1F-EE44-6CBA-E86FCC7E73C7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8421862" y="4599675"/>
                  <a:ext cx="3001081" cy="1139724"/>
                </a:xfrm>
                <a:prstGeom prst="roundRect">
                  <a:avLst/>
                </a:prstGeom>
                <a:solidFill>
                  <a:schemeClr val="bg2"/>
                </a:solidFill>
              </p:spPr>
              <p:txBody>
                <a:bodyPr/>
                <a:lstStyle>
                  <a:lvl1pPr marL="0" indent="0" algn="l" defTabSz="914400" rtl="0" eaLnBrk="1" latinLnBrk="0" hangingPunct="1">
                    <a:lnSpc>
                      <a:spcPct val="110000"/>
                    </a:lnSpc>
                    <a:spcBef>
                      <a:spcPts val="600"/>
                    </a:spcBef>
                    <a:buFont typeface="Arial" panose="020B0604020202020204" pitchFamily="34" charset="0"/>
                    <a:buNone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0" indent="0" algn="l" defTabSz="914400" rtl="0" eaLnBrk="1" latinLnBrk="0" hangingPunct="1">
                    <a:lnSpc>
                      <a:spcPct val="110000"/>
                    </a:lnSpc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None/>
                    <a:defRPr sz="16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80000" indent="-180000" algn="l" defTabSz="914400" rtl="0" eaLnBrk="1" latinLnBrk="0" hangingPunct="1">
                    <a:lnSpc>
                      <a:spcPct val="110000"/>
                    </a:lnSpc>
                    <a:spcBef>
                      <a:spcPts val="600"/>
                    </a:spcBef>
                    <a:buClr>
                      <a:schemeClr val="accent1"/>
                    </a:buClr>
                    <a:buFont typeface="Arial" panose="020B0604020202020204" pitchFamily="34" charset="0"/>
                    <a:buChar char="»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360000" indent="-180000" algn="l" defTabSz="914400" rtl="0" eaLnBrk="1" latinLnBrk="0" hangingPunct="1">
                    <a:lnSpc>
                      <a:spcPct val="110000"/>
                    </a:lnSpc>
                    <a:spcBef>
                      <a:spcPts val="600"/>
                    </a:spcBef>
                    <a:buFont typeface="Arial" panose="020B0604020202020204" pitchFamily="34" charset="0"/>
                    <a:buChar char="–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540000" indent="-180000" algn="l" defTabSz="914400" rtl="0" eaLnBrk="1" latinLnBrk="0" hangingPunct="1">
                    <a:lnSpc>
                      <a:spcPct val="110000"/>
                    </a:lnSpc>
                    <a:spcBef>
                      <a:spcPts val="600"/>
                    </a:spcBef>
                    <a:buFont typeface="Arial" panose="020B0604020202020204" pitchFamily="34" charset="0"/>
                    <a:buChar char="–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0" indent="0" algn="l" defTabSz="914400" rtl="0" eaLnBrk="1" latinLnBrk="0" hangingPunct="1">
                    <a:lnSpc>
                      <a:spcPct val="110000"/>
                    </a:lnSpc>
                    <a:spcBef>
                      <a:spcPts val="600"/>
                    </a:spcBef>
                    <a:buFont typeface="Arial" panose="020B0604020202020204" pitchFamily="34" charset="0"/>
                    <a:buNone/>
                    <a:defRPr sz="1600" b="1" kern="120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0" indent="0" algn="l" defTabSz="914400" rtl="0" eaLnBrk="1" latinLnBrk="0" hangingPunct="1">
                    <a:lnSpc>
                      <a:spcPct val="110000"/>
                    </a:lnSpc>
                    <a:spcBef>
                      <a:spcPts val="600"/>
                    </a:spcBef>
                    <a:buFont typeface="Arial" panose="020B0604020202020204" pitchFamily="34" charset="0"/>
                    <a:buNone/>
                    <a:defRPr sz="1600" b="1" kern="120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0" indent="0" algn="l" defTabSz="914400" rtl="0" eaLnBrk="1" latinLnBrk="0" hangingPunct="1">
                    <a:lnSpc>
                      <a:spcPct val="110000"/>
                    </a:lnSpc>
                    <a:spcBef>
                      <a:spcPts val="600"/>
                    </a:spcBef>
                    <a:buFont typeface="Arial" panose="020B0604020202020204" pitchFamily="34" charset="0"/>
                    <a:buNone/>
                    <a:defRPr sz="2000" kern="120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0" indent="0" algn="l" defTabSz="914400" rtl="0" eaLnBrk="1" latinLnBrk="0" hangingPunct="1">
                    <a:lnSpc>
                      <a:spcPct val="110000"/>
                    </a:lnSpc>
                    <a:spcBef>
                      <a:spcPts val="600"/>
                    </a:spcBef>
                    <a:buFont typeface="Arial" panose="020B0604020202020204" pitchFamily="34" charset="0"/>
                    <a:buNone/>
                    <a:defRPr sz="2000" kern="120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285750" indent="-285750">
                    <a:lnSpc>
                      <a:spcPct val="100000"/>
                    </a:lnSpc>
                    <a:spcAft>
                      <a:spcPts val="600"/>
                    </a:spcAft>
                    <a:buFont typeface="Arial" panose="020B0604020202020204" pitchFamily="34" charset="0"/>
                    <a:buChar char="•"/>
                  </a:pPr>
                  <a:r>
                    <a:rPr lang="de-CH" sz="1100" dirty="0">
                      <a:sym typeface="Wingdings" panose="05000000000000000000" pitchFamily="2" charset="2"/>
                    </a:rPr>
                    <a:t>Generally, </a:t>
                  </a:r>
                  <a14:m>
                    <m:oMath xmlns:m="http://schemas.openxmlformats.org/officeDocument/2006/math">
                      <m:r>
                        <a:rPr lang="en-GB" sz="1100" i="1">
                          <a:latin typeface="Cambria Math" panose="02040503050406030204" pitchFamily="18" charset="0"/>
                          <a:ea typeface="PMingLiU" panose="02020500000000000000" pitchFamily="18" charset="-120"/>
                          <a:cs typeface="Arial" panose="020B0604020202020204" pitchFamily="34" charset="0"/>
                        </a:rPr>
                        <m:t>𝑆𝑅𝑃</m:t>
                      </m:r>
                      <m:d>
                        <m:dPr>
                          <m:ctrlPr>
                            <a:rPr lang="en-US" sz="1100" b="0" i="1" smtClean="0">
                              <a:latin typeface="Cambria Math" panose="02040503050406030204" pitchFamily="18" charset="0"/>
                              <a:ea typeface="PMingLiU" panose="02020500000000000000" pitchFamily="18" charset="-12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  <a:ea typeface="PMingLiU" panose="02020500000000000000" pitchFamily="18" charset="-12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</m:d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≠</m:t>
                      </m:r>
                      <m:acc>
                        <m:accPr>
                          <m:chr m:val="̃"/>
                          <m:ctrlPr>
                            <a:rPr lang="de-DE" sz="11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𝑅𝑃</m:t>
                          </m:r>
                        </m:e>
                      </m:acc>
                      <m:d>
                        <m:d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a14:m>
                  <a:endParaRPr lang="de-CH" sz="1100" dirty="0">
                    <a:sym typeface="Wingdings" panose="05000000000000000000" pitchFamily="2" charset="2"/>
                  </a:endParaRPr>
                </a:p>
                <a:p>
                  <a:pPr marL="285750" indent="-285750">
                    <a:lnSpc>
                      <a:spcPct val="100000"/>
                    </a:lnSpc>
                    <a:spcAft>
                      <a:spcPts val="600"/>
                    </a:spcAft>
                    <a:buFont typeface="Arial" panose="020B0604020202020204" pitchFamily="34" charset="0"/>
                    <a:buChar char="•"/>
                  </a:pPr>
                  <a:r>
                    <a:rPr lang="de-CH" sz="1100" dirty="0">
                      <a:sym typeface="Wingdings" panose="05000000000000000000" pitchFamily="2" charset="2"/>
                    </a:rPr>
                    <a:t>In </a:t>
                  </a:r>
                  <a:r>
                    <a:rPr lang="de-CH" sz="1100" dirty="0" err="1">
                      <a:sym typeface="Wingdings" panose="05000000000000000000" pitchFamily="2" charset="2"/>
                    </a:rPr>
                    <a:t>absence</a:t>
                  </a:r>
                  <a:r>
                    <a:rPr lang="de-CH" sz="1100" dirty="0">
                      <a:sym typeface="Wingdings" panose="05000000000000000000" pitchFamily="2" charset="2"/>
                    </a:rPr>
                    <a:t> </a:t>
                  </a:r>
                  <a:r>
                    <a:rPr lang="de-CH" sz="1100" dirty="0" err="1">
                      <a:sym typeface="Wingdings" panose="05000000000000000000" pitchFamily="2" charset="2"/>
                    </a:rPr>
                    <a:t>of</a:t>
                  </a:r>
                  <a:r>
                    <a:rPr lang="de-CH" sz="1100" dirty="0">
                      <a:sym typeface="Wingdings" panose="05000000000000000000" pitchFamily="2" charset="2"/>
                    </a:rPr>
                    <a:t> </a:t>
                  </a:r>
                  <a:r>
                    <a:rPr lang="de-CH" sz="1100" dirty="0" err="1">
                      <a:sym typeface="Wingdings" panose="05000000000000000000" pitchFamily="2" charset="2"/>
                    </a:rPr>
                    <a:t>reevaluations</a:t>
                  </a:r>
                  <a:r>
                    <a:rPr lang="de-CH" sz="1100" dirty="0">
                      <a:sym typeface="Wingdings" panose="05000000000000000000" pitchFamily="2" charset="2"/>
                    </a:rPr>
                    <a:t> (e.g. </a:t>
                  </a:r>
                  <a:r>
                    <a:rPr lang="de-CH" sz="1100" dirty="0" err="1">
                      <a:sym typeface="Wingdings" panose="05000000000000000000" pitchFamily="2" charset="2"/>
                    </a:rPr>
                    <a:t>letter</a:t>
                  </a:r>
                  <a:r>
                    <a:rPr lang="de-CH" sz="1100" dirty="0">
                      <a:sym typeface="Wingdings" panose="05000000000000000000" pitchFamily="2" charset="2"/>
                    </a:rPr>
                    <a:t> </a:t>
                  </a:r>
                  <a:r>
                    <a:rPr lang="de-CH" sz="1100" dirty="0" err="1">
                      <a:sym typeface="Wingdings" panose="05000000000000000000" pitchFamily="2" charset="2"/>
                    </a:rPr>
                    <a:t>rating</a:t>
                  </a:r>
                  <a:r>
                    <a:rPr lang="de-CH" sz="1100" dirty="0">
                      <a:sym typeface="Wingdings" panose="05000000000000000000" pitchFamily="2" charset="2"/>
                    </a:rPr>
                    <a:t> </a:t>
                  </a:r>
                  <a:r>
                    <a:rPr lang="de-CH" sz="1100" dirty="0" err="1">
                      <a:sym typeface="Wingdings" panose="05000000000000000000" pitchFamily="2" charset="2"/>
                    </a:rPr>
                    <a:t>updates</a:t>
                  </a:r>
                  <a:r>
                    <a:rPr lang="de-CH" sz="1100" dirty="0">
                      <a:sym typeface="Wingdings" panose="05000000000000000000" pitchFamily="2" charset="2"/>
                    </a:rPr>
                    <a:t>):</a:t>
                  </a:r>
                </a:p>
                <a:p>
                  <a:pPr>
                    <a:lnSpc>
                      <a:spcPct val="100000"/>
                    </a:lnSpc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100" i="1">
                            <a:latin typeface="Cambria Math" panose="02040503050406030204" pitchFamily="18" charset="0"/>
                            <a:ea typeface="PMingLiU" panose="02020500000000000000" pitchFamily="18" charset="-120"/>
                            <a:cs typeface="Arial" panose="020B0604020202020204" pitchFamily="34" charset="0"/>
                          </a:rPr>
                          <m:t>𝑆𝑅𝑃</m:t>
                        </m:r>
                        <m:d>
                          <m:dPr>
                            <m:ctrlPr>
                              <a:rPr lang="en-US" sz="1100" i="1">
                                <a:latin typeface="Cambria Math" panose="02040503050406030204" pitchFamily="18" charset="0"/>
                                <a:ea typeface="PMingLiU" panose="02020500000000000000" pitchFamily="18" charset="-12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1100" i="1">
                                <a:latin typeface="Cambria Math" panose="02040503050406030204" pitchFamily="18" charset="0"/>
                                <a:ea typeface="PMingLiU" panose="02020500000000000000" pitchFamily="18" charset="-120"/>
                                <a:cs typeface="Arial" panose="020B0604020202020204" pitchFamily="34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1100" b="0" i="1" smtClean="0">
                            <a:latin typeface="Cambria Math" panose="02040503050406030204" pitchFamily="18" charset="0"/>
                            <a:ea typeface="PMingLiU" panose="02020500000000000000" pitchFamily="18" charset="-120"/>
                            <a:cs typeface="Arial" panose="020B0604020202020204" pitchFamily="34" charset="0"/>
                          </a:rPr>
                          <m:t>=</m:t>
                        </m:r>
                        <m:r>
                          <a:rPr lang="en-GB" sz="1100" i="1">
                            <a:latin typeface="Cambria Math" panose="02040503050406030204" pitchFamily="18" charset="0"/>
                            <a:ea typeface="PMingLiU" panose="02020500000000000000" pitchFamily="18" charset="-120"/>
                            <a:cs typeface="Arial" panose="020B0604020202020204" pitchFamily="34" charset="0"/>
                          </a:rPr>
                          <m:t>𝑆𝑅</m:t>
                        </m:r>
                        <m:r>
                          <a:rPr lang="en-US" sz="1100" b="0" i="1" smtClean="0">
                            <a:latin typeface="Cambria Math" panose="02040503050406030204" pitchFamily="18" charset="0"/>
                            <a:ea typeface="PMingLiU" panose="02020500000000000000" pitchFamily="18" charset="-120"/>
                            <a:cs typeface="Arial" panose="020B0604020202020204" pitchFamily="34" charset="0"/>
                          </a:rPr>
                          <m:t>𝑃</m:t>
                        </m:r>
                        <m:r>
                          <a:rPr lang="en-US" sz="1100" b="0" i="1" smtClean="0">
                            <a:latin typeface="Cambria Math" panose="02040503050406030204" pitchFamily="18" charset="0"/>
                            <a:ea typeface="PMingLiU" panose="02020500000000000000" pitchFamily="18" charset="-120"/>
                            <a:cs typeface="Arial" panose="020B0604020202020204" pitchFamily="34" charset="0"/>
                          </a:rPr>
                          <m:t>=</m:t>
                        </m:r>
                        <m:acc>
                          <m:accPr>
                            <m:chr m:val="̃"/>
                            <m:ctrlPr>
                              <a:rPr lang="de-DE" sz="11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100" i="1">
                                <a:latin typeface="Cambria Math" panose="02040503050406030204" pitchFamily="18" charset="0"/>
                              </a:rPr>
                              <m:t>𝑆𝑅𝑃</m:t>
                            </m:r>
                          </m:e>
                        </m:acc>
                      </m:oMath>
                    </m:oMathPara>
                  </a14:m>
                  <a:endParaRPr lang="de-DE" sz="1200" dirty="0">
                    <a:effectLst/>
                    <a:latin typeface="Arial" panose="020B0604020202020204" pitchFamily="34" charset="0"/>
                    <a:ea typeface="PMingLiU" panose="02020500000000000000" pitchFamily="18" charset="-120"/>
                  </a:endParaRPr>
                </a:p>
              </p:txBody>
            </p:sp>
          </mc:Choice>
          <mc:Fallback xmlns="">
            <p:sp>
              <p:nvSpPr>
                <p:cNvPr id="8" name="Inhaltsplatzhalter 2">
                  <a:extLst>
                    <a:ext uri="{FF2B5EF4-FFF2-40B4-BE49-F238E27FC236}">
                      <a16:creationId xmlns:a16="http://schemas.microsoft.com/office/drawing/2014/main" id="{1FA3C926-1B1F-EE44-6CBA-E86FCC7E73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21862" y="4599675"/>
                  <a:ext cx="3001081" cy="1139724"/>
                </a:xfrm>
                <a:prstGeom prst="round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386598A-7FAA-6CDD-340D-D022AE2FE041}"/>
                </a:ext>
              </a:extLst>
            </p:cNvPr>
            <p:cNvSpPr txBox="1"/>
            <p:nvPr/>
          </p:nvSpPr>
          <p:spPr>
            <a:xfrm>
              <a:off x="8421862" y="4547946"/>
              <a:ext cx="17520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CH" dirty="0">
                  <a:solidFill>
                    <a:schemeClr val="accent1"/>
                  </a:solidFill>
                  <a:sym typeface="Wingdings" panose="05000000000000000000" pitchFamily="2" charset="2"/>
                </a:rPr>
                <a:t>*</a:t>
              </a:r>
              <a:endParaRPr lang="de-DE" dirty="0"/>
            </a:p>
          </p:txBody>
        </p:sp>
      </p:grpSp>
    </p:spTree>
    <p:extLst>
      <p:ext uri="{BB962C8B-B14F-4D97-AF65-F5344CB8AC3E}">
        <p14:creationId xmlns:p14="http://schemas.microsoft.com/office/powerpoint/2010/main" val="3756512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25B57-DF16-22A3-E202-021292C76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1" y="1043535"/>
            <a:ext cx="11306177" cy="483831"/>
          </a:xfrm>
        </p:spPr>
        <p:txBody>
          <a:bodyPr/>
          <a:lstStyle/>
          <a:p>
            <a:r>
              <a:rPr lang="de-CH" dirty="0" err="1"/>
              <a:t>Example</a:t>
            </a:r>
            <a:r>
              <a:rPr lang="de-CH" dirty="0"/>
              <a:t> I: </a:t>
            </a:r>
            <a:r>
              <a:rPr lang="de-CH" dirty="0" err="1"/>
              <a:t>Increased</a:t>
            </a:r>
            <a:r>
              <a:rPr lang="de-CH" dirty="0"/>
              <a:t> Risk Coverage</a:t>
            </a:r>
            <a:endParaRPr lang="de-D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EF002C-CD30-FF27-897E-ADE243463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 October 2024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2A80D6-5709-E7A4-0D6F-72F8A1903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9AB5E-215F-4BC4-9EB7-C8883DA834C0}" type="slidenum">
              <a:rPr lang="en-US" smtClean="0"/>
              <a:pPr/>
              <a:t>18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Inhaltsplatzhalter 2">
                <a:extLst>
                  <a:ext uri="{FF2B5EF4-FFF2-40B4-BE49-F238E27FC236}">
                    <a16:creationId xmlns:a16="http://schemas.microsoft.com/office/drawing/2014/main" id="{2D10DE87-47B4-A96E-0371-595DCFA5628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2912" y="1764861"/>
                <a:ext cx="5890776" cy="4408469"/>
              </a:xfrm>
              <a:prstGeom prst="roundRect">
                <a:avLst/>
              </a:prstGeom>
              <a:solidFill>
                <a:schemeClr val="bg2"/>
              </a:solidFill>
            </p:spPr>
            <p:txBody>
              <a:bodyPr/>
              <a:lstStyle>
                <a:lvl1pPr marL="0" indent="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0" indent="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80000" indent="-18000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buClr>
                    <a:schemeClr val="accent1"/>
                  </a:buClr>
                  <a:buFont typeface="Arial" panose="020B0604020202020204" pitchFamily="34" charset="0"/>
                  <a:buChar char="»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360000" indent="-18000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18000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indent="-28575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GB" dirty="0"/>
                  <a:t>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1/1/2002</m:t>
                    </m:r>
                  </m:oMath>
                </a14:m>
                <a:r>
                  <a:rPr lang="en-GB" dirty="0"/>
                  <a:t> the covered amount increases from 9000 to 10000 CHF</a:t>
                </a:r>
              </a:p>
              <a:p>
                <a:pPr>
                  <a:lnSpc>
                    <a:spcPct val="100000"/>
                  </a:lnSpc>
                </a:pPr>
                <a:endParaRPr lang="de-DE" dirty="0"/>
              </a:p>
              <a:p>
                <a:pPr marL="285750" indent="-28575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GB" dirty="0"/>
                  <a:t>The specific risk premium is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𝑆𝑅𝑃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=0.05 ∙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𝑌𝑒𝑎𝑟𝑠</m:t>
                        </m:r>
                      </m:den>
                    </m:f>
                  </m:oMath>
                </a14:m>
                <a:endParaRPr lang="en-GB" dirty="0"/>
              </a:p>
              <a:p>
                <a:pPr marL="285750" indent="-28575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endParaRPr lang="en-GB" dirty="0"/>
              </a:p>
              <a:p>
                <a:pPr marL="285750" indent="-28575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GB" dirty="0"/>
                  <a:t>Additional risk premium due to the modification reads:</a:t>
                </a:r>
                <a:endParaRPr lang="en-GB" i="1" dirty="0"/>
              </a:p>
              <a:p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∆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𝑅𝑃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𝑆𝑅𝑃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∙</m:t>
                      </m:r>
                      <m:d>
                        <m:dPr>
                          <m:begChr m:val="["/>
                          <m:endChr m:val="]"/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̃"/>
                              <m:ctrlPr>
                                <a:rPr lang="de-DE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  <m:d>
                            <m:dPr>
                              <m:ctrlPr>
                                <a:rPr lang="de-DE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DE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d>
                            <m:dPr>
                              <m:ctrlPr>
                                <a:rPr lang="de-DE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DE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  <a:p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                         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0.05∙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2∙</m:t>
                          </m:r>
                          <m: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0000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000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CHF</m:t>
                      </m:r>
                    </m:oMath>
                  </m:oMathPara>
                </a14:m>
                <a:endParaRPr lang="en-US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=100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CHF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                </m:t>
                      </m:r>
                    </m:oMath>
                  </m:oMathPara>
                </a14:m>
                <a:endParaRPr lang="en-GB" dirty="0"/>
              </a:p>
              <a:p>
                <a:pPr marL="285750" indent="-28575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endParaRPr lang="en-GB" dirty="0"/>
              </a:p>
              <a:p>
                <a:pPr marL="285750" indent="-28575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GB" dirty="0"/>
                  <a:t>The total and administrative premium are</a:t>
                </a:r>
                <a:r>
                  <a:rPr lang="en-GB" b="1" dirty="0">
                    <a:solidFill>
                      <a:schemeClr val="accent1"/>
                    </a:solidFill>
                  </a:rPr>
                  <a:t>*</a:t>
                </a:r>
                <a:r>
                  <a:rPr lang="en-GB" dirty="0"/>
                  <a:t> </a:t>
                </a:r>
                <a:endParaRPr lang="en-GB" i="1" dirty="0"/>
              </a:p>
              <a:p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500" i="1">
                          <a:latin typeface="Cambria Math" panose="02040503050406030204" pitchFamily="18" charset="0"/>
                        </a:rPr>
                        <m:t>∆</m:t>
                      </m:r>
                      <m:r>
                        <a:rPr lang="en-GB" sz="15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sz="15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15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500" i="1">
                              <a:latin typeface="Cambria Math" panose="02040503050406030204" pitchFamily="18" charset="0"/>
                            </a:rPr>
                            <m:t>∆</m:t>
                          </m:r>
                          <m:r>
                            <a:rPr lang="en-GB" sz="1500" i="1">
                              <a:latin typeface="Cambria Math" panose="02040503050406030204" pitchFamily="18" charset="0"/>
                            </a:rPr>
                            <m:t>𝑅𝑃</m:t>
                          </m:r>
                        </m:num>
                        <m:den>
                          <m:r>
                            <a:rPr lang="en-GB" sz="1500" i="1">
                              <a:latin typeface="Cambria Math" panose="02040503050406030204" pitchFamily="18" charset="0"/>
                            </a:rPr>
                            <m:t>𝜔</m:t>
                          </m:r>
                        </m:den>
                      </m:f>
                      <m:r>
                        <a:rPr lang="en-GB" sz="15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15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500" i="1">
                              <a:latin typeface="Cambria Math" panose="02040503050406030204" pitchFamily="18" charset="0"/>
                            </a:rPr>
                            <m:t>100.0</m:t>
                          </m:r>
                        </m:num>
                        <m:den>
                          <m:r>
                            <a:rPr lang="en-GB" sz="1500" i="1">
                              <a:latin typeface="Cambria Math" panose="02040503050406030204" pitchFamily="18" charset="0"/>
                            </a:rPr>
                            <m:t>0.8</m:t>
                          </m:r>
                        </m:den>
                      </m:f>
                      <m:r>
                        <a:rPr lang="en-GB" sz="1500" i="1">
                          <a:latin typeface="Cambria Math" panose="02040503050406030204" pitchFamily="18" charset="0"/>
                        </a:rPr>
                        <m:t>=125</m:t>
                      </m:r>
                      <m:r>
                        <a:rPr lang="en-US" sz="15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500">
                          <a:latin typeface="Cambria Math" panose="02040503050406030204" pitchFamily="18" charset="0"/>
                        </a:rPr>
                        <m:t>CHF</m:t>
                      </m:r>
                      <m:r>
                        <a:rPr lang="en-GB" sz="15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150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GB" sz="1500" i="1">
                          <a:latin typeface="Cambria Math" panose="02040503050406030204" pitchFamily="18" charset="0"/>
                        </a:rPr>
                        <m:t>∆</m:t>
                      </m:r>
                      <m:r>
                        <a:rPr lang="en-GB" sz="1500" i="1">
                          <a:latin typeface="Cambria Math" panose="02040503050406030204" pitchFamily="18" charset="0"/>
                        </a:rPr>
                        <m:t>𝐴𝑃</m:t>
                      </m:r>
                      <m:r>
                        <a:rPr lang="en-GB" sz="1500" i="1">
                          <a:latin typeface="Cambria Math" panose="02040503050406030204" pitchFamily="18" charset="0"/>
                        </a:rPr>
                        <m:t>=∆</m:t>
                      </m:r>
                      <m:r>
                        <a:rPr lang="en-GB" sz="15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sz="1500" i="1">
                          <a:latin typeface="Cambria Math" panose="02040503050406030204" pitchFamily="18" charset="0"/>
                        </a:rPr>
                        <m:t>−∆</m:t>
                      </m:r>
                      <m:r>
                        <a:rPr lang="en-GB" sz="1500" i="1">
                          <a:latin typeface="Cambria Math" panose="02040503050406030204" pitchFamily="18" charset="0"/>
                        </a:rPr>
                        <m:t>𝑅𝑃</m:t>
                      </m:r>
                      <m:r>
                        <a:rPr lang="en-GB" sz="1500" i="1">
                          <a:latin typeface="Cambria Math" panose="02040503050406030204" pitchFamily="18" charset="0"/>
                        </a:rPr>
                        <m:t>=25</m:t>
                      </m:r>
                      <m:r>
                        <a:rPr lang="en-US" sz="15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500">
                          <a:latin typeface="Cambria Math" panose="02040503050406030204" pitchFamily="18" charset="0"/>
                        </a:rPr>
                        <m:t>CHF</m:t>
                      </m:r>
                    </m:oMath>
                  </m:oMathPara>
                </a14:m>
                <a:endParaRPr lang="de-DE" sz="1500" dirty="0"/>
              </a:p>
            </p:txBody>
          </p:sp>
        </mc:Choice>
        <mc:Fallback xmlns="">
          <p:sp>
            <p:nvSpPr>
              <p:cNvPr id="6" name="Inhaltsplatzhalter 2">
                <a:extLst>
                  <a:ext uri="{FF2B5EF4-FFF2-40B4-BE49-F238E27FC236}">
                    <a16:creationId xmlns:a16="http://schemas.microsoft.com/office/drawing/2014/main" id="{2D10DE87-47B4-A96E-0371-595DCFA562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912" y="1764861"/>
                <a:ext cx="5890776" cy="4408469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DA59774-04D9-0C21-44FD-9093CBD91953}"/>
                  </a:ext>
                </a:extLst>
              </p:cNvPr>
              <p:cNvSpPr txBox="1"/>
              <p:nvPr/>
            </p:nvSpPr>
            <p:spPr>
              <a:xfrm>
                <a:off x="472667" y="6410825"/>
                <a:ext cx="396511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1600" b="1" dirty="0">
                    <a:solidFill>
                      <a:schemeClr val="accent1"/>
                    </a:solidFill>
                  </a:rPr>
                  <a:t>*</a:t>
                </a:r>
                <a14:m>
                  <m:oMath xmlns:m="http://schemas.openxmlformats.org/officeDocument/2006/math">
                    <m:r>
                      <a:rPr lang="en-GB" sz="105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sz="1050" b="0" i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=0.8  −</m:t>
                    </m:r>
                    <m:r>
                      <m:rPr>
                        <m:sty m:val="p"/>
                      </m:rPr>
                      <a:rPr lang="en-US" sz="1050" b="0" i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percentage</m:t>
                    </m:r>
                    <m:r>
                      <a:rPr lang="en-US" sz="1050" b="0" i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050" b="0" i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of</m:t>
                    </m:r>
                    <m:r>
                      <a:rPr lang="en-US" sz="1050" b="0" i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050" b="0" i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risk</m:t>
                    </m:r>
                    <m:r>
                      <a:rPr lang="en-US" sz="1050" b="0" i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050" b="0" i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premium</m:t>
                    </m:r>
                    <m:r>
                      <a:rPr lang="en-US" sz="1050" b="0" i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050" b="0" i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from</m:t>
                    </m:r>
                    <m:r>
                      <a:rPr lang="en-US" sz="1050" b="0" i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050" b="0" i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total</m:t>
                    </m:r>
                    <m:r>
                      <a:rPr lang="en-US" sz="1050" b="0" i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050" b="0" i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premium</m:t>
                    </m:r>
                  </m:oMath>
                </a14:m>
                <a:endParaRPr lang="de-DE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DA59774-04D9-0C21-44FD-9093CBD919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667" y="6410825"/>
                <a:ext cx="3965110" cy="338554"/>
              </a:xfrm>
              <a:prstGeom prst="rect">
                <a:avLst/>
              </a:prstGeom>
              <a:blipFill>
                <a:blip r:embed="rId3"/>
                <a:stretch>
                  <a:fillRect l="-923" t="-5455" b="-2363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8912734A-656F-52DD-0B06-2F481C7FBED7}"/>
              </a:ext>
            </a:extLst>
          </p:cNvPr>
          <p:cNvSpPr/>
          <p:nvPr/>
        </p:nvSpPr>
        <p:spPr>
          <a:xfrm>
            <a:off x="442911" y="3556932"/>
            <a:ext cx="5890777" cy="2616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t" anchorCtr="0"/>
          <a:lstStyle/>
          <a:p>
            <a:pPr algn="l"/>
            <a:endParaRPr lang="de-DE" sz="1600" dirty="0"/>
          </a:p>
        </p:txBody>
      </p:sp>
      <p:pic>
        <p:nvPicPr>
          <p:cNvPr id="11" name="Picture 10" descr="A graph of a graph&#10;&#10;Description automatically generated">
            <a:extLst>
              <a:ext uri="{FF2B5EF4-FFF2-40B4-BE49-F238E27FC236}">
                <a16:creationId xmlns:a16="http://schemas.microsoft.com/office/drawing/2014/main" id="{B9C4FBB0-05A6-8F50-92C3-779955A6A0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3148" y="1527366"/>
            <a:ext cx="5358872" cy="4287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162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2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25B57-DF16-22A3-E202-021292C76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1043535"/>
            <a:ext cx="11306175" cy="483831"/>
          </a:xfrm>
        </p:spPr>
        <p:txBody>
          <a:bodyPr/>
          <a:lstStyle/>
          <a:p>
            <a:r>
              <a:rPr lang="de-CH" dirty="0" err="1"/>
              <a:t>Example</a:t>
            </a:r>
            <a:r>
              <a:rPr lang="de-CH" dirty="0"/>
              <a:t> II: Extension </a:t>
            </a:r>
            <a:r>
              <a:rPr lang="de-CH" dirty="0" err="1"/>
              <a:t>of</a:t>
            </a:r>
            <a:r>
              <a:rPr lang="de-CH" dirty="0"/>
              <a:t> </a:t>
            </a:r>
            <a:r>
              <a:rPr lang="de-CH" dirty="0" err="1"/>
              <a:t>Repayment</a:t>
            </a:r>
            <a:r>
              <a:rPr lang="de-CH" dirty="0"/>
              <a:t> </a:t>
            </a:r>
            <a:r>
              <a:rPr lang="de-CH" dirty="0" err="1"/>
              <a:t>Period</a:t>
            </a:r>
            <a:endParaRPr lang="de-D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EF002C-CD30-FF27-897E-ADE243463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 October 2024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2A80D6-5709-E7A4-0D6F-72F8A1903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9AB5E-215F-4BC4-9EB7-C8883DA834C0}" type="slidenum">
              <a:rPr lang="en-US" smtClean="0"/>
              <a:pPr/>
              <a:t>19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Inhaltsplatzhalter 2">
                <a:extLst>
                  <a:ext uri="{FF2B5EF4-FFF2-40B4-BE49-F238E27FC236}">
                    <a16:creationId xmlns:a16="http://schemas.microsoft.com/office/drawing/2014/main" id="{2D10DE87-47B4-A96E-0371-595DCFA5628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2912" y="1764861"/>
                <a:ext cx="5890776" cy="4408469"/>
              </a:xfrm>
              <a:prstGeom prst="roundRect">
                <a:avLst/>
              </a:prstGeom>
              <a:solidFill>
                <a:schemeClr val="bg2"/>
              </a:solidFill>
            </p:spPr>
            <p:txBody>
              <a:bodyPr/>
              <a:lstStyle>
                <a:lvl1pPr marL="0" indent="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0" indent="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80000" indent="-18000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buClr>
                    <a:schemeClr val="accent1"/>
                  </a:buClr>
                  <a:buFont typeface="Arial" panose="020B0604020202020204" pitchFamily="34" charset="0"/>
                  <a:buChar char="»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360000" indent="-18000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18000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indent="-28575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GB" dirty="0"/>
                  <a:t>Deferral of all time-periodic repayments of amount 2500 CHF by one repayment time interval of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Year</m:t>
                    </m:r>
                  </m:oMath>
                </a14:m>
                <a:r>
                  <a:rPr lang="en-GB" dirty="0"/>
                  <a:t> </a:t>
                </a:r>
              </a:p>
              <a:p>
                <a:pPr marL="285750" indent="-28575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endParaRPr lang="de-DE" dirty="0"/>
              </a:p>
              <a:p>
                <a:pPr marL="285750" indent="-28575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GB" dirty="0"/>
                  <a:t>The specific risk premium is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𝑆𝑅𝑃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=0.05 ∙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𝑌𝑒𝑎𝑟𝑠</m:t>
                        </m:r>
                      </m:den>
                    </m:f>
                  </m:oMath>
                </a14:m>
                <a:endParaRPr lang="en-GB" dirty="0"/>
              </a:p>
              <a:p>
                <a:pPr marL="285750" indent="-28575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endParaRPr lang="en-GB" dirty="0"/>
              </a:p>
              <a:p>
                <a:pPr marL="285750" indent="-28575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GB" dirty="0"/>
                  <a:t>Additional risk premium due to the modification reads:</a:t>
                </a:r>
                <a:endParaRPr lang="en-GB" i="1" dirty="0"/>
              </a:p>
              <a:p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∆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𝑅𝑃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𝑆𝑅𝑃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∙</m:t>
                      </m:r>
                      <m:d>
                        <m:dPr>
                          <m:begChr m:val="["/>
                          <m:endChr m:val="]"/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̃"/>
                              <m:ctrlPr>
                                <a:rPr lang="de-DE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  <m:d>
                            <m:dPr>
                              <m:ctrlPr>
                                <a:rPr lang="de-DE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DE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d>
                            <m:dPr>
                              <m:ctrlPr>
                                <a:rPr lang="de-DE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DE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  <a:p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                         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0.05∙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25000</m:t>
                          </m:r>
                          <m:r>
                            <a:rPr lang="en-US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 </m:t>
                          </m:r>
                          <m:r>
                            <a:rPr lang="en-GB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15000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CHF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      </m:t>
                      </m:r>
                    </m:oMath>
                  </m:oMathPara>
                </a14:m>
                <a:endParaRPr lang="en-US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00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CHF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                </m:t>
                      </m:r>
                    </m:oMath>
                  </m:oMathPara>
                </a14:m>
                <a:endParaRPr lang="en-GB" dirty="0"/>
              </a:p>
              <a:p>
                <a:pPr marL="285750" indent="-28575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endParaRPr lang="en-GB" dirty="0"/>
              </a:p>
              <a:p>
                <a:pPr marL="285750" indent="-28575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GB" dirty="0"/>
                  <a:t>The total and administrative premium are</a:t>
                </a:r>
                <a:endParaRPr lang="en-GB" i="1" dirty="0"/>
              </a:p>
              <a:p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>
                          <a:latin typeface="Cambria Math" panose="02040503050406030204" pitchFamily="18" charset="0"/>
                        </a:rPr>
                        <m:t>∆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sz="14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>
                              <a:latin typeface="Cambria Math" panose="02040503050406030204" pitchFamily="18" charset="0"/>
                            </a:rPr>
                            <m:t>∆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𝑅𝑃</m:t>
                          </m:r>
                        </m:num>
                        <m:den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𝜔</m:t>
                          </m:r>
                        </m:den>
                      </m:f>
                      <m:r>
                        <a:rPr lang="en-GB" sz="14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>
                              <a:latin typeface="Cambria Math" panose="02040503050406030204" pitchFamily="18" charset="0"/>
                            </a:rPr>
                            <m:t>500.0</m:t>
                          </m:r>
                        </m:num>
                        <m:den>
                          <m:r>
                            <a:rPr lang="en-GB" sz="1400">
                              <a:latin typeface="Cambria Math" panose="02040503050406030204" pitchFamily="18" charset="0"/>
                            </a:rPr>
                            <m:t>0.8</m:t>
                          </m:r>
                        </m:den>
                      </m:f>
                      <m:r>
                        <a:rPr lang="en-GB" sz="1400">
                          <a:latin typeface="Cambria Math" panose="02040503050406030204" pitchFamily="18" charset="0"/>
                        </a:rPr>
                        <m:t>=625</m:t>
                      </m:r>
                      <m:r>
                        <a:rPr lang="en-US" sz="1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400">
                          <a:latin typeface="Cambria Math" panose="02040503050406030204" pitchFamily="18" charset="0"/>
                        </a:rPr>
                        <m:t>CHF</m:t>
                      </m:r>
                      <m:r>
                        <a:rPr lang="en-GB" sz="1400">
                          <a:latin typeface="Cambria Math" panose="02040503050406030204" pitchFamily="18" charset="0"/>
                        </a:rPr>
                        <m:t>,  ∆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𝐴𝑃</m:t>
                      </m:r>
                      <m:r>
                        <a:rPr lang="en-GB" sz="1400">
                          <a:latin typeface="Cambria Math" panose="02040503050406030204" pitchFamily="18" charset="0"/>
                        </a:rPr>
                        <m:t>=∆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400">
                          <a:latin typeface="Cambria Math" panose="02040503050406030204" pitchFamily="18" charset="0"/>
                        </a:rPr>
                        <m:t>∆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𝑅𝑃</m:t>
                      </m:r>
                      <m:r>
                        <a:rPr lang="en-GB" sz="1400">
                          <a:latin typeface="Cambria Math" panose="02040503050406030204" pitchFamily="18" charset="0"/>
                        </a:rPr>
                        <m:t>=125</m:t>
                      </m:r>
                      <m:r>
                        <a:rPr lang="en-US" sz="1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400">
                          <a:latin typeface="Cambria Math" panose="02040503050406030204" pitchFamily="18" charset="0"/>
                        </a:rPr>
                        <m:t>CHF</m:t>
                      </m:r>
                    </m:oMath>
                  </m:oMathPara>
                </a14:m>
                <a:endParaRPr lang="de-DE" sz="1400" dirty="0"/>
              </a:p>
            </p:txBody>
          </p:sp>
        </mc:Choice>
        <mc:Fallback xmlns="">
          <p:sp>
            <p:nvSpPr>
              <p:cNvPr id="6" name="Inhaltsplatzhalter 2">
                <a:extLst>
                  <a:ext uri="{FF2B5EF4-FFF2-40B4-BE49-F238E27FC236}">
                    <a16:creationId xmlns:a16="http://schemas.microsoft.com/office/drawing/2014/main" id="{2D10DE87-47B4-A96E-0371-595DCFA562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912" y="1764861"/>
                <a:ext cx="5890776" cy="4408469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263BAF29-3517-5B71-DA05-FB87B191F2AC}"/>
              </a:ext>
            </a:extLst>
          </p:cNvPr>
          <p:cNvSpPr/>
          <p:nvPr/>
        </p:nvSpPr>
        <p:spPr>
          <a:xfrm>
            <a:off x="442911" y="3661141"/>
            <a:ext cx="5890777" cy="2616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t" anchorCtr="0"/>
          <a:lstStyle/>
          <a:p>
            <a:pPr algn="l"/>
            <a:endParaRPr lang="de-DE" sz="1600" dirty="0"/>
          </a:p>
        </p:txBody>
      </p:sp>
      <p:pic>
        <p:nvPicPr>
          <p:cNvPr id="11" name="Picture 10" descr="A graph of a graph">
            <a:extLst>
              <a:ext uri="{FF2B5EF4-FFF2-40B4-BE49-F238E27FC236}">
                <a16:creationId xmlns:a16="http://schemas.microsoft.com/office/drawing/2014/main" id="{134661DC-B540-50F4-233A-880E1F2757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170" y="1527366"/>
            <a:ext cx="5510586" cy="4408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604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BAD6DAE0-3B9F-A1CC-DCD1-0B50B5EAFC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3688" y="1527366"/>
            <a:ext cx="5510584" cy="44084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C425B57-DF16-22A3-E202-021292C76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1043535"/>
            <a:ext cx="11306175" cy="483831"/>
          </a:xfrm>
        </p:spPr>
        <p:txBody>
          <a:bodyPr/>
          <a:lstStyle/>
          <a:p>
            <a:r>
              <a:rPr lang="de-CH" dirty="0" err="1"/>
              <a:t>Example</a:t>
            </a:r>
            <a:r>
              <a:rPr lang="de-CH" dirty="0"/>
              <a:t> III: </a:t>
            </a:r>
            <a:r>
              <a:rPr lang="de-CH" dirty="0" err="1"/>
              <a:t>Premature</a:t>
            </a:r>
            <a:r>
              <a:rPr lang="de-CH" dirty="0"/>
              <a:t> Termination</a:t>
            </a:r>
            <a:endParaRPr lang="de-D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EF002C-CD30-FF27-897E-ADE243463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 October 2024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2A80D6-5709-E7A4-0D6F-72F8A1903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9AB5E-215F-4BC4-9EB7-C8883DA834C0}" type="slidenum">
              <a:rPr lang="en-US" smtClean="0"/>
              <a:pPr/>
              <a:t>20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Inhaltsplatzhalter 2">
                <a:extLst>
                  <a:ext uri="{FF2B5EF4-FFF2-40B4-BE49-F238E27FC236}">
                    <a16:creationId xmlns:a16="http://schemas.microsoft.com/office/drawing/2014/main" id="{2D10DE87-47B4-A96E-0371-595DCFA5628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2912" y="1764861"/>
                <a:ext cx="5890776" cy="4408469"/>
              </a:xfrm>
              <a:prstGeom prst="roundRect">
                <a:avLst/>
              </a:prstGeom>
              <a:solidFill>
                <a:schemeClr val="bg2"/>
              </a:solidFill>
            </p:spPr>
            <p:txBody>
              <a:bodyPr/>
              <a:lstStyle>
                <a:lvl1pPr marL="0" indent="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0" indent="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80000" indent="-18000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buClr>
                    <a:schemeClr val="accent1"/>
                  </a:buClr>
                  <a:buFont typeface="Arial" panose="020B0604020202020204" pitchFamily="34" charset="0"/>
                  <a:buChar char="»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360000" indent="-18000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18000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indent="-28575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GB" dirty="0"/>
                  <a:t>Termination of an active insurance at time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de-DE" dirty="0"/>
              </a:p>
              <a:p>
                <a:pPr marL="285750" indent="-28575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endParaRPr lang="en-GB" dirty="0"/>
              </a:p>
              <a:p>
                <a:pPr marL="285750" indent="-28575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GB" dirty="0"/>
                  <a:t>The specific risk premium is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𝑆𝑅𝑃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=0.05 ∙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𝑌𝑒𝑎𝑟𝑠</m:t>
                        </m:r>
                      </m:den>
                    </m:f>
                  </m:oMath>
                </a14:m>
                <a:endParaRPr lang="en-GB" dirty="0"/>
              </a:p>
              <a:p>
                <a:pPr marL="285750" indent="-28575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endParaRPr lang="en-GB" dirty="0"/>
              </a:p>
              <a:p>
                <a:pPr marL="285750" indent="-28575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GB" dirty="0"/>
                  <a:t>Risk premium </a:t>
                </a:r>
                <a:r>
                  <a:rPr lang="en-GB" i="1" dirty="0"/>
                  <a:t>refund</a:t>
                </a:r>
                <a:r>
                  <a:rPr lang="en-GB" dirty="0"/>
                  <a:t> due to the modification reads:</a:t>
                </a:r>
                <a:endParaRPr lang="en-GB" i="1" dirty="0"/>
              </a:p>
              <a:p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∆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𝑅𝑃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𝑆𝑅𝑃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∙</m:t>
                      </m:r>
                      <m:d>
                        <m:dPr>
                          <m:begChr m:val="["/>
                          <m:endChr m:val="]"/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̃"/>
                              <m:ctrlPr>
                                <a:rPr lang="de-DE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  <m:d>
                            <m:dPr>
                              <m:ctrlPr>
                                <a:rPr lang="de-DE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DE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d>
                            <m:dPr>
                              <m:ctrlPr>
                                <a:rPr lang="de-DE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DE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  <a:p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                         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0.05∙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GB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11250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CHF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                 </m:t>
                      </m:r>
                    </m:oMath>
                  </m:oMathPara>
                </a14:m>
                <a:endParaRPr lang="en-US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=−562.5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CHF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         </m:t>
                      </m:r>
                    </m:oMath>
                  </m:oMathPara>
                </a14:m>
                <a:endParaRPr lang="en-GB" dirty="0"/>
              </a:p>
              <a:p>
                <a:pPr marL="285750" indent="-28575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endParaRPr lang="en-GB" dirty="0"/>
              </a:p>
              <a:p>
                <a:pPr marL="285750" indent="-285750">
                  <a:lnSpc>
                    <a:spcPct val="140000"/>
                  </a:lnSpc>
                  <a:buFont typeface="Arial" panose="020B0604020202020204" pitchFamily="34" charset="0"/>
                  <a:buChar char="•"/>
                </a:pPr>
                <a:r>
                  <a:rPr lang="en-GB" dirty="0"/>
                  <a:t>The total premium and administrative deduction are</a:t>
                </a:r>
                <a:r>
                  <a:rPr lang="en-GB" b="1" dirty="0">
                    <a:solidFill>
                      <a:schemeClr val="accent1"/>
                    </a:solidFill>
                  </a:rPr>
                  <a:t>*</a:t>
                </a:r>
                <a:r>
                  <a:rPr lang="en-GB" dirty="0"/>
                  <a:t> </a:t>
                </a:r>
                <a:endParaRPr lang="en-GB" i="1" dirty="0"/>
              </a:p>
              <a:p>
                <a:pPr>
                  <a:lnSpc>
                    <a:spcPct val="14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∆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sz="140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GB" sz="1400"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en-GB" sz="1400">
                          <a:latin typeface="Cambria Math" panose="02040503050406030204" pitchFamily="18" charset="0"/>
                        </a:rPr>
                        <m:t>∙∆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𝑅𝑃</m:t>
                      </m:r>
                      <m:r>
                        <a:rPr lang="en-GB" sz="140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=−450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CHF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𝐴𝐷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=∆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−∆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𝑅𝑃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=112.5 </m:t>
                      </m:r>
                      <m:r>
                        <m:rPr>
                          <m:sty m:val="p"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CHF</m:t>
                      </m:r>
                    </m:oMath>
                  </m:oMathPara>
                </a14:m>
                <a:endParaRPr lang="de-DE" sz="1400" dirty="0"/>
              </a:p>
            </p:txBody>
          </p:sp>
        </mc:Choice>
        <mc:Fallback xmlns="">
          <p:sp>
            <p:nvSpPr>
              <p:cNvPr id="6" name="Inhaltsplatzhalter 2">
                <a:extLst>
                  <a:ext uri="{FF2B5EF4-FFF2-40B4-BE49-F238E27FC236}">
                    <a16:creationId xmlns:a16="http://schemas.microsoft.com/office/drawing/2014/main" id="{2D10DE87-47B4-A96E-0371-595DCFA562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912" y="1764861"/>
                <a:ext cx="5890776" cy="4408469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DA59774-04D9-0C21-44FD-9093CBD91953}"/>
                  </a:ext>
                </a:extLst>
              </p:cNvPr>
              <p:cNvSpPr txBox="1"/>
              <p:nvPr/>
            </p:nvSpPr>
            <p:spPr>
              <a:xfrm>
                <a:off x="442912" y="6410825"/>
                <a:ext cx="466598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1600" b="1" dirty="0">
                    <a:solidFill>
                      <a:schemeClr val="accent1"/>
                    </a:solidFill>
                  </a:rPr>
                  <a:t>*</a:t>
                </a:r>
                <a:r>
                  <a:rPr lang="en-GB" sz="105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05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a:rPr lang="en-GB" sz="105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050" b="0" i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=0.8  −</m:t>
                    </m:r>
                    <m:r>
                      <m:rPr>
                        <m:sty m:val="p"/>
                      </m:rPr>
                      <a:rPr lang="en-US" sz="1050" b="0" i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percentage</m:t>
                    </m:r>
                    <m:r>
                      <a:rPr lang="en-US" sz="1050" b="0" i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050" b="0" i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of</m:t>
                    </m:r>
                    <m:r>
                      <a:rPr lang="en-US" sz="1050" b="0" i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050" b="0" i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risk</m:t>
                    </m:r>
                    <m:r>
                      <a:rPr lang="en-US" sz="1050" b="0" i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050" b="0" i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premium</m:t>
                    </m:r>
                    <m:r>
                      <a:rPr lang="en-US" sz="1050" b="0" i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050" b="0" i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refund</m:t>
                    </m:r>
                    <m:r>
                      <a:rPr lang="en-US" sz="1050" b="0" i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050" b="0" i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from</m:t>
                    </m:r>
                    <m:r>
                      <a:rPr lang="en-US" sz="1050" b="0" i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050" b="0" i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total</m:t>
                    </m:r>
                    <m:r>
                      <a:rPr lang="en-US" sz="1050" b="0" i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050" b="0" i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premium</m:t>
                    </m:r>
                    <m:r>
                      <a:rPr lang="en-US" sz="1050" b="0" i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05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refund</m:t>
                    </m:r>
                  </m:oMath>
                </a14:m>
                <a:endParaRPr lang="de-DE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DA59774-04D9-0C21-44FD-9093CBD919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912" y="6410825"/>
                <a:ext cx="4665983" cy="338554"/>
              </a:xfrm>
              <a:prstGeom prst="rect">
                <a:avLst/>
              </a:prstGeom>
              <a:blipFill>
                <a:blip r:embed="rId4"/>
                <a:stretch>
                  <a:fillRect l="-784" t="-5455" b="-2363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DC7F59EF-A5AB-32E7-1299-B74AE52A69C5}"/>
              </a:ext>
            </a:extLst>
          </p:cNvPr>
          <p:cNvSpPr/>
          <p:nvPr/>
        </p:nvSpPr>
        <p:spPr>
          <a:xfrm>
            <a:off x="442911" y="3347207"/>
            <a:ext cx="5890777" cy="28261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t" anchorCtr="0"/>
          <a:lstStyle/>
          <a:p>
            <a:pPr algn="l"/>
            <a:endParaRPr lang="de-DE" sz="1600" dirty="0"/>
          </a:p>
        </p:txBody>
      </p:sp>
    </p:spTree>
    <p:extLst>
      <p:ext uri="{BB962C8B-B14F-4D97-AF65-F5344CB8AC3E}">
        <p14:creationId xmlns:p14="http://schemas.microsoft.com/office/powerpoint/2010/main" val="472419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9108A-DA4B-2DCA-AD5E-6878ADC45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5400" dirty="0"/>
              <a:t>Premium Financing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F0A8FE-8562-603F-E515-A4765B96D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 October 2024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1F49EC-C90F-EF7E-1009-72ED59941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9AB5E-215F-4BC4-9EB7-C8883DA834C0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36D448-666D-9478-466D-AAE7BA1B0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your presentation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2FC4C0D-1EF0-E9E3-8C78-BC78152F792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#05</a:t>
            </a:r>
            <a:endParaRPr lang="de-DE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0FAA992-D99B-E79F-7FCC-373067DD31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Development of a self-consistent solution for the premium financing of modifications</a:t>
            </a:r>
            <a:endParaRPr lang="de-DE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4334908-CBB1-5834-8F5F-7E6C0540D5F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Modifications of insurances</a:t>
            </a:r>
          </a:p>
          <a:p>
            <a:r>
              <a:rPr lang="en-US" dirty="0"/>
              <a:t>Graphical Examples</a:t>
            </a:r>
          </a:p>
          <a:p>
            <a:r>
              <a:rPr lang="en-US" dirty="0"/>
              <a:t>Formal Approach</a:t>
            </a:r>
          </a:p>
          <a:p>
            <a:pPr lvl="1"/>
            <a:r>
              <a:rPr lang="en-US" dirty="0"/>
              <a:t>Premium Financing</a:t>
            </a:r>
          </a:p>
          <a:p>
            <a:r>
              <a:rPr lang="en-US" dirty="0"/>
              <a:t>FAQ</a:t>
            </a:r>
          </a:p>
          <a:p>
            <a:r>
              <a:rPr lang="en-US" dirty="0"/>
              <a:t>Conclusion and Outlook</a:t>
            </a:r>
          </a:p>
          <a:p>
            <a:endParaRPr lang="en-US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790386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25B57-DF16-22A3-E202-021292C76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2" y="1007322"/>
            <a:ext cx="11306175" cy="483831"/>
          </a:xfrm>
        </p:spPr>
        <p:txBody>
          <a:bodyPr/>
          <a:lstStyle/>
          <a:p>
            <a:r>
              <a:rPr lang="de-CH" dirty="0" err="1"/>
              <a:t>Recap</a:t>
            </a:r>
            <a:r>
              <a:rPr lang="de-CH" dirty="0"/>
              <a:t>: Premium Financing</a:t>
            </a:r>
            <a:endParaRPr lang="de-D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EF002C-CD30-FF27-897E-ADE2434631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2911" y="6381749"/>
            <a:ext cx="3138488" cy="476251"/>
          </a:xfrm>
        </p:spPr>
        <p:txBody>
          <a:bodyPr/>
          <a:lstStyle/>
          <a:p>
            <a:r>
              <a:rPr lang="en-US"/>
              <a:t>03 October 2024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2A80D6-5709-E7A4-0D6F-72F8A1903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9AB5E-215F-4BC4-9EB7-C8883DA834C0}" type="slidenum">
              <a:rPr lang="en-US" smtClean="0"/>
              <a:pPr/>
              <a:t>22</a:t>
            </a:fld>
            <a:endParaRPr lang="en-US" dirty="0"/>
          </a:p>
        </p:txBody>
      </p: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A2061B34-B83D-23B8-0D7A-B41D39ABE4F0}"/>
              </a:ext>
            </a:extLst>
          </p:cNvPr>
          <p:cNvGrpSpPr/>
          <p:nvPr/>
        </p:nvGrpSpPr>
        <p:grpSpPr>
          <a:xfrm>
            <a:off x="3744079" y="1705761"/>
            <a:ext cx="3648683" cy="2448183"/>
            <a:chOff x="3744079" y="1705761"/>
            <a:chExt cx="3648683" cy="2448183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7202C07D-1AEA-6654-2E8E-66BAD72244EE}"/>
                </a:ext>
              </a:extLst>
            </p:cNvPr>
            <p:cNvGrpSpPr/>
            <p:nvPr/>
          </p:nvGrpSpPr>
          <p:grpSpPr>
            <a:xfrm>
              <a:off x="4799235" y="1705761"/>
              <a:ext cx="2593527" cy="2448183"/>
              <a:chOff x="3663286" y="1887523"/>
              <a:chExt cx="2877423" cy="244818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Rectangle 32">
                    <a:extLst>
                      <a:ext uri="{FF2B5EF4-FFF2-40B4-BE49-F238E27FC236}">
                        <a16:creationId xmlns:a16="http://schemas.microsoft.com/office/drawing/2014/main" id="{FBEA33AE-880F-4CE1-8E25-2544BCF91811}"/>
                      </a:ext>
                    </a:extLst>
                  </p:cNvPr>
                  <p:cNvSpPr/>
                  <p:nvPr/>
                </p:nvSpPr>
                <p:spPr>
                  <a:xfrm>
                    <a:off x="4289404" y="2286966"/>
                    <a:ext cx="1857259" cy="483832"/>
                  </a:xfrm>
                  <a:prstGeom prst="rect">
                    <a:avLst/>
                  </a:prstGeom>
                  <a:solidFill>
                    <a:schemeClr val="bg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90000" tIns="90000" rIns="90000" bIns="90000" rtlCol="0" anchor="t" anchorCtr="0"/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𝐶𝑟𝑒𝑑𝑖𝑡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GB" sz="1100" dirty="0" smtClean="0">
                              <a:solidFill>
                                <a:schemeClr val="accent1"/>
                              </a:solidFill>
                              <a:ea typeface="PMingLiU" panose="02020500000000000000" pitchFamily="18" charset="-120"/>
                            </a:rPr>
                            <m:t>∗</m:t>
                          </m:r>
                        </m:oMath>
                      </m:oMathPara>
                    </a14:m>
                    <a:endParaRPr lang="en-US" sz="1050" dirty="0">
                      <a:solidFill>
                        <a:schemeClr val="accent1"/>
                      </a:solidFill>
                      <a:ea typeface="PMingLiU" panose="02020500000000000000" pitchFamily="18" charset="-120"/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0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𝑃𝑟𝑒𝑚𝑖𝑢𝑚</m:t>
                          </m:r>
                          <m:r>
                            <a:rPr lang="en-US" sz="10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=∆</m:t>
                          </m:r>
                          <m:sSub>
                            <m:sSubPr>
                              <m:ctrlPr>
                                <a:rPr lang="en-US" sz="105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5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05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0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GB" sz="1050" i="1">
                              <a:latin typeface="Cambria Math" panose="02040503050406030204" pitchFamily="18" charset="0"/>
                              <a:ea typeface="PMingLiU" panose="02020500000000000000" pitchFamily="18" charset="-120"/>
                            </a:rPr>
                            <m:t>𝑃𝑅</m:t>
                          </m:r>
                          <m:r>
                            <a:rPr lang="en-GB" sz="1050" i="1">
                              <a:latin typeface="Cambria Math" panose="02040503050406030204" pitchFamily="18" charset="0"/>
                              <a:ea typeface="PMingLiU" panose="02020500000000000000" pitchFamily="18" charset="-120"/>
                            </a:rPr>
                            <m:t>∙</m:t>
                          </m:r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𝑃</m:t>
                          </m:r>
                        </m:oMath>
                      </m:oMathPara>
                    </a14:m>
                    <a:endParaRPr lang="de-DE" sz="1050" dirty="0"/>
                  </a:p>
                </p:txBody>
              </p:sp>
            </mc:Choice>
            <mc:Fallback xmlns="">
              <p:sp>
                <p:nvSpPr>
                  <p:cNvPr id="33" name="Rectangle 32">
                    <a:extLst>
                      <a:ext uri="{FF2B5EF4-FFF2-40B4-BE49-F238E27FC236}">
                        <a16:creationId xmlns:a16="http://schemas.microsoft.com/office/drawing/2014/main" id="{FBEA33AE-880F-4CE1-8E25-2544BCF9181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89404" y="2286966"/>
                    <a:ext cx="1857259" cy="483832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67845426-095F-6080-D1E0-089944525972}"/>
                  </a:ext>
                </a:extLst>
              </p:cNvPr>
              <p:cNvGrpSpPr/>
              <p:nvPr/>
            </p:nvGrpSpPr>
            <p:grpSpPr>
              <a:xfrm>
                <a:off x="3663286" y="1887523"/>
                <a:ext cx="2877423" cy="2448183"/>
                <a:chOff x="300302" y="1887523"/>
                <a:chExt cx="2877423" cy="2448183"/>
              </a:xfrm>
            </p:grpSpPr>
            <p:grpSp>
              <p:nvGrpSpPr>
                <p:cNvPr id="35" name="Group 34">
                  <a:extLst>
                    <a:ext uri="{FF2B5EF4-FFF2-40B4-BE49-F238E27FC236}">
                      <a16:creationId xmlns:a16="http://schemas.microsoft.com/office/drawing/2014/main" id="{0E3A7F39-A226-E773-1796-BB823F31DE1C}"/>
                    </a:ext>
                  </a:extLst>
                </p:cNvPr>
                <p:cNvGrpSpPr/>
                <p:nvPr/>
              </p:nvGrpSpPr>
              <p:grpSpPr>
                <a:xfrm>
                  <a:off x="666619" y="1887523"/>
                  <a:ext cx="2511106" cy="2448183"/>
                  <a:chOff x="666619" y="1887523"/>
                  <a:chExt cx="2511106" cy="2448183"/>
                </a:xfrm>
              </p:grpSpPr>
              <p:grpSp>
                <p:nvGrpSpPr>
                  <p:cNvPr id="41" name="Group 40">
                    <a:extLst>
                      <a:ext uri="{FF2B5EF4-FFF2-40B4-BE49-F238E27FC236}">
                        <a16:creationId xmlns:a16="http://schemas.microsoft.com/office/drawing/2014/main" id="{155BF7C8-CED0-E49D-384A-49DB745B1B15}"/>
                      </a:ext>
                    </a:extLst>
                  </p:cNvPr>
                  <p:cNvGrpSpPr/>
                  <p:nvPr/>
                </p:nvGrpSpPr>
                <p:grpSpPr>
                  <a:xfrm>
                    <a:off x="666619" y="1887523"/>
                    <a:ext cx="2511106" cy="2162962"/>
                    <a:chOff x="847288" y="1711354"/>
                    <a:chExt cx="2223083" cy="1717646"/>
                  </a:xfrm>
                </p:grpSpPr>
                <p:cxnSp>
                  <p:nvCxnSpPr>
                    <p:cNvPr id="43" name="Straight Arrow Connector 42">
                      <a:extLst>
                        <a:ext uri="{FF2B5EF4-FFF2-40B4-BE49-F238E27FC236}">
                          <a16:creationId xmlns:a16="http://schemas.microsoft.com/office/drawing/2014/main" id="{DA212B40-60E5-ACC6-C5BD-3F069C8E32AB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847288" y="1711354"/>
                      <a:ext cx="0" cy="1717646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4" name="Straight Arrow Connector 43">
                      <a:extLst>
                        <a:ext uri="{FF2B5EF4-FFF2-40B4-BE49-F238E27FC236}">
                          <a16:creationId xmlns:a16="http://schemas.microsoft.com/office/drawing/2014/main" id="{020F6050-5898-3C57-9A19-E42AAC29566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47288" y="3429000"/>
                      <a:ext cx="2223083" cy="0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45" name="Rectangle 44">
                          <a:extLst>
                            <a:ext uri="{FF2B5EF4-FFF2-40B4-BE49-F238E27FC236}">
                              <a16:creationId xmlns:a16="http://schemas.microsoft.com/office/drawing/2014/main" id="{45AF9688-89B9-97DE-6C38-DC6760226F3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77290" y="2404191"/>
                          <a:ext cx="1644233" cy="1024809"/>
                        </a:xfrm>
                        <a:prstGeom prst="rect">
                          <a:avLst/>
                        </a:prstGeom>
                        <a:solidFill>
                          <a:srgbClr val="C00000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lIns="90000" tIns="90000" rIns="90000" bIns="90000" rtlCol="0" anchor="t" anchorCtr="0"/>
                        <a:lstStyle/>
                        <a:p>
                          <a:pPr algn="ctr"/>
                          <a:endParaRPr lang="en-US" sz="1100" dirty="0"/>
                        </a:p>
                        <a:p>
                          <a:pPr algn="ctr"/>
                          <a:endParaRPr lang="en-US" sz="1100" dirty="0"/>
                        </a:p>
                        <a:p>
                          <a:pPr algn="ctr"/>
                          <a:r>
                            <a:rPr lang="en-US" sz="1100" dirty="0"/>
                            <a:t>Unfinanced Premium </a:t>
                          </a:r>
                          <a14:m>
                            <m:oMath xmlns:m="http://schemas.openxmlformats.org/officeDocument/2006/math"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oMath>
                          </a14:m>
                          <a:endParaRPr lang="en-US" sz="1100" dirty="0"/>
                        </a:p>
                        <a:p>
                          <a:pPr algn="ctr"/>
                          <a:r>
                            <a:rPr lang="en-US" sz="1100" dirty="0"/>
                            <a:t>Risk Area </a:t>
                          </a:r>
                          <a14:m>
                            <m:oMath xmlns:m="http://schemas.openxmlformats.org/officeDocument/2006/math"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oMath>
                          </a14:m>
                          <a:endParaRPr lang="de-DE" sz="1100" dirty="0"/>
                        </a:p>
                      </p:txBody>
                    </p:sp>
                  </mc:Choice>
                  <mc:Fallback xmlns="">
                    <p:sp>
                      <p:nvSpPr>
                        <p:cNvPr id="45" name="Rectangle 44">
                          <a:extLst>
                            <a:ext uri="{FF2B5EF4-FFF2-40B4-BE49-F238E27FC236}">
                              <a16:creationId xmlns:a16="http://schemas.microsoft.com/office/drawing/2014/main" id="{45AF9688-89B9-97DE-6C38-DC6760226F3A}"/>
                            </a:ext>
                          </a:extLst>
                        </p:cNvPr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1077290" y="2404191"/>
                          <a:ext cx="1644233" cy="1024809"/>
                        </a:xfrm>
                        <a:prstGeom prst="rect">
                          <a:avLst/>
                        </a:prstGeom>
                        <a:blipFill>
                          <a:blip r:embed="rId3"/>
                          <a:stretch>
                            <a:fillRect/>
                          </a:stretch>
                        </a:blipFill>
                        <a:ln>
                          <a:noFill/>
                        </a:ln>
                      </p:spPr>
                      <p:txBody>
                        <a:bodyPr/>
                        <a:lstStyle/>
                        <a:p>
                          <a:r>
                            <a:rPr lang="de-DE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p:sp>
                <p:nvSpPr>
                  <p:cNvPr id="42" name="Rectangle 41">
                    <a:extLst>
                      <a:ext uri="{FF2B5EF4-FFF2-40B4-BE49-F238E27FC236}">
                        <a16:creationId xmlns:a16="http://schemas.microsoft.com/office/drawing/2014/main" id="{0DEF6E3A-EB03-FEE7-1F47-BEAA82A4C4A7}"/>
                      </a:ext>
                    </a:extLst>
                  </p:cNvPr>
                  <p:cNvSpPr/>
                  <p:nvPr/>
                </p:nvSpPr>
                <p:spPr>
                  <a:xfrm>
                    <a:off x="1546226" y="4050484"/>
                    <a:ext cx="617647" cy="28522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90000" tIns="90000" rIns="90000" bIns="90000" rtlCol="0" anchor="t" anchorCtr="0"/>
                  <a:lstStyle/>
                  <a:p>
                    <a:pPr algn="l"/>
                    <a:r>
                      <a:rPr lang="en-US" sz="1200" dirty="0">
                        <a:solidFill>
                          <a:schemeClr val="tx1"/>
                        </a:solidFill>
                      </a:rPr>
                      <a:t>Time</a:t>
                    </a:r>
                    <a:endParaRPr lang="de-DE" sz="120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125FE5A8-A795-7461-6D1A-17D0F9220665}"/>
                    </a:ext>
                  </a:extLst>
                </p:cNvPr>
                <p:cNvSpPr/>
                <p:nvPr/>
              </p:nvSpPr>
              <p:spPr>
                <a:xfrm rot="16200000">
                  <a:off x="134089" y="2840070"/>
                  <a:ext cx="617647" cy="28522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0000" tIns="90000" rIns="90000" bIns="90000" rtlCol="0" anchor="t" anchorCtr="0"/>
                <a:lstStyle/>
                <a:p>
                  <a:pPr algn="l"/>
                  <a:r>
                    <a:rPr lang="en-US" sz="1200" b="0" dirty="0">
                      <a:solidFill>
                        <a:schemeClr val="tx1"/>
                      </a:solidFill>
                    </a:rPr>
                    <a:t>Credit</a:t>
                  </a:r>
                  <a:endParaRPr lang="de-DE" sz="1200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E96B6881-7A6F-801A-BA0E-0EADD6CEB4F2}"/>
                </a:ext>
              </a:extLst>
            </p:cNvPr>
            <p:cNvGrpSpPr/>
            <p:nvPr/>
          </p:nvGrpSpPr>
          <p:grpSpPr>
            <a:xfrm>
              <a:off x="3744079" y="2492095"/>
              <a:ext cx="820989" cy="527310"/>
              <a:chOff x="3744079" y="2492095"/>
              <a:chExt cx="820989" cy="527310"/>
            </a:xfrm>
          </p:grpSpPr>
          <p:sp>
            <p:nvSpPr>
              <p:cNvPr id="85" name="Arrow: Right 84">
                <a:extLst>
                  <a:ext uri="{FF2B5EF4-FFF2-40B4-BE49-F238E27FC236}">
                    <a16:creationId xmlns:a16="http://schemas.microsoft.com/office/drawing/2014/main" id="{A97490E4-08F1-4BB9-2EC4-BEFAC6E27282}"/>
                  </a:ext>
                </a:extLst>
              </p:cNvPr>
              <p:cNvSpPr/>
              <p:nvPr/>
            </p:nvSpPr>
            <p:spPr>
              <a:xfrm>
                <a:off x="3787140" y="2788920"/>
                <a:ext cx="777928" cy="230485"/>
              </a:xfrm>
              <a:prstGeom prst="rightArrow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0000" tIns="90000" rIns="90000" bIns="90000" rtlCol="0" anchor="t" anchorCtr="0"/>
              <a:lstStyle/>
              <a:p>
                <a:pPr algn="l"/>
                <a:endParaRPr lang="de-DE" sz="1600" dirty="0"/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25EB908D-1105-C51B-4E2A-4EE6C37013DA}"/>
                  </a:ext>
                </a:extLst>
              </p:cNvPr>
              <p:cNvSpPr txBox="1"/>
              <p:nvPr/>
            </p:nvSpPr>
            <p:spPr>
              <a:xfrm>
                <a:off x="3744079" y="2492095"/>
                <a:ext cx="795788" cy="29539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 algn="l"/>
                <a:r>
                  <a:rPr lang="en-US" sz="1200" dirty="0"/>
                  <a:t>1</a:t>
                </a:r>
                <a:r>
                  <a:rPr lang="en-US" sz="1200" baseline="30000" dirty="0"/>
                  <a:t>st</a:t>
                </a:r>
                <a:r>
                  <a:rPr lang="en-US" sz="1200" dirty="0"/>
                  <a:t> Iteration</a:t>
                </a:r>
                <a:endParaRPr lang="de-DE" sz="1200" dirty="0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Inhaltsplatzhalter 2">
                <a:extLst>
                  <a:ext uri="{FF2B5EF4-FFF2-40B4-BE49-F238E27FC236}">
                    <a16:creationId xmlns:a16="http://schemas.microsoft.com/office/drawing/2014/main" id="{C2ABC5AE-A797-2A4F-BE1F-BCF3E1E2B18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516243" y="4342861"/>
                <a:ext cx="3160118" cy="2038887"/>
              </a:xfrm>
              <a:prstGeom prst="roundRect">
                <a:avLst/>
              </a:prstGeom>
              <a:solidFill>
                <a:schemeClr val="bg2"/>
              </a:solidFill>
            </p:spPr>
            <p:txBody>
              <a:bodyPr/>
              <a:lstStyle>
                <a:lvl1pPr marL="0" indent="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0" indent="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80000" indent="-18000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buClr>
                    <a:schemeClr val="accent1"/>
                  </a:buClr>
                  <a:buFont typeface="Arial" panose="020B0604020202020204" pitchFamily="34" charset="0"/>
                  <a:buChar char="»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360000" indent="-18000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18000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Aft>
                    <a:spcPts val="600"/>
                  </a:spcAft>
                </a:pPr>
                <a:r>
                  <a:rPr lang="de-CH" sz="1200" dirty="0">
                    <a:sym typeface="Wingdings" panose="05000000000000000000" pitchFamily="2" charset="2"/>
                  </a:rPr>
                  <a:t>The </a:t>
                </a:r>
                <a:r>
                  <a:rPr lang="de-CH" sz="1200" dirty="0" err="1">
                    <a:sym typeface="Wingdings" panose="05000000000000000000" pitchFamily="2" charset="2"/>
                  </a:rPr>
                  <a:t>iterations</a:t>
                </a:r>
                <a:r>
                  <a:rPr lang="de-CH" sz="1200" dirty="0">
                    <a:sym typeface="Wingdings" panose="05000000000000000000" pitchFamily="2" charset="2"/>
                  </a:rPr>
                  <a:t> </a:t>
                </a:r>
                <a:r>
                  <a:rPr lang="de-CH" sz="1200" dirty="0" err="1">
                    <a:sym typeface="Wingdings" panose="05000000000000000000" pitchFamily="2" charset="2"/>
                  </a:rPr>
                  <a:t>correspond</a:t>
                </a:r>
                <a:r>
                  <a:rPr lang="de-CH" sz="1200" dirty="0">
                    <a:sym typeface="Wingdings" panose="05000000000000000000" pitchFamily="2" charset="2"/>
                  </a:rPr>
                  <a:t> </a:t>
                </a:r>
                <a:r>
                  <a:rPr lang="de-CH" sz="1200" dirty="0" err="1">
                    <a:sym typeface="Wingdings" panose="05000000000000000000" pitchFamily="2" charset="2"/>
                  </a:rPr>
                  <a:t>to</a:t>
                </a:r>
                <a:r>
                  <a:rPr lang="de-CH" sz="1200" dirty="0">
                    <a:sym typeface="Wingdings" panose="05000000000000000000" pitchFamily="2" charset="2"/>
                  </a:rPr>
                  <a:t> a </a:t>
                </a:r>
                <a:r>
                  <a:rPr lang="de-CH" sz="1200" dirty="0" err="1">
                    <a:sym typeface="Wingdings" panose="05000000000000000000" pitchFamily="2" charset="2"/>
                  </a:rPr>
                  <a:t>convergent</a:t>
                </a:r>
                <a:r>
                  <a:rPr lang="de-CH" sz="1200" dirty="0">
                    <a:sym typeface="Wingdings" panose="05000000000000000000" pitchFamily="2" charset="2"/>
                  </a:rPr>
                  <a:t> </a:t>
                </a:r>
                <a:r>
                  <a:rPr lang="de-CH" sz="1200" dirty="0" err="1">
                    <a:sym typeface="Wingdings" panose="05000000000000000000" pitchFamily="2" charset="2"/>
                  </a:rPr>
                  <a:t>geometrical</a:t>
                </a:r>
                <a:r>
                  <a:rPr lang="de-CH" sz="1200" dirty="0">
                    <a:sym typeface="Wingdings" panose="05000000000000000000" pitchFamily="2" charset="2"/>
                  </a:rPr>
                  <a:t> </a:t>
                </a:r>
                <a:r>
                  <a:rPr lang="de-CH" sz="1200" dirty="0" err="1">
                    <a:sym typeface="Wingdings" panose="05000000000000000000" pitchFamily="2" charset="2"/>
                  </a:rPr>
                  <a:t>series</a:t>
                </a:r>
                <a:r>
                  <a:rPr lang="de-CH" sz="1200" dirty="0">
                    <a:sym typeface="Wingdings" panose="05000000000000000000" pitchFamily="2" charset="2"/>
                  </a:rPr>
                  <a:t>:</a:t>
                </a:r>
                <a:endParaRPr lang="de-CH" sz="800" dirty="0">
                  <a:sym typeface="Wingdings" panose="05000000000000000000" pitchFamily="2" charset="2"/>
                </a:endParaRPr>
              </a:p>
              <a:p>
                <a:pPr>
                  <a:spcAft>
                    <a:spcPts val="600"/>
                  </a:spcAft>
                </a:pPr>
                <a:endParaRPr lang="de-CH" sz="900" dirty="0">
                  <a:sym typeface="Wingdings" panose="05000000000000000000" pitchFamily="2" charset="2"/>
                </a:endParaRPr>
              </a:p>
              <a:p>
                <a:pPr algn="ctr">
                  <a:lnSpc>
                    <a:spcPts val="1300"/>
                  </a:lnSpc>
                  <a:spcBef>
                    <a:spcPts val="12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1200" i="1" smtClean="0">
                              <a:effectLst/>
                              <a:latin typeface="Cambria Math" panose="02040503050406030204" pitchFamily="18" charset="0"/>
                              <a:ea typeface="PMingLiU" panose="02020500000000000000" pitchFamily="18" charset="-120"/>
                            </a:rPr>
                          </m:ctrlPr>
                        </m:sSubPr>
                        <m:e>
                          <m:r>
                            <a:rPr lang="en-GB" sz="1200" i="1">
                              <a:effectLst/>
                              <a:latin typeface="Cambria Math" panose="02040503050406030204" pitchFamily="18" charset="0"/>
                              <a:ea typeface="PMingLiU" panose="02020500000000000000" pitchFamily="18" charset="-120"/>
                            </a:rPr>
                            <m:t>𝑃</m:t>
                          </m:r>
                        </m:e>
                        <m:sub>
                          <m:r>
                            <a:rPr lang="en-GB" sz="1200" i="1">
                              <a:effectLst/>
                              <a:latin typeface="Cambria Math" panose="02040503050406030204" pitchFamily="18" charset="0"/>
                              <a:ea typeface="PMingLiU" panose="02020500000000000000" pitchFamily="18" charset="-120"/>
                            </a:rPr>
                            <m:t>𝑖𝑛𝑠</m:t>
                          </m:r>
                        </m:sub>
                      </m:sSub>
                      <m:r>
                        <a:rPr lang="en-GB" sz="1200" i="1">
                          <a:effectLst/>
                          <a:latin typeface="Cambria Math" panose="02040503050406030204" pitchFamily="18" charset="0"/>
                          <a:ea typeface="PMingLiU" panose="02020500000000000000" pitchFamily="18" charset="-120"/>
                        </a:rPr>
                        <m:t>=</m:t>
                      </m:r>
                      <m:r>
                        <a:rPr lang="en-US" sz="1200" b="0" i="1" smtClean="0">
                          <a:effectLst/>
                          <a:latin typeface="Cambria Math" panose="02040503050406030204" pitchFamily="18" charset="0"/>
                          <a:ea typeface="PMingLiU" panose="02020500000000000000" pitchFamily="18" charset="-120"/>
                        </a:rPr>
                        <m:t>𝑃</m:t>
                      </m:r>
                      <m:r>
                        <a:rPr lang="en-US" sz="1200" b="0" i="1" smtClean="0">
                          <a:effectLst/>
                          <a:latin typeface="Cambria Math" panose="02040503050406030204" pitchFamily="18" charset="0"/>
                          <a:ea typeface="PMingLiU" panose="02020500000000000000" pitchFamily="18" charset="-120"/>
                        </a:rPr>
                        <m:t>+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PMingLiU" panose="02020500000000000000" pitchFamily="18" charset="-120"/>
                        </a:rPr>
                        <m:t>𝑃𝑅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PMingLiU" panose="02020500000000000000" pitchFamily="18" charset="-120"/>
                        </a:rPr>
                        <m:t>∙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PMingLiU" panose="02020500000000000000" pitchFamily="18" charset="-120"/>
                        </a:rPr>
                        <m:t>𝑃</m:t>
                      </m:r>
                      <m:r>
                        <a:rPr lang="en-US" sz="1200" i="1">
                          <a:latin typeface="Cambria Math" panose="02040503050406030204" pitchFamily="18" charset="0"/>
                          <a:ea typeface="PMingLiU" panose="02020500000000000000" pitchFamily="18" charset="-120"/>
                        </a:rPr>
                        <m:t>+</m:t>
                      </m:r>
                      <m:sSup>
                        <m:sSupPr>
                          <m:ctrlPr>
                            <a:rPr lang="en-GB" sz="1200" i="1">
                              <a:latin typeface="Cambria Math" panose="02040503050406030204" pitchFamily="18" charset="0"/>
                              <a:ea typeface="PMingLiU" panose="02020500000000000000" pitchFamily="18" charset="-120"/>
                            </a:rPr>
                          </m:ctrlPr>
                        </m:sSup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  <a:ea typeface="PMingLiU" panose="02020500000000000000" pitchFamily="18" charset="-120"/>
                            </a:rPr>
                            <m:t>𝑃𝑅</m:t>
                          </m:r>
                        </m:e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PMingLiU" panose="02020500000000000000" pitchFamily="18" charset="-120"/>
                            </a:rPr>
                            <m:t>2</m:t>
                          </m:r>
                        </m:sup>
                      </m:sSup>
                      <m:r>
                        <a:rPr lang="en-GB" sz="1200" i="1">
                          <a:latin typeface="Cambria Math" panose="02040503050406030204" pitchFamily="18" charset="0"/>
                          <a:ea typeface="PMingLiU" panose="02020500000000000000" pitchFamily="18" charset="-120"/>
                        </a:rPr>
                        <m:t>∙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PMingLiU" panose="02020500000000000000" pitchFamily="18" charset="-120"/>
                        </a:rPr>
                        <m:t>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PMingLiU" panose="02020500000000000000" pitchFamily="18" charset="-120"/>
                        </a:rPr>
                        <m:t>+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PMingLiU" panose="02020500000000000000" pitchFamily="18" charset="-120"/>
                        </a:rPr>
                        <m:t>=               </m:t>
                      </m:r>
                    </m:oMath>
                  </m:oMathPara>
                </a14:m>
                <a:endParaRPr lang="en-US" sz="1200" b="0" i="1" dirty="0">
                  <a:latin typeface="Cambria Math" panose="02040503050406030204" pitchFamily="18" charset="0"/>
                  <a:ea typeface="PMingLiU" panose="02020500000000000000" pitchFamily="18" charset="-120"/>
                </a:endParaRPr>
              </a:p>
              <a:p>
                <a:pPr algn="ctr">
                  <a:lnSpc>
                    <a:spcPts val="1300"/>
                  </a:lnSpc>
                  <a:spcBef>
                    <a:spcPts val="1200"/>
                  </a:spcBef>
                </a:pPr>
                <a:endParaRPr lang="en-GB" sz="1200" i="1" dirty="0">
                  <a:effectLst/>
                  <a:latin typeface="Cambria Math" panose="02040503050406030204" pitchFamily="18" charset="0"/>
                  <a:ea typeface="PMingLiU" panose="02020500000000000000" pitchFamily="18" charset="-120"/>
                </a:endParaRPr>
              </a:p>
              <a:p>
                <a:pPr algn="ctr">
                  <a:lnSpc>
                    <a:spcPts val="1300"/>
                  </a:lnSpc>
                  <a:spcBef>
                    <a:spcPts val="12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effectLst/>
                          <a:latin typeface="Cambria Math" panose="02040503050406030204" pitchFamily="18" charset="0"/>
                          <a:ea typeface="PMingLiU" panose="02020500000000000000" pitchFamily="18" charset="-12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GB" sz="1200" i="1" smtClean="0">
                              <a:effectLst/>
                              <a:latin typeface="Cambria Math" panose="02040503050406030204" pitchFamily="18" charset="0"/>
                              <a:ea typeface="PMingLiU" panose="02020500000000000000" pitchFamily="18" charset="-12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200" b="0" i="1" smtClean="0">
                              <a:effectLst/>
                              <a:latin typeface="Cambria Math" panose="02040503050406030204" pitchFamily="18" charset="0"/>
                              <a:ea typeface="PMingLiU" panose="02020500000000000000" pitchFamily="18" charset="-120"/>
                            </a:rPr>
                            <m:t>𝑛</m:t>
                          </m:r>
                          <m:r>
                            <a:rPr lang="en-US" sz="1200" b="0" i="1" smtClean="0">
                              <a:effectLst/>
                              <a:latin typeface="Cambria Math" panose="02040503050406030204" pitchFamily="18" charset="0"/>
                              <a:ea typeface="PMingLiU" panose="02020500000000000000" pitchFamily="18" charset="-120"/>
                            </a:rPr>
                            <m:t>=0</m:t>
                          </m:r>
                        </m:sub>
                        <m:sup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GB" sz="1200" i="1" smtClean="0">
                                  <a:effectLst/>
                                  <a:latin typeface="Cambria Math" panose="02040503050406030204" pitchFamily="18" charset="0"/>
                                  <a:ea typeface="PMingLiU" panose="02020500000000000000" pitchFamily="18" charset="-120"/>
                                </a:rPr>
                              </m:ctrlPr>
                            </m:sSupPr>
                            <m:e>
                              <m:r>
                                <a:rPr lang="en-GB" sz="1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MingLiU" panose="02020500000000000000" pitchFamily="18" charset="-120"/>
                                </a:rPr>
                                <m:t>𝑃𝑅</m:t>
                              </m:r>
                            </m:e>
                            <m:sup>
                              <m:r>
                                <a:rPr lang="en-US" sz="1200" b="0" i="1" smtClean="0">
                                  <a:effectLst/>
                                  <a:latin typeface="Cambria Math" panose="02040503050406030204" pitchFamily="18" charset="0"/>
                                  <a:ea typeface="PMingLiU" panose="02020500000000000000" pitchFamily="18" charset="-12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  <m:r>
                        <a:rPr lang="en-GB" sz="1200" i="1">
                          <a:latin typeface="Cambria Math" panose="02040503050406030204" pitchFamily="18" charset="0"/>
                          <a:ea typeface="PMingLiU" panose="02020500000000000000" pitchFamily="18" charset="-120"/>
                        </a:rPr>
                        <m:t>∙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PMingLiU" panose="02020500000000000000" pitchFamily="18" charset="-120"/>
                        </a:rPr>
                        <m:t>𝑃</m:t>
                      </m:r>
                      <m:r>
                        <a:rPr lang="en-US" sz="1200" b="0" i="1" smtClean="0">
                          <a:effectLst/>
                          <a:latin typeface="Cambria Math" panose="02040503050406030204" pitchFamily="18" charset="0"/>
                          <a:ea typeface="PMingLiU" panose="02020500000000000000" pitchFamily="18" charset="-120"/>
                        </a:rPr>
                        <m:t>=</m:t>
                      </m:r>
                      <m:f>
                        <m:fPr>
                          <m:ctrlPr>
                            <a:rPr lang="de-DE" sz="1200" i="1">
                              <a:latin typeface="Cambria Math" panose="02040503050406030204" pitchFamily="18" charset="0"/>
                              <a:ea typeface="PMingLiU" panose="02020500000000000000" pitchFamily="18" charset="-120"/>
                            </a:rPr>
                          </m:ctrlPr>
                        </m:fPr>
                        <m:num>
                          <m:r>
                            <a:rPr lang="en-GB" sz="1200" i="1">
                              <a:latin typeface="Cambria Math" panose="02040503050406030204" pitchFamily="18" charset="0"/>
                              <a:ea typeface="PMingLiU" panose="02020500000000000000" pitchFamily="18" charset="-120"/>
                            </a:rPr>
                            <m:t>1</m:t>
                          </m:r>
                        </m:num>
                        <m:den>
                          <m:r>
                            <a:rPr lang="en-GB" sz="1200" i="1">
                              <a:latin typeface="Cambria Math" panose="02040503050406030204" pitchFamily="18" charset="0"/>
                              <a:ea typeface="PMingLiU" panose="02020500000000000000" pitchFamily="18" charset="-120"/>
                            </a:rPr>
                            <m:t>1 − 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  <a:ea typeface="PMingLiU" panose="02020500000000000000" pitchFamily="18" charset="-120"/>
                            </a:rPr>
                            <m:t>𝑃𝑅</m:t>
                          </m:r>
                        </m:den>
                      </m:f>
                      <m:r>
                        <a:rPr lang="en-GB" sz="1200" i="1">
                          <a:latin typeface="Cambria Math" panose="02040503050406030204" pitchFamily="18" charset="0"/>
                          <a:ea typeface="PMingLiU" panose="02020500000000000000" pitchFamily="18" charset="-120"/>
                        </a:rPr>
                        <m:t>∙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PMingLiU" panose="02020500000000000000" pitchFamily="18" charset="-120"/>
                        </a:rPr>
                        <m:t>𝑃</m:t>
                      </m:r>
                      <m:r>
                        <a:rPr lang="en-GB" sz="1200" i="1" smtClean="0">
                          <a:latin typeface="Cambria Math" panose="02040503050406030204" pitchFamily="18" charset="0"/>
                          <a:ea typeface="PMingLiU" panose="02020500000000000000" pitchFamily="18" charset="-120"/>
                        </a:rPr>
                        <m:t>≥</m:t>
                      </m:r>
                      <m:r>
                        <a:rPr lang="en-GB" sz="1200" i="1" smtClean="0">
                          <a:latin typeface="Cambria Math" panose="02040503050406030204" pitchFamily="18" charset="0"/>
                          <a:ea typeface="PMingLiU" panose="02020500000000000000" pitchFamily="18" charset="-120"/>
                        </a:rPr>
                        <m:t>𝑃</m:t>
                      </m:r>
                    </m:oMath>
                  </m:oMathPara>
                </a14:m>
                <a:endParaRPr lang="de-DE" sz="1200" dirty="0">
                  <a:effectLst/>
                  <a:latin typeface="Arial" panose="020B0604020202020204" pitchFamily="34" charset="0"/>
                  <a:ea typeface="PMingLiU" panose="02020500000000000000" pitchFamily="18" charset="-120"/>
                </a:endParaRPr>
              </a:p>
              <a:p>
                <a:pPr marL="0" marR="0">
                  <a:lnSpc>
                    <a:spcPts val="13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1400" dirty="0">
                    <a:effectLst/>
                    <a:latin typeface="Arial" panose="020B0604020202020204" pitchFamily="34" charset="0"/>
                    <a:ea typeface="PMingLiU" panose="02020500000000000000" pitchFamily="18" charset="-120"/>
                  </a:rPr>
                  <a:t> </a:t>
                </a:r>
              </a:p>
            </p:txBody>
          </p:sp>
        </mc:Choice>
        <mc:Fallback xmlns="">
          <p:sp>
            <p:nvSpPr>
              <p:cNvPr id="112" name="Inhaltsplatzhalter 2">
                <a:extLst>
                  <a:ext uri="{FF2B5EF4-FFF2-40B4-BE49-F238E27FC236}">
                    <a16:creationId xmlns:a16="http://schemas.microsoft.com/office/drawing/2014/main" id="{C2ABC5AE-A797-2A4F-BE1F-BCF3E1E2B1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6243" y="4342861"/>
                <a:ext cx="3160118" cy="2038887"/>
              </a:xfrm>
              <a:prstGeom prst="roundRect">
                <a:avLst/>
              </a:prstGeom>
              <a:blipFill>
                <a:blip r:embed="rId4"/>
                <a:stretch>
                  <a:fillRect b="-2716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26C02836-0AC5-FAD4-A1FB-150EBEB8F7A9}"/>
                  </a:ext>
                </a:extLst>
              </p:cNvPr>
              <p:cNvSpPr txBox="1"/>
              <p:nvPr/>
            </p:nvSpPr>
            <p:spPr>
              <a:xfrm>
                <a:off x="8516243" y="6475654"/>
                <a:ext cx="3138487" cy="3504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1600" dirty="0">
                    <a:solidFill>
                      <a:schemeClr val="accent1"/>
                    </a:solidFill>
                    <a:effectLst/>
                    <a:ea typeface="PMingLiU" panose="02020500000000000000" pitchFamily="18" charset="-120"/>
                  </a:rPr>
                  <a:t>*</a:t>
                </a:r>
                <a14:m>
                  <m:oMath xmlns:m="http://schemas.openxmlformats.org/officeDocument/2006/math">
                    <m:r>
                      <a:rPr lang="en-GB" sz="1100" i="1" smtClean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𝑃𝑅</m:t>
                    </m:r>
                    <m:r>
                      <a:rPr lang="en-US" sz="1100" b="0" i="1" smtClean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=</m:t>
                    </m:r>
                    <m:f>
                      <m:fPr>
                        <m:ctrlPr>
                          <a:rPr lang="en-US" sz="11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PMingLiU" panose="02020500000000000000" pitchFamily="18" charset="-120"/>
                          </a:rPr>
                        </m:ctrlPr>
                      </m:fPr>
                      <m:num>
                        <m:r>
                          <a:rPr lang="en-US" sz="11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PMingLiU" panose="02020500000000000000" pitchFamily="18" charset="-120"/>
                          </a:rPr>
                          <m:t>𝑃</m:t>
                        </m:r>
                      </m:num>
                      <m:den>
                        <m:func>
                          <m:funcPr>
                            <m:ctrlPr>
                              <a:rPr lang="de-DE" sz="1100" i="1">
                                <a:solidFill>
                                  <a:schemeClr val="bg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PMingLiU" panose="02020500000000000000" pitchFamily="18" charset="-12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sz="1100">
                                <a:solidFill>
                                  <a:schemeClr val="bg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PMingLiU" panose="02020500000000000000" pitchFamily="18" charset="-120"/>
                              </a:rPr>
                              <m:t>max</m:t>
                            </m:r>
                          </m:fName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de-DE" sz="1100" i="1">
                                    <a:solidFill>
                                      <a:schemeClr val="bg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PMingLiU" panose="02020500000000000000" pitchFamily="18" charset="-120"/>
                                  </a:rPr>
                                </m:ctrlPr>
                              </m:dPr>
                              <m:e>
                                <m:r>
                                  <a:rPr lang="en-US" sz="1100" b="0" i="1" smtClean="0">
                                    <a:solidFill>
                                      <a:schemeClr val="bg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PMingLiU" panose="02020500000000000000" pitchFamily="18" charset="-120"/>
                                  </a:rPr>
                                  <m:t>𝐶𝑃</m:t>
                                </m:r>
                                <m:d>
                                  <m:dPr>
                                    <m:ctrlPr>
                                      <a:rPr lang="de-DE" sz="1100" i="1">
                                        <a:solidFill>
                                          <a:schemeClr val="bg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PMingLiU" panose="02020500000000000000" pitchFamily="18" charset="-12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100" b="0" i="1" smtClean="0">
                                        <a:solidFill>
                                          <a:schemeClr val="bg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PMingLiU" panose="02020500000000000000" pitchFamily="18" charset="-120"/>
                                      </a:rPr>
                                      <m:t>𝑡</m:t>
                                    </m:r>
                                  </m:e>
                                </m:d>
                              </m:e>
                            </m:d>
                          </m:e>
                        </m:func>
                      </m:den>
                    </m:f>
                  </m:oMath>
                </a14:m>
                <a:r>
                  <a:rPr lang="de-DE" sz="1050" dirty="0">
                    <a:solidFill>
                      <a:schemeClr val="bg2">
                        <a:lumMod val="75000"/>
                      </a:schemeClr>
                    </a:solidFill>
                  </a:rPr>
                  <a:t> −(𝑢𝑛𝑓𝑖𝑛𝑎𝑛𝑐𝑒𝑑)  𝑝𝑟𝑒𝑚𝑖𝑢𝑚 𝑟𝑎𝑡𝑒</a:t>
                </a:r>
              </a:p>
            </p:txBody>
          </p:sp>
        </mc:Choice>
        <mc:Fallback xmlns=""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26C02836-0AC5-FAD4-A1FB-150EBEB8F7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6243" y="6475654"/>
                <a:ext cx="3138487" cy="350417"/>
              </a:xfrm>
              <a:prstGeom prst="rect">
                <a:avLst/>
              </a:prstGeom>
              <a:blipFill>
                <a:blip r:embed="rId8"/>
                <a:stretch>
                  <a:fillRect l="-971" t="-10345" b="-1206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7" name="Group 116">
            <a:extLst>
              <a:ext uri="{FF2B5EF4-FFF2-40B4-BE49-F238E27FC236}">
                <a16:creationId xmlns:a16="http://schemas.microsoft.com/office/drawing/2014/main" id="{44D8B193-B855-6302-2D25-8D20EF75F345}"/>
              </a:ext>
            </a:extLst>
          </p:cNvPr>
          <p:cNvGrpSpPr/>
          <p:nvPr/>
        </p:nvGrpSpPr>
        <p:grpSpPr>
          <a:xfrm>
            <a:off x="458532" y="1680070"/>
            <a:ext cx="3198921" cy="2448183"/>
            <a:chOff x="891517" y="1744359"/>
            <a:chExt cx="3198921" cy="2448183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1F247479-1446-5490-2D17-B2B4A34B129A}"/>
                </a:ext>
              </a:extLst>
            </p:cNvPr>
            <p:cNvGrpSpPr/>
            <p:nvPr/>
          </p:nvGrpSpPr>
          <p:grpSpPr>
            <a:xfrm>
              <a:off x="891517" y="1744359"/>
              <a:ext cx="2593527" cy="2448183"/>
              <a:chOff x="300302" y="1887523"/>
              <a:chExt cx="2877423" cy="2448183"/>
            </a:xfrm>
          </p:grpSpPr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BFE0DDBC-14E8-3C65-0217-2130C29276E0}"/>
                  </a:ext>
                </a:extLst>
              </p:cNvPr>
              <p:cNvGrpSpPr/>
              <p:nvPr/>
            </p:nvGrpSpPr>
            <p:grpSpPr>
              <a:xfrm>
                <a:off x="666619" y="1887523"/>
                <a:ext cx="2511106" cy="2448183"/>
                <a:chOff x="666619" y="1887523"/>
                <a:chExt cx="2511106" cy="2448183"/>
              </a:xfrm>
            </p:grpSpPr>
            <p:grpSp>
              <p:nvGrpSpPr>
                <p:cNvPr id="16" name="Group 15">
                  <a:extLst>
                    <a:ext uri="{FF2B5EF4-FFF2-40B4-BE49-F238E27FC236}">
                      <a16:creationId xmlns:a16="http://schemas.microsoft.com/office/drawing/2014/main" id="{DCD9C7E7-DC4E-CB1B-45BF-FBF2340E6387}"/>
                    </a:ext>
                  </a:extLst>
                </p:cNvPr>
                <p:cNvGrpSpPr/>
                <p:nvPr/>
              </p:nvGrpSpPr>
              <p:grpSpPr>
                <a:xfrm>
                  <a:off x="666619" y="1887523"/>
                  <a:ext cx="2511106" cy="2162962"/>
                  <a:chOff x="847288" y="1711354"/>
                  <a:chExt cx="2223083" cy="1717646"/>
                </a:xfrm>
              </p:grpSpPr>
              <p:cxnSp>
                <p:nvCxnSpPr>
                  <p:cNvPr id="12" name="Straight Arrow Connector 11">
                    <a:extLst>
                      <a:ext uri="{FF2B5EF4-FFF2-40B4-BE49-F238E27FC236}">
                        <a16:creationId xmlns:a16="http://schemas.microsoft.com/office/drawing/2014/main" id="{52422CD1-EE1E-FB49-65BB-F0B4CBB5E271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847288" y="1711354"/>
                    <a:ext cx="0" cy="1717646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" name="Straight Arrow Connector 12">
                    <a:extLst>
                      <a:ext uri="{FF2B5EF4-FFF2-40B4-BE49-F238E27FC236}">
                        <a16:creationId xmlns:a16="http://schemas.microsoft.com/office/drawing/2014/main" id="{C624F29B-A23C-25D3-87F1-1BB84F6C253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47288" y="3429000"/>
                    <a:ext cx="2223083" cy="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5" name="Rectangle 14">
                        <a:extLst>
                          <a:ext uri="{FF2B5EF4-FFF2-40B4-BE49-F238E27FC236}">
                            <a16:creationId xmlns:a16="http://schemas.microsoft.com/office/drawing/2014/main" id="{28348627-6471-0E29-9986-C7990385DCC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290" y="2404191"/>
                        <a:ext cx="1644233" cy="1024809"/>
                      </a:xfrm>
                      <a:prstGeom prst="rect">
                        <a:avLst/>
                      </a:prstGeom>
                      <a:solidFill>
                        <a:srgbClr val="C00000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90000" tIns="90000" rIns="90000" bIns="90000" rtlCol="0" anchor="t" anchorCtr="0"/>
                      <a:lstStyle/>
                      <a:p>
                        <a:pPr algn="ctr"/>
                        <a:endParaRPr lang="en-US" sz="1100" dirty="0"/>
                      </a:p>
                      <a:p>
                        <a:pPr algn="ctr"/>
                        <a:endParaRPr lang="en-US" sz="1100" dirty="0"/>
                      </a:p>
                      <a:p>
                        <a:pPr algn="ctr"/>
                        <a:r>
                          <a:rPr lang="en-US" sz="1100" dirty="0"/>
                          <a:t>Unfinanced Premium </a:t>
                        </a:r>
                        <a14:m>
                          <m:oMath xmlns:m="http://schemas.openxmlformats.org/officeDocument/2006/math"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oMath>
                        </a14:m>
                        <a:endParaRPr lang="en-US" sz="1100" dirty="0"/>
                      </a:p>
                      <a:p>
                        <a:pPr algn="ctr"/>
                        <a:r>
                          <a:rPr lang="en-US" sz="1100" dirty="0"/>
                          <a:t>Risk Area </a:t>
                        </a:r>
                        <a14:m>
                          <m:oMath xmlns:m="http://schemas.openxmlformats.org/officeDocument/2006/math"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oMath>
                        </a14:m>
                        <a:endParaRPr lang="de-DE" sz="1100" dirty="0"/>
                      </a:p>
                    </p:txBody>
                  </p:sp>
                </mc:Choice>
                <mc:Fallback xmlns="">
                  <p:sp>
                    <p:nvSpPr>
                      <p:cNvPr id="15" name="Rectangle 14">
                        <a:extLst>
                          <a:ext uri="{FF2B5EF4-FFF2-40B4-BE49-F238E27FC236}">
                            <a16:creationId xmlns:a16="http://schemas.microsoft.com/office/drawing/2014/main" id="{28348627-6471-0E29-9986-C7990385DCC3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077290" y="2404191"/>
                        <a:ext cx="1644233" cy="1024809"/>
                      </a:xfrm>
                      <a:prstGeom prst="rect">
                        <a:avLst/>
                      </a:prstGeom>
                      <a:blipFill>
                        <a:blip r:embed="rId5"/>
                        <a:stretch>
                          <a:fillRect/>
                        </a:stretch>
                      </a:blipFill>
                      <a:ln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de-DE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9440D2D7-C8DA-073E-6620-C5C4B0353DA5}"/>
                    </a:ext>
                  </a:extLst>
                </p:cNvPr>
                <p:cNvSpPr/>
                <p:nvPr/>
              </p:nvSpPr>
              <p:spPr>
                <a:xfrm>
                  <a:off x="1546226" y="4050484"/>
                  <a:ext cx="617647" cy="28522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0000" tIns="90000" rIns="90000" bIns="90000" rtlCol="0" anchor="t" anchorCtr="0"/>
                <a:lstStyle/>
                <a:p>
                  <a:pPr algn="l"/>
                  <a:r>
                    <a:rPr lang="en-US" sz="1200" dirty="0">
                      <a:solidFill>
                        <a:schemeClr val="tx1"/>
                      </a:solidFill>
                    </a:rPr>
                    <a:t>Time</a:t>
                  </a:r>
                  <a:endParaRPr lang="de-DE" sz="120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54469BE2-43F9-CF3C-6EB0-30B6D345099E}"/>
                  </a:ext>
                </a:extLst>
              </p:cNvPr>
              <p:cNvSpPr/>
              <p:nvPr/>
            </p:nvSpPr>
            <p:spPr>
              <a:xfrm rot="16200000">
                <a:off x="134089" y="2840070"/>
                <a:ext cx="617647" cy="28522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0000" tIns="90000" rIns="90000" bIns="90000" rtlCol="0" anchor="t" anchorCtr="0"/>
              <a:lstStyle/>
              <a:p>
                <a:pPr algn="l"/>
                <a:r>
                  <a:rPr lang="en-US" sz="1200" b="0" dirty="0">
                    <a:solidFill>
                      <a:schemeClr val="tx1"/>
                    </a:solidFill>
                  </a:rPr>
                  <a:t>Credit</a:t>
                </a:r>
                <a:endParaRPr lang="de-DE" sz="120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448D37CF-5BFB-A038-6F21-D3A268CB3F84}"/>
                    </a:ext>
                  </a:extLst>
                </p:cNvPr>
                <p:cNvSpPr txBox="1"/>
                <p:nvPr/>
              </p:nvSpPr>
              <p:spPr>
                <a:xfrm>
                  <a:off x="3255215" y="3104831"/>
                  <a:ext cx="835223" cy="2616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de-DE" sz="11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PMingLiU" panose="02020500000000000000" pitchFamily="18" charset="-12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sz="1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PMingLiU" panose="02020500000000000000" pitchFamily="18" charset="-120"/>
                              </a:rPr>
                              <m:t>max</m:t>
                            </m:r>
                          </m:fName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de-DE" sz="11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PMingLiU" panose="02020500000000000000" pitchFamily="18" charset="-120"/>
                                  </a:rPr>
                                </m:ctrlPr>
                              </m:dPr>
                              <m:e>
                                <m:r>
                                  <a:rPr lang="en-US" sz="1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PMingLiU" panose="02020500000000000000" pitchFamily="18" charset="-120"/>
                                  </a:rPr>
                                  <m:t>𝐶𝑃</m:t>
                                </m:r>
                                <m:d>
                                  <m:dPr>
                                    <m:ctrlPr>
                                      <a:rPr lang="de-DE" sz="11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PMingLiU" panose="02020500000000000000" pitchFamily="18" charset="-12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PMingLiU" panose="02020500000000000000" pitchFamily="18" charset="-120"/>
                                      </a:rPr>
                                      <m:t>𝑡</m:t>
                                    </m:r>
                                  </m:e>
                                </m:d>
                              </m:e>
                            </m:d>
                          </m:e>
                        </m:func>
                      </m:oMath>
                    </m:oMathPara>
                  </a14:m>
                  <a:endParaRPr lang="de-DE" sz="11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448D37CF-5BFB-A038-6F21-D3A268CB3F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55215" y="3104831"/>
                  <a:ext cx="835223" cy="2616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6" name="Arrow: Up-Down 115">
              <a:extLst>
                <a:ext uri="{FF2B5EF4-FFF2-40B4-BE49-F238E27FC236}">
                  <a16:creationId xmlns:a16="http://schemas.microsoft.com/office/drawing/2014/main" id="{23B3BD4D-B7C5-529F-854A-EFFC73F37DB0}"/>
                </a:ext>
              </a:extLst>
            </p:cNvPr>
            <p:cNvSpPr/>
            <p:nvPr/>
          </p:nvSpPr>
          <p:spPr>
            <a:xfrm>
              <a:off x="3202971" y="2616821"/>
              <a:ext cx="104489" cy="1279099"/>
            </a:xfrm>
            <a:prstGeom prst="upDown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90000" rIns="90000" bIns="90000" rtlCol="0" anchor="t" anchorCtr="0"/>
            <a:lstStyle/>
            <a:p>
              <a:pPr algn="l"/>
              <a:endParaRPr lang="de-DE" sz="1600" dirty="0"/>
            </a:p>
          </p:txBody>
        </p:sp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BE7CD685-7C2A-6C63-4466-63772DEB58FB}"/>
              </a:ext>
            </a:extLst>
          </p:cNvPr>
          <p:cNvGrpSpPr/>
          <p:nvPr/>
        </p:nvGrpSpPr>
        <p:grpSpPr>
          <a:xfrm>
            <a:off x="3364127" y="4209539"/>
            <a:ext cx="4830912" cy="2448183"/>
            <a:chOff x="788707" y="4255680"/>
            <a:chExt cx="4830912" cy="2448183"/>
          </a:xfrm>
        </p:grpSpPr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0F10BA7E-E079-A706-2D2E-CB05EB76DB1E}"/>
                </a:ext>
              </a:extLst>
            </p:cNvPr>
            <p:cNvCxnSpPr/>
            <p:nvPr/>
          </p:nvCxnSpPr>
          <p:spPr>
            <a:xfrm flipV="1">
              <a:off x="2544082" y="4255680"/>
              <a:ext cx="0" cy="2162962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20967ECB-21A9-1520-A619-48DB6C6D7651}"/>
                </a:ext>
              </a:extLst>
            </p:cNvPr>
            <p:cNvCxnSpPr>
              <a:cxnSpLocks/>
            </p:cNvCxnSpPr>
            <p:nvPr/>
          </p:nvCxnSpPr>
          <p:spPr>
            <a:xfrm>
              <a:off x="2544082" y="6418642"/>
              <a:ext cx="226335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E76D4758-15EB-0AFA-D322-29F118EAD1CC}"/>
                </a:ext>
              </a:extLst>
            </p:cNvPr>
            <p:cNvSpPr/>
            <p:nvPr/>
          </p:nvSpPr>
          <p:spPr>
            <a:xfrm>
              <a:off x="3336904" y="6418641"/>
              <a:ext cx="556708" cy="28522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90000" rIns="90000" bIns="90000" rtlCol="0" anchor="t" anchorCtr="0"/>
            <a:lstStyle/>
            <a:p>
              <a:pPr algn="l"/>
              <a:r>
                <a:rPr lang="en-US" sz="1200" dirty="0">
                  <a:solidFill>
                    <a:schemeClr val="tx1"/>
                  </a:solidFill>
                </a:rPr>
                <a:t>Time</a:t>
              </a:r>
              <a:endParaRPr lang="de-DE" sz="1200" dirty="0">
                <a:solidFill>
                  <a:schemeClr val="tx1"/>
                </a:solidFill>
              </a:endParaRP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B4B865FC-FDE3-A7D9-D633-8A9A91C9518D}"/>
                </a:ext>
              </a:extLst>
            </p:cNvPr>
            <p:cNvSpPr/>
            <p:nvPr/>
          </p:nvSpPr>
          <p:spPr>
            <a:xfrm rot="16200000">
              <a:off x="2033624" y="5222297"/>
              <a:ext cx="617647" cy="25708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90000" rIns="90000" bIns="90000" rtlCol="0" anchor="t" anchorCtr="0"/>
            <a:lstStyle/>
            <a:p>
              <a:pPr algn="l"/>
              <a:r>
                <a:rPr lang="en-US" sz="1200" b="0" dirty="0">
                  <a:solidFill>
                    <a:schemeClr val="tx1"/>
                  </a:solidFill>
                </a:rPr>
                <a:t>Credit</a:t>
              </a:r>
              <a:endParaRPr lang="de-DE" sz="1200" dirty="0">
                <a:solidFill>
                  <a:schemeClr val="tx1"/>
                </a:solidFill>
              </a:endParaRPr>
            </a:p>
          </p:txBody>
        </p: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4A64BB0B-D83C-993A-A374-9100258F43C1}"/>
                </a:ext>
              </a:extLst>
            </p:cNvPr>
            <p:cNvGrpSpPr/>
            <p:nvPr/>
          </p:nvGrpSpPr>
          <p:grpSpPr>
            <a:xfrm>
              <a:off x="788707" y="4295910"/>
              <a:ext cx="4830912" cy="2111529"/>
              <a:chOff x="3406141" y="4245257"/>
              <a:chExt cx="4830912" cy="2111529"/>
            </a:xfrm>
          </p:grpSpPr>
          <p:grpSp>
            <p:nvGrpSpPr>
              <p:cNvPr id="122" name="Group 121">
                <a:extLst>
                  <a:ext uri="{FF2B5EF4-FFF2-40B4-BE49-F238E27FC236}">
                    <a16:creationId xmlns:a16="http://schemas.microsoft.com/office/drawing/2014/main" id="{2FDCF277-B398-9242-BE91-D02F996FF2BF}"/>
                  </a:ext>
                </a:extLst>
              </p:cNvPr>
              <p:cNvGrpSpPr/>
              <p:nvPr/>
            </p:nvGrpSpPr>
            <p:grpSpPr>
              <a:xfrm>
                <a:off x="3406141" y="4245257"/>
                <a:ext cx="4830912" cy="2111529"/>
                <a:chOff x="3406141" y="4245257"/>
                <a:chExt cx="4830912" cy="2111529"/>
              </a:xfrm>
            </p:grpSpPr>
            <p:grpSp>
              <p:nvGrpSpPr>
                <p:cNvPr id="103" name="Group 102">
                  <a:extLst>
                    <a:ext uri="{FF2B5EF4-FFF2-40B4-BE49-F238E27FC236}">
                      <a16:creationId xmlns:a16="http://schemas.microsoft.com/office/drawing/2014/main" id="{400D2FEF-639A-372B-340D-FC8D730DCB9B}"/>
                    </a:ext>
                  </a:extLst>
                </p:cNvPr>
                <p:cNvGrpSpPr/>
                <p:nvPr/>
              </p:nvGrpSpPr>
              <p:grpSpPr>
                <a:xfrm>
                  <a:off x="3406141" y="5005851"/>
                  <a:ext cx="1201988" cy="462663"/>
                  <a:chOff x="7270797" y="2492095"/>
                  <a:chExt cx="1201988" cy="462663"/>
                </a:xfrm>
              </p:grpSpPr>
              <p:sp>
                <p:nvSpPr>
                  <p:cNvPr id="104" name="Arrow: Right 103">
                    <a:extLst>
                      <a:ext uri="{FF2B5EF4-FFF2-40B4-BE49-F238E27FC236}">
                        <a16:creationId xmlns:a16="http://schemas.microsoft.com/office/drawing/2014/main" id="{7A1FBF25-BF50-E9C2-C109-17675AED80F2}"/>
                      </a:ext>
                    </a:extLst>
                  </p:cNvPr>
                  <p:cNvSpPr/>
                  <p:nvPr/>
                </p:nvSpPr>
                <p:spPr>
                  <a:xfrm>
                    <a:off x="7651796" y="2724273"/>
                    <a:ext cx="820989" cy="230485"/>
                  </a:xfrm>
                  <a:prstGeom prst="rightArrow">
                    <a:avLst/>
                  </a:prstGeom>
                  <a:solidFill>
                    <a:srgbClr val="C0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90000" tIns="90000" rIns="90000" bIns="90000" rtlCol="0" anchor="t" anchorCtr="0"/>
                  <a:lstStyle/>
                  <a:p>
                    <a:pPr algn="l"/>
                    <a:endParaRPr lang="de-DE" sz="1600" dirty="0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05" name="TextBox 104">
                        <a:extLst>
                          <a:ext uri="{FF2B5EF4-FFF2-40B4-BE49-F238E27FC236}">
                            <a16:creationId xmlns:a16="http://schemas.microsoft.com/office/drawing/2014/main" id="{530DB2D2-B6EE-DD7E-9068-84D3E1D064B3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270797" y="2492095"/>
                        <a:ext cx="1176788" cy="29539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lIns="0" tIns="0" rIns="0" bIns="0" rtlCol="0">
                        <a:noAutofit/>
                      </a:bodyPr>
                      <a:lstStyle/>
                      <a:p>
                        <a14:m>
                          <m:oMath xmlns:m="http://schemas.openxmlformats.org/officeDocument/2006/math">
                            <m:r>
                              <a:rPr lang="en-US" sz="12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⋯</m:t>
                            </m:r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  </m:t>
                            </m:r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oMath>
                        </a14:m>
                        <a:r>
                          <a:rPr lang="en-US" sz="1200" dirty="0"/>
                          <a:t>Iterations</a:t>
                        </a:r>
                        <a:endParaRPr lang="de-DE" sz="1200" dirty="0"/>
                      </a:p>
                    </p:txBody>
                  </p:sp>
                </mc:Choice>
                <mc:Fallback xmlns="">
                  <p:sp>
                    <p:nvSpPr>
                      <p:cNvPr id="105" name="TextBox 104">
                        <a:extLst>
                          <a:ext uri="{FF2B5EF4-FFF2-40B4-BE49-F238E27FC236}">
                            <a16:creationId xmlns:a16="http://schemas.microsoft.com/office/drawing/2014/main" id="{530DB2D2-B6EE-DD7E-9068-84D3E1D064B3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7270797" y="2492095"/>
                        <a:ext cx="1176788" cy="295392"/>
                      </a:xfrm>
                      <a:prstGeom prst="rect">
                        <a:avLst/>
                      </a:prstGeom>
                      <a:blipFill>
                        <a:blip r:embed="rId10"/>
                        <a:stretch>
                          <a:fillRect l="-2591" t="-18750" r="-5181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de-DE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8" name="Rectangle 107">
                      <a:extLst>
                        <a:ext uri="{FF2B5EF4-FFF2-40B4-BE49-F238E27FC236}">
                          <a16:creationId xmlns:a16="http://schemas.microsoft.com/office/drawing/2014/main" id="{BB938339-56BE-D00E-8E3F-B8831FF41EA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63577" y="4245257"/>
                      <a:ext cx="1674017" cy="2111529"/>
                    </a:xfrm>
                    <a:prstGeom prst="rect">
                      <a:avLst/>
                    </a:prstGeom>
                    <a:solidFill>
                      <a:srgbClr val="C00000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90000" tIns="90000" rIns="90000" bIns="90000" rtlCol="0" anchor="t" anchorCtr="0"/>
                    <a:lstStyle/>
                    <a:p>
                      <a:pPr algn="ctr"/>
                      <a:endParaRPr lang="en-US" sz="1100" dirty="0"/>
                    </a:p>
                    <a:p>
                      <a:pPr algn="ctr"/>
                      <a:endParaRPr lang="en-US" sz="1100" dirty="0"/>
                    </a:p>
                    <a:p>
                      <a:pPr algn="ctr"/>
                      <a:endParaRPr lang="en-US" sz="1100" dirty="0"/>
                    </a:p>
                    <a:p>
                      <a:pPr algn="ctr"/>
                      <a:r>
                        <a:rPr lang="en-US" sz="1100" dirty="0"/>
                        <a:t>Financed Premium </a:t>
                      </a:r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𝑖𝑛𝑠</m:t>
                              </m:r>
                            </m:sub>
                          </m:sSub>
                        </m:oMath>
                      </a14:m>
                      <a:endParaRPr lang="en-US" sz="1100" dirty="0"/>
                    </a:p>
                    <a:p>
                      <a:pPr algn="ctr"/>
                      <a:endParaRPr lang="en-US" sz="1100" dirty="0"/>
                    </a:p>
                    <a:p>
                      <a:pPr algn="ctr"/>
                      <a:r>
                        <a:rPr lang="en-US" sz="1100" dirty="0"/>
                        <a:t>Risk Area </a:t>
                      </a:r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US" sz="1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𝑖𝑛𝑠</m:t>
                              </m:r>
                            </m:sub>
                          </m:sSub>
                        </m:oMath>
                      </a14:m>
                      <a:endParaRPr lang="de-DE" sz="1100" dirty="0"/>
                    </a:p>
                  </p:txBody>
                </p:sp>
              </mc:Choice>
              <mc:Fallback xmlns="">
                <p:sp>
                  <p:nvSpPr>
                    <p:cNvPr id="108" name="Rectangle 107">
                      <a:extLst>
                        <a:ext uri="{FF2B5EF4-FFF2-40B4-BE49-F238E27FC236}">
                          <a16:creationId xmlns:a16="http://schemas.microsoft.com/office/drawing/2014/main" id="{BB938339-56BE-D00E-8E3F-B8831FF41EAD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363577" y="4245257"/>
                      <a:ext cx="1674017" cy="2111529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de-DE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10" name="Arrow: Up-Down 109">
                  <a:extLst>
                    <a:ext uri="{FF2B5EF4-FFF2-40B4-BE49-F238E27FC236}">
                      <a16:creationId xmlns:a16="http://schemas.microsoft.com/office/drawing/2014/main" id="{5DCE1489-ED2C-F3B1-7E1D-917D8DD863A5}"/>
                    </a:ext>
                  </a:extLst>
                </p:cNvPr>
                <p:cNvSpPr/>
                <p:nvPr/>
              </p:nvSpPr>
              <p:spPr>
                <a:xfrm>
                  <a:off x="7097512" y="4245257"/>
                  <a:ext cx="86671" cy="822635"/>
                </a:xfrm>
                <a:prstGeom prst="upDownArrow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0000" tIns="90000" rIns="90000" bIns="90000" rtlCol="0" anchor="t" anchorCtr="0"/>
                <a:lstStyle/>
                <a:p>
                  <a:pPr algn="l"/>
                  <a:endParaRPr lang="de-DE" sz="1600" dirty="0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1" name="TextBox 110">
                      <a:extLst>
                        <a:ext uri="{FF2B5EF4-FFF2-40B4-BE49-F238E27FC236}">
                          <a16:creationId xmlns:a16="http://schemas.microsoft.com/office/drawing/2014/main" id="{EF3300D4-B6E1-0ECA-D4BC-551FF874742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228694" y="4508878"/>
                      <a:ext cx="1008359" cy="29539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noAutofit/>
                    </a:bodyPr>
                    <a:lstStyle/>
                    <a:p>
                      <a14:m>
                        <m:oMath xmlns:m="http://schemas.openxmlformats.org/officeDocument/2006/math"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𝐶𝑟𝑒𝑑𝑖𝑡</m:t>
                          </m:r>
                        </m:oMath>
                      </a14:m>
                      <a:r>
                        <a:rPr lang="en-US" sz="1200" dirty="0"/>
                        <a:t> = </a:t>
                      </a:r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𝑖𝑛𝑠</m:t>
                              </m:r>
                            </m:sub>
                          </m:sSub>
                        </m:oMath>
                      </a14:m>
                      <a:endParaRPr lang="de-DE" sz="1200" dirty="0"/>
                    </a:p>
                  </p:txBody>
                </p:sp>
              </mc:Choice>
              <mc:Fallback xmlns="">
                <p:sp>
                  <p:nvSpPr>
                    <p:cNvPr id="111" name="TextBox 110">
                      <a:extLst>
                        <a:ext uri="{FF2B5EF4-FFF2-40B4-BE49-F238E27FC236}">
                          <a16:creationId xmlns:a16="http://schemas.microsoft.com/office/drawing/2014/main" id="{EF3300D4-B6E1-0ECA-D4BC-551FF874742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228694" y="4508878"/>
                      <a:ext cx="1008359" cy="295392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 l="-5455" t="-1836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de-DE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119" name="Straight Connector 118">
                <a:extLst>
                  <a:ext uri="{FF2B5EF4-FFF2-40B4-BE49-F238E27FC236}">
                    <a16:creationId xmlns:a16="http://schemas.microsoft.com/office/drawing/2014/main" id="{DB4A6917-4680-B788-3910-F143FAF53334}"/>
                  </a:ext>
                </a:extLst>
              </p:cNvPr>
              <p:cNvCxnSpPr/>
              <p:nvPr/>
            </p:nvCxnSpPr>
            <p:spPr>
              <a:xfrm flipH="1">
                <a:off x="5363577" y="5067892"/>
                <a:ext cx="1674017" cy="0"/>
              </a:xfrm>
              <a:prstGeom prst="line">
                <a:avLst/>
              </a:prstGeom>
              <a:ln w="9525" cap="flat" cmpd="sng" algn="ctr">
                <a:solidFill>
                  <a:schemeClr val="dk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6AB9B02C-E7A4-CB9C-0DC9-7F9497917E8E}"/>
              </a:ext>
            </a:extLst>
          </p:cNvPr>
          <p:cNvGrpSpPr/>
          <p:nvPr/>
        </p:nvGrpSpPr>
        <p:grpSpPr>
          <a:xfrm>
            <a:off x="7651796" y="1680070"/>
            <a:ext cx="3648688" cy="2448183"/>
            <a:chOff x="7651796" y="1680070"/>
            <a:chExt cx="3648688" cy="2448183"/>
          </a:xfrm>
        </p:grpSpPr>
        <p:grpSp>
          <p:nvGrpSpPr>
            <p:cNvPr id="121" name="Group 120">
              <a:extLst>
                <a:ext uri="{FF2B5EF4-FFF2-40B4-BE49-F238E27FC236}">
                  <a16:creationId xmlns:a16="http://schemas.microsoft.com/office/drawing/2014/main" id="{2D148B35-414B-969B-55A3-BDAE20CE9C19}"/>
                </a:ext>
              </a:extLst>
            </p:cNvPr>
            <p:cNvGrpSpPr/>
            <p:nvPr/>
          </p:nvGrpSpPr>
          <p:grpSpPr>
            <a:xfrm>
              <a:off x="7651796" y="1680070"/>
              <a:ext cx="3648688" cy="2448183"/>
              <a:chOff x="7651796" y="1680070"/>
              <a:chExt cx="3648688" cy="2448183"/>
            </a:xfrm>
          </p:grpSpPr>
          <p:grpSp>
            <p:nvGrpSpPr>
              <p:cNvPr id="84" name="Group 83">
                <a:extLst>
                  <a:ext uri="{FF2B5EF4-FFF2-40B4-BE49-F238E27FC236}">
                    <a16:creationId xmlns:a16="http://schemas.microsoft.com/office/drawing/2014/main" id="{5864B14A-3856-BF2E-E6FF-C2F55E81574E}"/>
                  </a:ext>
                </a:extLst>
              </p:cNvPr>
              <p:cNvGrpSpPr/>
              <p:nvPr/>
            </p:nvGrpSpPr>
            <p:grpSpPr>
              <a:xfrm>
                <a:off x="8706957" y="1680070"/>
                <a:ext cx="2593527" cy="2448183"/>
                <a:chOff x="7937394" y="1596641"/>
                <a:chExt cx="2593527" cy="2448183"/>
              </a:xfrm>
            </p:grpSpPr>
            <p:grpSp>
              <p:nvGrpSpPr>
                <p:cNvPr id="63" name="Group 62">
                  <a:extLst>
                    <a:ext uri="{FF2B5EF4-FFF2-40B4-BE49-F238E27FC236}">
                      <a16:creationId xmlns:a16="http://schemas.microsoft.com/office/drawing/2014/main" id="{74F66CE1-2B81-01AF-0D33-78A80B81FC34}"/>
                    </a:ext>
                  </a:extLst>
                </p:cNvPr>
                <p:cNvGrpSpPr/>
                <p:nvPr/>
              </p:nvGrpSpPr>
              <p:grpSpPr>
                <a:xfrm>
                  <a:off x="7937394" y="1596641"/>
                  <a:ext cx="2593527" cy="2448183"/>
                  <a:chOff x="3663286" y="1887523"/>
                  <a:chExt cx="2877423" cy="2448183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4" name="Rectangle 63">
                        <a:extLst>
                          <a:ext uri="{FF2B5EF4-FFF2-40B4-BE49-F238E27FC236}">
                            <a16:creationId xmlns:a16="http://schemas.microsoft.com/office/drawing/2014/main" id="{53EA280E-703D-C484-E6AE-34F501CBC59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89404" y="2286966"/>
                        <a:ext cx="1857259" cy="483832"/>
                      </a:xfrm>
                      <a:prstGeom prst="rect">
                        <a:avLst/>
                      </a:prstGeom>
                      <a:solidFill>
                        <a:schemeClr val="bg2">
                          <a:lumMod val="75000"/>
                        </a:schemeClr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90000" tIns="90000" rIns="90000" bIns="90000" rtlCol="0" anchor="t" anchorCtr="0"/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1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sz="1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𝐶𝑟𝑒𝑑𝑖𝑡</m:t>
                              </m:r>
                              <m:r>
                                <a:rPr lang="en-US" sz="1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=∆</m:t>
                              </m:r>
                              <m:sSub>
                                <m:sSubPr>
                                  <m:ctrlPr>
                                    <a:rPr lang="en-US" sz="1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n-US" sz="1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𝑃𝑟𝑒𝑚𝑖𝑢𝑚</m:t>
                              </m:r>
                              <m:r>
                                <a:rPr lang="en-US" sz="1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=∆</m:t>
                              </m:r>
                              <m:sSub>
                                <m:sSubPr>
                                  <m:ctrlPr>
                                    <a:rPr lang="en-US" sz="1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de-DE" sz="1000" dirty="0"/>
                      </a:p>
                    </p:txBody>
                  </p:sp>
                </mc:Choice>
                <mc:Fallback xmlns="">
                  <p:sp>
                    <p:nvSpPr>
                      <p:cNvPr id="64" name="Rectangle 63">
                        <a:extLst>
                          <a:ext uri="{FF2B5EF4-FFF2-40B4-BE49-F238E27FC236}">
                            <a16:creationId xmlns:a16="http://schemas.microsoft.com/office/drawing/2014/main" id="{53EA280E-703D-C484-E6AE-34F501CBC59F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289404" y="2286966"/>
                        <a:ext cx="1857259" cy="483832"/>
                      </a:xfrm>
                      <a:prstGeom prst="rect">
                        <a:avLst/>
                      </a:prstGeom>
                      <a:blipFill>
                        <a:blip r:embed="rId13"/>
                        <a:stretch>
                          <a:fillRect/>
                        </a:stretch>
                      </a:blipFill>
                      <a:ln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de-DE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grpSp>
                <p:nvGrpSpPr>
                  <p:cNvPr id="65" name="Group 64">
                    <a:extLst>
                      <a:ext uri="{FF2B5EF4-FFF2-40B4-BE49-F238E27FC236}">
                        <a16:creationId xmlns:a16="http://schemas.microsoft.com/office/drawing/2014/main" id="{5E419AEC-D339-2EB4-3A08-9AB18B4AF2D8}"/>
                      </a:ext>
                    </a:extLst>
                  </p:cNvPr>
                  <p:cNvGrpSpPr/>
                  <p:nvPr/>
                </p:nvGrpSpPr>
                <p:grpSpPr>
                  <a:xfrm>
                    <a:off x="3663286" y="1887523"/>
                    <a:ext cx="2877423" cy="2448183"/>
                    <a:chOff x="300302" y="1887523"/>
                    <a:chExt cx="2877423" cy="2448183"/>
                  </a:xfrm>
                </p:grpSpPr>
                <p:grpSp>
                  <p:nvGrpSpPr>
                    <p:cNvPr id="66" name="Group 65">
                      <a:extLst>
                        <a:ext uri="{FF2B5EF4-FFF2-40B4-BE49-F238E27FC236}">
                          <a16:creationId xmlns:a16="http://schemas.microsoft.com/office/drawing/2014/main" id="{B2ABA17D-A261-8D73-231A-683892772E1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66619" y="1887523"/>
                      <a:ext cx="2511106" cy="2448183"/>
                      <a:chOff x="666619" y="1887523"/>
                      <a:chExt cx="2511106" cy="2448183"/>
                    </a:xfrm>
                  </p:grpSpPr>
                  <p:grpSp>
                    <p:nvGrpSpPr>
                      <p:cNvPr id="68" name="Group 67">
                        <a:extLst>
                          <a:ext uri="{FF2B5EF4-FFF2-40B4-BE49-F238E27FC236}">
                            <a16:creationId xmlns:a16="http://schemas.microsoft.com/office/drawing/2014/main" id="{4F9B7455-519A-7498-1AD2-92CC817E152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666619" y="1887523"/>
                        <a:ext cx="2511106" cy="2162962"/>
                        <a:chOff x="847288" y="1711354"/>
                        <a:chExt cx="2223083" cy="1717646"/>
                      </a:xfrm>
                    </p:grpSpPr>
                    <p:cxnSp>
                      <p:nvCxnSpPr>
                        <p:cNvPr id="70" name="Straight Arrow Connector 69">
                          <a:extLst>
                            <a:ext uri="{FF2B5EF4-FFF2-40B4-BE49-F238E27FC236}">
                              <a16:creationId xmlns:a16="http://schemas.microsoft.com/office/drawing/2014/main" id="{FAC89071-C80F-823D-3AF1-E2DADEB93A86}"/>
                            </a:ext>
                          </a:extLst>
                        </p:cNvPr>
                        <p:cNvCxnSpPr/>
                        <p:nvPr/>
                      </p:nvCxnSpPr>
                      <p:spPr>
                        <a:xfrm flipV="1">
                          <a:off x="847288" y="1711354"/>
                          <a:ext cx="0" cy="1717646"/>
                        </a:xfrm>
                        <a:prstGeom prst="straightConnector1">
                          <a:avLst/>
                        </a:prstGeom>
                        <a:ln>
                          <a:tailEnd type="triangle"/>
                        </a:ln>
                      </p:spPr>
                      <p:style>
                        <a:lnRef idx="3">
                          <a:schemeClr val="dk1"/>
                        </a:lnRef>
                        <a:fillRef idx="0">
                          <a:schemeClr val="dk1"/>
                        </a:fillRef>
                        <a:effectRef idx="2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71" name="Straight Arrow Connector 70">
                          <a:extLst>
                            <a:ext uri="{FF2B5EF4-FFF2-40B4-BE49-F238E27FC236}">
                              <a16:creationId xmlns:a16="http://schemas.microsoft.com/office/drawing/2014/main" id="{74C9B29C-7426-96E2-B7EC-C65D1EC653F7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847288" y="3429000"/>
                          <a:ext cx="2223083" cy="0"/>
                        </a:xfrm>
                        <a:prstGeom prst="straightConnector1">
                          <a:avLst/>
                        </a:prstGeom>
                        <a:ln>
                          <a:tailEnd type="triangle"/>
                        </a:ln>
                      </p:spPr>
                      <p:style>
                        <a:lnRef idx="3">
                          <a:schemeClr val="dk1"/>
                        </a:lnRef>
                        <a:fillRef idx="0">
                          <a:schemeClr val="dk1"/>
                        </a:fillRef>
                        <a:effectRef idx="2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mc:AlternateContent xmlns:mc="http://schemas.openxmlformats.org/markup-compatibility/2006" xmlns:a14="http://schemas.microsoft.com/office/drawing/2010/main">
                      <mc:Choice Requires="a14">
                        <p:sp>
                          <p:nvSpPr>
                            <p:cNvPr id="72" name="Rectangle 71">
                              <a:extLst>
                                <a:ext uri="{FF2B5EF4-FFF2-40B4-BE49-F238E27FC236}">
                                  <a16:creationId xmlns:a16="http://schemas.microsoft.com/office/drawing/2014/main" id="{E98535DE-7404-CEA2-BB24-C2E457C746F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7290" y="2404191"/>
                              <a:ext cx="1644233" cy="1024809"/>
                            </a:xfrm>
                            <a:prstGeom prst="rect">
                              <a:avLst/>
                            </a:prstGeom>
                            <a:solidFill>
                              <a:srgbClr val="C00000"/>
                            </a:solidFill>
                            <a:ln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lIns="90000" tIns="90000" rIns="90000" bIns="90000" rtlCol="0" anchor="t" anchorCtr="0"/>
                            <a:lstStyle/>
                            <a:p>
                              <a:pPr algn="ctr"/>
                              <a:endParaRPr lang="en-US" sz="1100" dirty="0"/>
                            </a:p>
                            <a:p>
                              <a:pPr algn="ctr"/>
                              <a:endParaRPr lang="en-US" sz="1100" dirty="0"/>
                            </a:p>
                            <a:p>
                              <a:pPr algn="ctr"/>
                              <a:r>
                                <a:rPr lang="en-US" sz="1100" dirty="0"/>
                                <a:t>Unfinanced Premium </a:t>
                              </a:r>
                              <a14:m>
                                <m:oMath xmlns:m="http://schemas.openxmlformats.org/officeDocument/2006/math"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oMath>
                              </a14:m>
                              <a:endParaRPr lang="en-US" sz="1100" dirty="0"/>
                            </a:p>
                            <a:p>
                              <a:pPr algn="ctr"/>
                              <a:r>
                                <a:rPr lang="en-US" sz="1100" dirty="0"/>
                                <a:t>Risk Area </a:t>
                              </a:r>
                              <a14:m>
                                <m:oMath xmlns:m="http://schemas.openxmlformats.org/officeDocument/2006/math"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oMath>
                              </a14:m>
                              <a:endParaRPr lang="de-DE" sz="1100" dirty="0"/>
                            </a:p>
                          </p:txBody>
                        </p:sp>
                      </mc:Choice>
                      <mc:Fallback xmlns="">
                        <p:sp>
                          <p:nvSpPr>
                            <p:cNvPr id="72" name="Rectangle 71">
                              <a:extLst>
                                <a:ext uri="{FF2B5EF4-FFF2-40B4-BE49-F238E27FC236}">
                                  <a16:creationId xmlns:a16="http://schemas.microsoft.com/office/drawing/2014/main" id="{E98535DE-7404-CEA2-BB24-C2E457C746F1}"/>
                                </a:ext>
                              </a:extLst>
                            </p:cNvPr>
                            <p:cNvSpPr>
                              <a:spLocks noRot="1" noChangeAspect="1" noMove="1" noResize="1" noEditPoints="1" noAdjustHandles="1" noChangeArrowheads="1" noChangeShapeType="1" noTextEdit="1"/>
                            </p:cNvSpPr>
                            <p:nvPr/>
                          </p:nvSpPr>
                          <p:spPr>
                            <a:xfrm>
                              <a:off x="1077290" y="2404191"/>
                              <a:ext cx="1644233" cy="1024809"/>
                            </a:xfrm>
                            <a:prstGeom prst="rect">
                              <a:avLst/>
                            </a:prstGeom>
                            <a:blipFill>
                              <a:blip r:embed="rId5"/>
                              <a:stretch>
                                <a:fillRect/>
                              </a:stretch>
                            </a:blipFill>
                            <a:ln>
                              <a:noFill/>
                            </a:ln>
                          </p:spPr>
                          <p:txBody>
                            <a:bodyPr/>
                            <a:lstStyle/>
                            <a:p>
                              <a:r>
                                <a:rPr lang="de-DE">
                                  <a:noFill/>
                                </a:rPr>
                                <a:t> </a:t>
                              </a:r>
                            </a:p>
                          </p:txBody>
                        </p:sp>
                      </mc:Fallback>
                    </mc:AlternateContent>
                  </p:grpSp>
                  <p:sp>
                    <p:nvSpPr>
                      <p:cNvPr id="69" name="Rectangle 68">
                        <a:extLst>
                          <a:ext uri="{FF2B5EF4-FFF2-40B4-BE49-F238E27FC236}">
                            <a16:creationId xmlns:a16="http://schemas.microsoft.com/office/drawing/2014/main" id="{C80C7676-A3CB-AD93-2E25-58AB6569025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546226" y="4050484"/>
                        <a:ext cx="617647" cy="2852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90000" tIns="90000" rIns="90000" bIns="90000" rtlCol="0" anchor="t" anchorCtr="0"/>
                      <a:lstStyle/>
                      <a:p>
                        <a:pPr algn="l"/>
                        <a:r>
                          <a:rPr lang="en-US" sz="1200" dirty="0">
                            <a:solidFill>
                              <a:schemeClr val="tx1"/>
                            </a:solidFill>
                          </a:rPr>
                          <a:t>Time</a:t>
                        </a:r>
                        <a:endParaRPr lang="de-DE" sz="12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  <p:sp>
                  <p:nvSpPr>
                    <p:cNvPr id="67" name="Rectangle 66">
                      <a:extLst>
                        <a:ext uri="{FF2B5EF4-FFF2-40B4-BE49-F238E27FC236}">
                          <a16:creationId xmlns:a16="http://schemas.microsoft.com/office/drawing/2014/main" id="{4BC697DF-DC6C-95F0-D2CA-46A11ADD4204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134089" y="2840070"/>
                      <a:ext cx="617647" cy="28522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90000" tIns="90000" rIns="90000" bIns="90000" rtlCol="0" anchor="t" anchorCtr="0"/>
                    <a:lstStyle/>
                    <a:p>
                      <a:pPr algn="l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Credit</a:t>
                      </a:r>
                      <a:endParaRPr lang="de-DE" sz="1200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</p:grpSp>
            <p:sp>
              <p:nvSpPr>
                <p:cNvPr id="83" name="Rectangle 82">
                  <a:extLst>
                    <a:ext uri="{FF2B5EF4-FFF2-40B4-BE49-F238E27FC236}">
                      <a16:creationId xmlns:a16="http://schemas.microsoft.com/office/drawing/2014/main" id="{ED1CD540-F200-3F71-2880-8B51E93E82E7}"/>
                    </a:ext>
                  </a:extLst>
                </p:cNvPr>
                <p:cNvSpPr/>
                <p:nvPr/>
              </p:nvSpPr>
              <p:spPr>
                <a:xfrm>
                  <a:off x="8501736" y="1781477"/>
                  <a:ext cx="1668067" cy="216128"/>
                </a:xfrm>
                <a:prstGeom prst="rect">
                  <a:avLst/>
                </a:prstGeom>
                <a:solidFill>
                  <a:schemeClr val="bg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0000" tIns="90000" rIns="90000" bIns="90000" rtlCol="0" anchor="t" anchorCtr="0"/>
                <a:lstStyle/>
                <a:p>
                  <a:endParaRPr lang="de-DE" sz="600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90" name="Group 89">
                <a:extLst>
                  <a:ext uri="{FF2B5EF4-FFF2-40B4-BE49-F238E27FC236}">
                    <a16:creationId xmlns:a16="http://schemas.microsoft.com/office/drawing/2014/main" id="{A1600528-9CEB-BFB8-9983-94E3B96862F1}"/>
                  </a:ext>
                </a:extLst>
              </p:cNvPr>
              <p:cNvGrpSpPr/>
              <p:nvPr/>
            </p:nvGrpSpPr>
            <p:grpSpPr>
              <a:xfrm>
                <a:off x="7651796" y="2492095"/>
                <a:ext cx="820989" cy="462663"/>
                <a:chOff x="7651796" y="2492095"/>
                <a:chExt cx="820989" cy="462663"/>
              </a:xfrm>
            </p:grpSpPr>
            <p:sp>
              <p:nvSpPr>
                <p:cNvPr id="86" name="Arrow: Right 85">
                  <a:extLst>
                    <a:ext uri="{FF2B5EF4-FFF2-40B4-BE49-F238E27FC236}">
                      <a16:creationId xmlns:a16="http://schemas.microsoft.com/office/drawing/2014/main" id="{03B155F9-F9DD-DD6A-57FF-0C2E4FE874DA}"/>
                    </a:ext>
                  </a:extLst>
                </p:cNvPr>
                <p:cNvSpPr/>
                <p:nvPr/>
              </p:nvSpPr>
              <p:spPr>
                <a:xfrm>
                  <a:off x="7694857" y="2724273"/>
                  <a:ext cx="777928" cy="230485"/>
                </a:xfrm>
                <a:prstGeom prst="rightArrow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0000" tIns="90000" rIns="90000" bIns="90000" rtlCol="0" anchor="t" anchorCtr="0"/>
                <a:lstStyle/>
                <a:p>
                  <a:pPr algn="l"/>
                  <a:endParaRPr lang="de-DE" sz="1600" dirty="0"/>
                </a:p>
              </p:txBody>
            </p:sp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C18BF982-D2E1-79C9-20A4-40FC096FD407}"/>
                    </a:ext>
                  </a:extLst>
                </p:cNvPr>
                <p:cNvSpPr txBox="1"/>
                <p:nvPr/>
              </p:nvSpPr>
              <p:spPr>
                <a:xfrm>
                  <a:off x="7651796" y="2492095"/>
                  <a:ext cx="795788" cy="29539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pPr algn="l"/>
                  <a:r>
                    <a:rPr lang="en-US" sz="1200" dirty="0"/>
                    <a:t>2</a:t>
                  </a:r>
                  <a:r>
                    <a:rPr lang="en-US" sz="1200" baseline="30000" dirty="0"/>
                    <a:t>nd</a:t>
                  </a:r>
                  <a:r>
                    <a:rPr lang="en-US" sz="1200" dirty="0"/>
                    <a:t> Iteration</a:t>
                  </a:r>
                  <a:endParaRPr lang="de-DE" sz="1200" dirty="0"/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F0024FA6-E22F-AD2C-8639-8F60D529BBCF}"/>
                    </a:ext>
                  </a:extLst>
                </p:cNvPr>
                <p:cNvSpPr txBox="1"/>
                <p:nvPr/>
              </p:nvSpPr>
              <p:spPr>
                <a:xfrm>
                  <a:off x="9229725" y="1880637"/>
                  <a:ext cx="1764859" cy="18466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𝐶𝑟𝑒𝑑𝑖𝑡</m:t>
                        </m:r>
                        <m:r>
                          <a:rPr lang="en-US" sz="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=∆</m:t>
                        </m:r>
                        <m:sSub>
                          <m:sSubPr>
                            <m:ctrlPr>
                              <a:rPr lang="en-US" sz="6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  </m:t>
                        </m:r>
                        <m:r>
                          <a:rPr lang="en-US" sz="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𝑃𝑟𝑒𝑚𝑖𝑢𝑚</m:t>
                        </m:r>
                        <m:r>
                          <a:rPr lang="en-US" sz="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=∆</m:t>
                        </m:r>
                        <m:sSub>
                          <m:sSubPr>
                            <m:ctrlPr>
                              <a:rPr lang="en-US" sz="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sz="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𝑃𝑅</m:t>
                            </m:r>
                          </m:e>
                          <m:sup>
                            <m:r>
                              <a:rPr lang="en-US" sz="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sz="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PMingLiU" panose="02020500000000000000" pitchFamily="18" charset="-120"/>
                          </a:rPr>
                          <m:t>∙</m:t>
                        </m:r>
                        <m:r>
                          <a:rPr lang="en-US" sz="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oMath>
                    </m:oMathPara>
                  </a14:m>
                  <a:endParaRPr lang="de-DE" sz="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F0024FA6-E22F-AD2C-8639-8F60D529BB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29725" y="1880637"/>
                  <a:ext cx="1764859" cy="184666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905377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" grpId="0" animBg="1"/>
      <p:bldP spid="11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25B57-DF16-22A3-E202-021292C76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2" y="1007282"/>
            <a:ext cx="11306175" cy="483831"/>
          </a:xfrm>
        </p:spPr>
        <p:txBody>
          <a:bodyPr/>
          <a:lstStyle/>
          <a:p>
            <a:r>
              <a:rPr lang="de-CH" dirty="0"/>
              <a:t>Premium Financing </a:t>
            </a:r>
            <a:r>
              <a:rPr lang="de-CH" dirty="0" err="1"/>
              <a:t>of</a:t>
            </a:r>
            <a:r>
              <a:rPr lang="de-CH" dirty="0"/>
              <a:t> </a:t>
            </a:r>
            <a:r>
              <a:rPr lang="de-CH" dirty="0" err="1"/>
              <a:t>Modifications</a:t>
            </a:r>
            <a:endParaRPr lang="de-D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EF002C-CD30-FF27-897E-ADE243463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 October 2024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2A80D6-5709-E7A4-0D6F-72F8A1903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9AB5E-215F-4BC4-9EB7-C8883DA834C0}" type="slidenum">
              <a:rPr lang="en-US" smtClean="0"/>
              <a:pPr/>
              <a:t>23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Inhaltsplatzhalter 2">
                <a:extLst>
                  <a:ext uri="{FF2B5EF4-FFF2-40B4-BE49-F238E27FC236}">
                    <a16:creationId xmlns:a16="http://schemas.microsoft.com/office/drawing/2014/main" id="{2D10DE87-47B4-A96E-0371-595DCFA5628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2911" y="1787728"/>
                <a:ext cx="7895745" cy="2708770"/>
              </a:xfrm>
              <a:prstGeom prst="roundRect">
                <a:avLst/>
              </a:prstGeom>
              <a:solidFill>
                <a:schemeClr val="bg2"/>
              </a:solidFill>
            </p:spPr>
            <p:txBody>
              <a:bodyPr/>
              <a:lstStyle>
                <a:lvl1pPr marL="0" indent="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0" indent="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80000" indent="-18000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buClr>
                    <a:schemeClr val="accent1"/>
                  </a:buClr>
                  <a:buFont typeface="Arial" panose="020B0604020202020204" pitchFamily="34" charset="0"/>
                  <a:buChar char="»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360000" indent="-18000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18000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indent="-285750">
                  <a:lnSpc>
                    <a:spcPct val="15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de-CH" dirty="0">
                    <a:sym typeface="Wingdings" panose="05000000000000000000" pitchFamily="2" charset="2"/>
                  </a:rPr>
                  <a:t>Financing </a:t>
                </a:r>
                <a:r>
                  <a:rPr lang="de-CH" dirty="0" err="1">
                    <a:sym typeface="Wingdings" panose="05000000000000000000" pitchFamily="2" charset="2"/>
                  </a:rPr>
                  <a:t>of</a:t>
                </a:r>
                <a:r>
                  <a:rPr lang="de-CH" dirty="0">
                    <a:sym typeface="Wingdings" panose="05000000000000000000" pitchFamily="2" charset="2"/>
                  </a:rPr>
                  <a:t> a premium </a:t>
                </a:r>
                <a:r>
                  <a:rPr lang="de-CH" dirty="0" err="1">
                    <a:sym typeface="Wingdings" panose="05000000000000000000" pitchFamily="2" charset="2"/>
                  </a:rPr>
                  <a:t>surcharge</a:t>
                </a:r>
                <a:r>
                  <a:rPr lang="de-CH" dirty="0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GB" smtClean="0">
                        <a:effectLst/>
                        <a:latin typeface="Cambria Math" panose="02040503050406030204" pitchFamily="18" charset="0"/>
                        <a:ea typeface="PMingLiU" panose="02020500000000000000" pitchFamily="18" charset="-120"/>
                        <a:cs typeface="Arial" panose="020B0604020202020204" pitchFamily="34" charset="0"/>
                      </a:rPr>
                      <m:t>∆</m:t>
                    </m:r>
                    <m:r>
                      <a:rPr lang="en-GB" i="1">
                        <a:effectLst/>
                        <a:latin typeface="Cambria Math" panose="02040503050406030204" pitchFamily="18" charset="0"/>
                        <a:ea typeface="PMingLiU" panose="02020500000000000000" pitchFamily="18" charset="-120"/>
                        <a:cs typeface="Arial" panose="020B0604020202020204" pitchFamily="34" charset="0"/>
                      </a:rPr>
                      <m:t>𝑃</m:t>
                    </m:r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PMingLiU" panose="02020500000000000000" pitchFamily="18" charset="-120"/>
                        <a:cs typeface="Arial" panose="020B0604020202020204" pitchFamily="34" charset="0"/>
                      </a:rPr>
                      <m:t>&gt;0</m:t>
                    </m:r>
                    <m:r>
                      <a:rPr lang="en-GB" i="1">
                        <a:effectLst/>
                        <a:latin typeface="Cambria Math" panose="02040503050406030204" pitchFamily="18" charset="0"/>
                        <a:ea typeface="PMingLiU" panose="02020500000000000000" pitchFamily="18" charset="-12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de-CH" dirty="0" err="1">
                    <a:sym typeface="Wingdings" panose="05000000000000000000" pitchFamily="2" charset="2"/>
                  </a:rPr>
                  <a:t>corresponds</a:t>
                </a:r>
                <a:r>
                  <a:rPr lang="de-CH" dirty="0">
                    <a:sym typeface="Wingdings" panose="05000000000000000000" pitchFamily="2" charset="2"/>
                  </a:rPr>
                  <a:t> </a:t>
                </a:r>
                <a:r>
                  <a:rPr lang="de-CH" dirty="0" err="1">
                    <a:sym typeface="Wingdings" panose="05000000000000000000" pitchFamily="2" charset="2"/>
                  </a:rPr>
                  <a:t>to</a:t>
                </a:r>
                <a:r>
                  <a:rPr lang="de-CH" dirty="0">
                    <a:sym typeface="Wingdings" panose="05000000000000000000" pitchFamily="2" charset="2"/>
                  </a:rPr>
                  <a:t> an </a:t>
                </a:r>
                <a:r>
                  <a:rPr lang="de-CH" dirty="0" err="1">
                    <a:sym typeface="Wingdings" panose="05000000000000000000" pitchFamily="2" charset="2"/>
                  </a:rPr>
                  <a:t>increased</a:t>
                </a:r>
                <a:r>
                  <a:rPr lang="de-CH" dirty="0">
                    <a:sym typeface="Wingdings" panose="05000000000000000000" pitchFamily="2" charset="2"/>
                  </a:rPr>
                  <a:t> </a:t>
                </a:r>
                <a:r>
                  <a:rPr lang="de-CH" dirty="0" err="1">
                    <a:sym typeface="Wingdings" panose="05000000000000000000" pitchFamily="2" charset="2"/>
                  </a:rPr>
                  <a:t>coverage</a:t>
                </a:r>
                <a:r>
                  <a:rPr lang="de-CH" dirty="0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  <m:r>
                          <a:rPr lang="en-GB">
                            <a:latin typeface="Cambria Math" panose="02040503050406030204" pitchFamily="18" charset="0"/>
                            <a:ea typeface="PMingLiU" panose="02020500000000000000" pitchFamily="18" charset="-120"/>
                            <a:cs typeface="Arial" panose="020B0604020202020204" pitchFamily="34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</m:t>
                        </m:r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PMingLiU" panose="02020500000000000000" pitchFamily="18" charset="-120"/>
                                <a:cs typeface="Arial" panose="020B0604020202020204" pitchFamily="34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PMingLiU" panose="02020500000000000000" pitchFamily="18" charset="-120"/>
                                <a:cs typeface="Arial" panose="020B0604020202020204" pitchFamily="34" charset="0"/>
                              </a:rPr>
                              <m:t>𝑚</m:t>
                            </m:r>
                          </m:sub>
                        </m:sSub>
                        <m:r>
                          <a:rPr lang="en-GB">
                            <a:latin typeface="Cambria Math" panose="02040503050406030204" pitchFamily="18" charset="0"/>
                            <a:ea typeface="PMingLiU" panose="02020500000000000000" pitchFamily="18" charset="-120"/>
                            <a:cs typeface="Arial" panose="020B0604020202020204" pitchFamily="34" charset="0"/>
                          </a:rPr>
                          <m:t>)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PMingLiU" panose="02020500000000000000" pitchFamily="18" charset="-120"/>
                            <a:cs typeface="Arial" panose="020B0604020202020204" pitchFamily="34" charset="0"/>
                          </a:rPr>
                          <m:t>𝑖𝑛𝑠</m:t>
                        </m:r>
                      </m:sub>
                    </m:sSub>
                  </m:oMath>
                </a14:m>
                <a:r>
                  <a:rPr lang="de-CH" dirty="0">
                    <a:sym typeface="Wingdings" panose="05000000000000000000" pitchFamily="2" charset="2"/>
                  </a:rPr>
                  <a:t> at </a:t>
                </a:r>
                <a:r>
                  <a:rPr lang="de-CH" dirty="0" err="1">
                    <a:sym typeface="Wingdings" panose="05000000000000000000" pitchFamily="2" charset="2"/>
                  </a:rPr>
                  <a:t>the</a:t>
                </a:r>
                <a:r>
                  <a:rPr lang="de-CH" dirty="0">
                    <a:sym typeface="Wingdings" panose="05000000000000000000" pitchFamily="2" charset="2"/>
                  </a:rPr>
                  <a:t> </a:t>
                </a:r>
                <a:r>
                  <a:rPr lang="de-CH" dirty="0" err="1">
                    <a:sym typeface="Wingdings" panose="05000000000000000000" pitchFamily="2" charset="2"/>
                  </a:rPr>
                  <a:t>expense</a:t>
                </a:r>
                <a:r>
                  <a:rPr lang="de-CH" dirty="0">
                    <a:sym typeface="Wingdings" panose="05000000000000000000" pitchFamily="2" charset="2"/>
                  </a:rPr>
                  <a:t> </a:t>
                </a:r>
                <a:r>
                  <a:rPr lang="de-CH" dirty="0" err="1">
                    <a:sym typeface="Wingdings" panose="05000000000000000000" pitchFamily="2" charset="2"/>
                  </a:rPr>
                  <a:t>of</a:t>
                </a:r>
                <a:r>
                  <a:rPr lang="de-CH" dirty="0">
                    <a:sym typeface="Wingdings" panose="05000000000000000000" pitchFamily="2" charset="2"/>
                  </a:rPr>
                  <a:t> a </a:t>
                </a:r>
                <a:r>
                  <a:rPr lang="de-CH" dirty="0" err="1">
                    <a:sym typeface="Wingdings" panose="05000000000000000000" pitchFamily="2" charset="2"/>
                  </a:rPr>
                  <a:t>higher</a:t>
                </a:r>
                <a:r>
                  <a:rPr lang="de-CH" dirty="0">
                    <a:sym typeface="Wingdings" panose="05000000000000000000" pitchFamily="2" charset="2"/>
                  </a:rPr>
                  <a:t> premium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>
                            <a:latin typeface="Cambria Math" panose="02040503050406030204" pitchFamily="18" charset="0"/>
                          </a:rPr>
                          <m:t>∆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𝑖𝑛𝑠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GB">
                        <a:latin typeface="Cambria Math" panose="02040503050406030204" pitchFamily="18" charset="0"/>
                        <a:ea typeface="PMingLiU" panose="02020500000000000000" pitchFamily="18" charset="-120"/>
                        <a:cs typeface="Arial" panose="020B0604020202020204" pitchFamily="34" charset="0"/>
                      </a:rPr>
                      <m:t>∆</m:t>
                    </m:r>
                    <m:r>
                      <a:rPr lang="en-GB" i="1">
                        <a:latin typeface="Cambria Math" panose="02040503050406030204" pitchFamily="18" charset="0"/>
                        <a:ea typeface="PMingLiU" panose="02020500000000000000" pitchFamily="18" charset="-120"/>
                        <a:cs typeface="Arial" panose="020B0604020202020204" pitchFamily="34" charset="0"/>
                      </a:rPr>
                      <m:t>𝑃</m:t>
                    </m:r>
                  </m:oMath>
                </a14:m>
                <a:endParaRPr lang="de-CH" dirty="0">
                  <a:sym typeface="Wingdings" panose="05000000000000000000" pitchFamily="2" charset="2"/>
                </a:endParaRPr>
              </a:p>
              <a:p>
                <a:pPr marL="285750" indent="-285750">
                  <a:lnSpc>
                    <a:spcPct val="15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de-CH" dirty="0">
                    <a:sym typeface="Wingdings" panose="05000000000000000000" pitchFamily="2" charset="2"/>
                  </a:rPr>
                  <a:t>Mathematically, </a:t>
                </a:r>
                <a:r>
                  <a:rPr lang="de-CH" dirty="0" err="1">
                    <a:sym typeface="Wingdings" panose="05000000000000000000" pitchFamily="2" charset="2"/>
                  </a:rPr>
                  <a:t>there</a:t>
                </a:r>
                <a:r>
                  <a:rPr lang="de-CH" dirty="0">
                    <a:sym typeface="Wingdings" panose="05000000000000000000" pitchFamily="2" charset="2"/>
                  </a:rPr>
                  <a:t> </a:t>
                </a:r>
                <a:r>
                  <a:rPr lang="de-CH" dirty="0" err="1">
                    <a:sym typeface="Wingdings" panose="05000000000000000000" pitchFamily="2" charset="2"/>
                  </a:rPr>
                  <a:t>are</a:t>
                </a:r>
                <a:r>
                  <a:rPr lang="de-CH" dirty="0">
                    <a:sym typeface="Wingdings" panose="05000000000000000000" pitchFamily="2" charset="2"/>
                  </a:rPr>
                  <a:t> </a:t>
                </a:r>
                <a:r>
                  <a:rPr lang="de-CH" dirty="0" err="1">
                    <a:sym typeface="Wingdings" panose="05000000000000000000" pitchFamily="2" charset="2"/>
                  </a:rPr>
                  <a:t>two</a:t>
                </a:r>
                <a:r>
                  <a:rPr lang="de-CH" dirty="0">
                    <a:sym typeface="Wingdings" panose="05000000000000000000" pitchFamily="2" charset="2"/>
                  </a:rPr>
                  <a:t> </a:t>
                </a:r>
                <a:r>
                  <a:rPr lang="de-CH" dirty="0" err="1">
                    <a:sym typeface="Wingdings" panose="05000000000000000000" pitchFamily="2" charset="2"/>
                  </a:rPr>
                  <a:t>unknown</a:t>
                </a:r>
                <a:r>
                  <a:rPr lang="de-CH" dirty="0">
                    <a:sym typeface="Wingdings" panose="05000000000000000000" pitchFamily="2" charset="2"/>
                  </a:rPr>
                  <a:t> variables:</a:t>
                </a:r>
                <a:endParaRPr lang="de-DE" i="1" dirty="0">
                  <a:effectLst/>
                  <a:latin typeface="Cambria Math" panose="02040503050406030204" pitchFamily="18" charset="0"/>
                  <a:ea typeface="PMingLiU" panose="02020500000000000000" pitchFamily="18" charset="-120"/>
                </a:endParaRPr>
              </a:p>
              <a:p>
                <a:pPr algn="ctr">
                  <a:lnSpc>
                    <a:spcPct val="150000"/>
                  </a:lnSpc>
                  <a:spcBef>
                    <a:spcPts val="12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mtClean="0">
                              <a:effectLst/>
                              <a:latin typeface="Cambria Math" panose="02040503050406030204" pitchFamily="18" charset="0"/>
                              <a:ea typeface="PMingLiU" panose="02020500000000000000" pitchFamily="18" charset="-120"/>
                            </a:rPr>
                          </m:ctrlPr>
                        </m:sSubPr>
                        <m:e>
                          <m:r>
                            <a:rPr lang="en-GB">
                              <a:effectLst/>
                              <a:latin typeface="Cambria Math" panose="02040503050406030204" pitchFamily="18" charset="0"/>
                              <a:ea typeface="PMingLiU" panose="02020500000000000000" pitchFamily="18" charset="-120"/>
                            </a:rPr>
                            <m:t>∆</m:t>
                          </m:r>
                          <m:r>
                            <a:rPr lang="en-GB" i="1">
                              <a:effectLst/>
                              <a:latin typeface="Cambria Math" panose="02040503050406030204" pitchFamily="18" charset="0"/>
                              <a:ea typeface="PMingLiU" panose="02020500000000000000" pitchFamily="18" charset="-120"/>
                            </a:rPr>
                            <m:t>𝑃</m:t>
                          </m:r>
                        </m:e>
                        <m:sub>
                          <m:r>
                            <a:rPr lang="en-GB" i="1">
                              <a:effectLst/>
                              <a:latin typeface="Cambria Math" panose="02040503050406030204" pitchFamily="18" charset="0"/>
                              <a:ea typeface="PMingLiU" panose="02020500000000000000" pitchFamily="18" charset="-120"/>
                            </a:rPr>
                            <m:t>𝑖𝑛𝑠</m:t>
                          </m:r>
                        </m:sub>
                      </m:sSub>
                      <m:r>
                        <a:rPr lang="en-GB">
                          <a:effectLst/>
                          <a:latin typeface="Cambria Math" panose="02040503050406030204" pitchFamily="18" charset="0"/>
                          <a:ea typeface="PMingLiU" panose="02020500000000000000" pitchFamily="18" charset="-120"/>
                        </a:rPr>
                        <m:t>=</m:t>
                      </m:r>
                      <m:sSub>
                        <m:sSubPr>
                          <m:ctrlPr>
                            <a:rPr lang="en-GB" i="1" smtClean="0">
                              <a:effectLst/>
                              <a:latin typeface="Cambria Math" panose="02040503050406030204" pitchFamily="18" charset="0"/>
                              <a:ea typeface="PMingLiU" panose="02020500000000000000" pitchFamily="18" charset="-12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𝜅</m:t>
                          </m:r>
                        </m:e>
                        <m:sub>
                          <m:r>
                            <a:rPr lang="en-GB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∆</m:t>
                          </m:r>
                          <m:r>
                            <a:rPr lang="en-GB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𝑃</m:t>
                          </m:r>
                        </m:sub>
                      </m:sSub>
                      <m:r>
                        <a:rPr lang="en-GB">
                          <a:effectLst/>
                          <a:latin typeface="Cambria Math" panose="02040503050406030204" pitchFamily="18" charset="0"/>
                          <a:ea typeface="PMingLiU" panose="02020500000000000000" pitchFamily="18" charset="-120"/>
                        </a:rPr>
                        <m:t>∙∆</m:t>
                      </m:r>
                      <m:r>
                        <a:rPr lang="en-GB" i="1">
                          <a:effectLst/>
                          <a:latin typeface="Cambria Math" panose="02040503050406030204" pitchFamily="18" charset="0"/>
                          <a:ea typeface="PMingLiU" panose="02020500000000000000" pitchFamily="18" charset="-120"/>
                        </a:rPr>
                        <m:t>𝑃</m:t>
                      </m:r>
                      <m:r>
                        <a:rPr lang="en-US" b="0" i="0" smtClean="0">
                          <a:effectLst/>
                          <a:latin typeface="Cambria Math" panose="02040503050406030204" pitchFamily="18" charset="0"/>
                          <a:ea typeface="PMingLiU" panose="02020500000000000000" pitchFamily="18" charset="-120"/>
                        </a:rPr>
                        <m:t> 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effectLst/>
                              <a:latin typeface="Cambria Math" panose="02040503050406030204" pitchFamily="18" charset="0"/>
                              <a:ea typeface="PMingLiU" panose="02020500000000000000" pitchFamily="18" charset="-120"/>
                            </a:rPr>
                          </m:ctrlPr>
                        </m:dPr>
                        <m:e>
                          <m:r>
                            <a:rPr lang="en-US" b="0" i="0" smtClean="0">
                              <a:solidFill>
                                <a:schemeClr val="accent1"/>
                              </a:solidFill>
                              <a:effectLst/>
                              <a:latin typeface="Cambria Math" panose="02040503050406030204" pitchFamily="18" charset="0"/>
                              <a:ea typeface="PMingLiU" panose="02020500000000000000" pitchFamily="18" charset="-120"/>
                            </a:rPr>
                            <m:t>1</m:t>
                          </m:r>
                        </m:e>
                      </m:d>
                      <m:r>
                        <a:rPr lang="en-US" b="0" i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PMingLiU" panose="02020500000000000000" pitchFamily="18" charset="-120"/>
                        </a:rPr>
                        <m:t>, </m:t>
                      </m:r>
                      <m:r>
                        <a:rPr lang="en-US" b="0" i="0" smtClean="0">
                          <a:effectLst/>
                          <a:latin typeface="Cambria Math" panose="02040503050406030204" pitchFamily="18" charset="0"/>
                          <a:ea typeface="PMingLiU" panose="02020500000000000000" pitchFamily="18" charset="-120"/>
                        </a:rPr>
                        <m:t> 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  <a:ea typeface="PMingLiU" panose="02020500000000000000" pitchFamily="18" charset="-120"/>
                        </a:rPr>
                        <m:t>  </m:t>
                      </m:r>
                      <m:sSub>
                        <m:sSubPr>
                          <m:ctrlPr>
                            <a:rPr lang="de-DE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GB" i="1">
                              <a:effectLst/>
                              <a:latin typeface="Cambria Math" panose="02040503050406030204" pitchFamily="18" charset="0"/>
                              <a:ea typeface="PMingLiU" panose="02020500000000000000" pitchFamily="18" charset="-120"/>
                              <a:cs typeface="Arial" panose="020B0604020202020204" pitchFamily="34" charset="0"/>
                            </a:rPr>
                            <m:t>𝑖𝑛𝑠</m:t>
                          </m:r>
                        </m:sub>
                      </m:sSub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  <a:ea typeface="PMingLiU" panose="02020500000000000000" pitchFamily="18" charset="-12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  <a:ea typeface="PMingLiU" panose="02020500000000000000" pitchFamily="18" charset="-120"/>
                                  <a:cs typeface="Arial" panose="020B0604020202020204" pitchFamily="34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  <m:r>
                        <a:rPr lang="en-GB">
                          <a:effectLst/>
                          <a:latin typeface="Cambria Math" panose="02040503050406030204" pitchFamily="18" charset="0"/>
                          <a:ea typeface="PMingLiU" panose="02020500000000000000" pitchFamily="18" charset="-12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  <a:ea typeface="PMingLiU" panose="02020500000000000000" pitchFamily="18" charset="-12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𝜅</m:t>
                          </m:r>
                        </m:e>
                        <m:sub>
                          <m:acc>
                            <m:accPr>
                              <m:chr m:val="̃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</m:t>
                              </m:r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  <a:ea typeface="PMingLiU" panose="02020500000000000000" pitchFamily="18" charset="-120"/>
                                      <a:cs typeface="Arial" panose="020B0604020202020204" pitchFamily="34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  <a:ea typeface="PMingLiU" panose="02020500000000000000" pitchFamily="18" charset="-120"/>
                                      <a:cs typeface="Arial" panose="020B0604020202020204" pitchFamily="34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</m:sub>
                      </m:sSub>
                      <m:r>
                        <a:rPr lang="en-GB">
                          <a:effectLst/>
                          <a:latin typeface="Cambria Math" panose="02040503050406030204" pitchFamily="18" charset="0"/>
                          <a:ea typeface="PMingLiU" panose="02020500000000000000" pitchFamily="18" charset="-120"/>
                          <a:cs typeface="Arial" panose="020B0604020202020204" pitchFamily="34" charset="0"/>
                        </a:rPr>
                        <m:t>∙</m:t>
                      </m:r>
                      <m:acc>
                        <m:accPr>
                          <m:chr m:val="̃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  <a:ea typeface="PMingLiU" panose="02020500000000000000" pitchFamily="18" charset="-12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  <a:ea typeface="PMingLiU" panose="02020500000000000000" pitchFamily="18" charset="-120"/>
                                  <a:cs typeface="Arial" panose="020B0604020202020204" pitchFamily="34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PMingLiU" panose="02020500000000000000" pitchFamily="18" charset="-12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PMingLiU" panose="02020500000000000000" pitchFamily="18" charset="-120"/>
                          <a:cs typeface="Arial" panose="020B0604020202020204" pitchFamily="34" charset="0"/>
                        </a:rPr>
                        <m:t>(2)</m:t>
                      </m:r>
                    </m:oMath>
                  </m:oMathPara>
                </a14:m>
                <a:endParaRPr lang="de-CH" dirty="0">
                  <a:sym typeface="Wingdings" panose="05000000000000000000" pitchFamily="2" charset="2"/>
                </a:endParaRPr>
              </a:p>
              <a:p>
                <a:pPr marL="285750" indent="-285750">
                  <a:lnSpc>
                    <a:spcPct val="100000"/>
                  </a:lnSpc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de-CH" dirty="0">
                    <a:sym typeface="Wingdings" panose="05000000000000000000" pitchFamily="2" charset="2"/>
                  </a:rPr>
                  <a:t>Business </a:t>
                </a:r>
                <a:r>
                  <a:rPr lang="de-CH" dirty="0" err="1">
                    <a:sym typeface="Wingdings" panose="05000000000000000000" pitchFamily="2" charset="2"/>
                  </a:rPr>
                  <a:t>logic</a:t>
                </a:r>
                <a:r>
                  <a:rPr lang="de-CH" dirty="0">
                    <a:sym typeface="Wingdings" panose="05000000000000000000" pitchFamily="2" charset="2"/>
                  </a:rPr>
                  <a:t> </a:t>
                </a:r>
                <a:r>
                  <a:rPr lang="de-CH" dirty="0" err="1">
                    <a:sym typeface="Wingdings" panose="05000000000000000000" pitchFamily="2" charset="2"/>
                  </a:rPr>
                  <a:t>implies</a:t>
                </a:r>
                <a:r>
                  <a:rPr lang="de-CH" dirty="0">
                    <a:sym typeface="Wingdings" panose="05000000000000000000" pitchFamily="2" charset="2"/>
                  </a:rPr>
                  <a:t> </a:t>
                </a:r>
                <a:r>
                  <a:rPr lang="de-CH" dirty="0" err="1">
                    <a:sym typeface="Wingdings" panose="05000000000000000000" pitchFamily="2" charset="2"/>
                  </a:rPr>
                  <a:t>two</a:t>
                </a:r>
                <a:r>
                  <a:rPr lang="de-CH" dirty="0">
                    <a:sym typeface="Wingdings" panose="05000000000000000000" pitchFamily="2" charset="2"/>
                  </a:rPr>
                  <a:t> </a:t>
                </a:r>
                <a:r>
                  <a:rPr lang="de-CH" dirty="0" err="1">
                    <a:sym typeface="Wingdings" panose="05000000000000000000" pitchFamily="2" charset="2"/>
                  </a:rPr>
                  <a:t>boundary</a:t>
                </a:r>
                <a:r>
                  <a:rPr lang="de-CH" dirty="0">
                    <a:sym typeface="Wingdings" panose="05000000000000000000" pitchFamily="2" charset="2"/>
                  </a:rPr>
                  <a:t> </a:t>
                </a:r>
                <a:r>
                  <a:rPr lang="de-CH" dirty="0" err="1">
                    <a:sym typeface="Wingdings" panose="05000000000000000000" pitchFamily="2" charset="2"/>
                  </a:rPr>
                  <a:t>conditions</a:t>
                </a:r>
                <a:r>
                  <a:rPr lang="de-CH" dirty="0">
                    <a:sym typeface="Wingdings" panose="05000000000000000000" pitchFamily="2" charset="2"/>
                  </a:rPr>
                  <a:t>:</a:t>
                </a:r>
              </a:p>
              <a:p>
                <a:pPr>
                  <a:lnSpc>
                    <a:spcPct val="100000"/>
                  </a:lnSpc>
                  <a:spcBef>
                    <a:spcPts val="12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𝑆𝑅𝑃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  <a:ea typeface="PMingLiU" panose="02020500000000000000" pitchFamily="18" charset="-120"/>
                              <a:cs typeface="Arial" panose="020B0604020202020204" pitchFamily="34" charset="0"/>
                            </a:rPr>
                            <m:t>𝑖𝑛𝑠</m:t>
                          </m:r>
                        </m:sub>
                      </m:sSub>
                      <m:r>
                        <m:rPr>
                          <m:nor/>
                        </m:rPr>
                        <a:rPr lang="de-CH" dirty="0">
                          <a:sym typeface="Wingdings" panose="05000000000000000000" pitchFamily="2" charset="2"/>
                        </a:rPr>
                        <m:t> =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𝑆𝑅𝑃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PMingLiU" panose="02020500000000000000" pitchFamily="18" charset="-120"/>
                            </a:rPr>
                          </m:ctrlPr>
                        </m:dPr>
                        <m:e>
                          <m:r>
                            <a:rPr lang="en-US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PMingLiU" panose="02020500000000000000" pitchFamily="18" charset="-120"/>
                            </a:rPr>
                            <m:t>1</m:t>
                          </m:r>
                        </m:e>
                      </m:d>
                      <m:r>
                        <m:rPr>
                          <m:nor/>
                        </m:rPr>
                        <a:rPr lang="de-CH" dirty="0" smtClean="0">
                          <a:sym typeface="Wingdings" panose="05000000000000000000" pitchFamily="2" charset="2"/>
                        </a:rPr>
                        <m:t>,</m:t>
                      </m:r>
                      <m:r>
                        <m:rPr>
                          <m:nor/>
                        </m:rPr>
                        <a:rPr lang="en-US" dirty="0" smtClean="0">
                          <a:sym typeface="Wingdings" panose="05000000000000000000" pitchFamily="2" charset="2"/>
                        </a:rPr>
                        <m:t> </m:t>
                      </m:r>
                      <m:r>
                        <m:rPr>
                          <m:nor/>
                        </m:rPr>
                        <a:rPr lang="de-CH" dirty="0" smtClean="0">
                          <a:sym typeface="Wingdings" panose="05000000000000000000" pitchFamily="2" charset="2"/>
                        </a:rPr>
                        <m:t> </m:t>
                      </m:r>
                      <m:func>
                        <m:funcPr>
                          <m:ctrlPr>
                            <a:rPr lang="de-DE" i="1" smtClean="0">
                              <a:latin typeface="Cambria Math" panose="02040503050406030204" pitchFamily="18" charset="0"/>
                              <a:ea typeface="PMingLiU" panose="02020500000000000000" pitchFamily="18" charset="-120"/>
                            </a:rPr>
                          </m:ctrlPr>
                        </m:funcPr>
                        <m:fName>
                          <m:r>
                            <a:rPr lang="en-US">
                              <a:latin typeface="Cambria Math" panose="02040503050406030204" pitchFamily="18" charset="0"/>
                              <a:ea typeface="PMingLiU" panose="02020500000000000000" pitchFamily="18" charset="-12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  <a:ea typeface="PMingLiU" panose="02020500000000000000" pitchFamily="18" charset="-12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de-DE" i="1">
                                  <a:latin typeface="Cambria Math" panose="02040503050406030204" pitchFamily="18" charset="0"/>
                                  <a:ea typeface="PMingLiU" panose="02020500000000000000" pitchFamily="18" charset="-12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  <a:ea typeface="PMingLiU" panose="02020500000000000000" pitchFamily="18" charset="-12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  <a:ea typeface="PMingLiU" panose="02020500000000000000" pitchFamily="18" charset="-12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  <a:ea typeface="PMingLiU" panose="02020500000000000000" pitchFamily="18" charset="-120"/>
                                        </a:rPr>
                                        <m:t>𝐶𝑃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  <a:ea typeface="PMingLiU" panose="02020500000000000000" pitchFamily="18" charset="-120"/>
                                    </a:rPr>
                                    <m:t>𝑖𝑛𝑠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≥</m:t>
                                  </m:r>
                                  <m:sSub>
                                    <m:sSub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  <a:ea typeface="PMingLiU" panose="02020500000000000000" pitchFamily="18" charset="-120"/>
                                          <a:cs typeface="Arial" panose="020B0604020202020204" pitchFamily="34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  <a:ea typeface="PMingLiU" panose="02020500000000000000" pitchFamily="18" charset="-120"/>
                                          <a:cs typeface="Arial" panose="020B0604020202020204" pitchFamily="34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  <a:ea typeface="PMingLiU" panose="02020500000000000000" pitchFamily="18" charset="-120"/>
                        </a:rPr>
                        <m:t>=</m:t>
                      </m:r>
                      <m:func>
                        <m:funcPr>
                          <m:ctrlPr>
                            <a:rPr lang="de-DE" i="1">
                              <a:latin typeface="Cambria Math" panose="02040503050406030204" pitchFamily="18" charset="0"/>
                              <a:ea typeface="PMingLiU" panose="02020500000000000000" pitchFamily="18" charset="-12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  <a:ea typeface="PMingLiU" panose="02020500000000000000" pitchFamily="18" charset="-12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de-DE" i="1">
                                  <a:latin typeface="Cambria Math" panose="02040503050406030204" pitchFamily="18" charset="0"/>
                                  <a:ea typeface="PMingLiU" panose="02020500000000000000" pitchFamily="18" charset="-12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̃"/>
                                  <m:ctrlPr>
                                    <a:rPr lang="de-DE" i="1">
                                      <a:latin typeface="Cambria Math" panose="02040503050406030204" pitchFamily="18" charset="0"/>
                                      <a:ea typeface="PMingLiU" panose="02020500000000000000" pitchFamily="18" charset="-120"/>
                                    </a:rPr>
                                  </m:ctrlPr>
                                </m:acc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  <a:ea typeface="PMingLiU" panose="02020500000000000000" pitchFamily="18" charset="-120"/>
                                    </a:rPr>
                                    <m:t>𝐶𝑃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  <a:ea typeface="PMingLiU" panose="02020500000000000000" pitchFamily="18" charset="-12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≥</m:t>
                                  </m:r>
                                  <m:sSub>
                                    <m:sSub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  <a:ea typeface="PMingLiU" panose="02020500000000000000" pitchFamily="18" charset="-120"/>
                                          <a:cs typeface="Arial" panose="020B0604020202020204" pitchFamily="34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  <a:ea typeface="PMingLiU" panose="02020500000000000000" pitchFamily="18" charset="-120"/>
                                          <a:cs typeface="Arial" panose="020B0604020202020204" pitchFamily="34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func>
                      <m:r>
                        <m:rPr>
                          <m:nor/>
                        </m:rPr>
                        <a:rPr lang="de-CH" dirty="0">
                          <a:sym typeface="Wingdings" panose="05000000000000000000" pitchFamily="2" charset="2"/>
                        </a:rPr>
                        <m:t> + 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  <a:ea typeface="PMingLiU" panose="02020500000000000000" pitchFamily="18" charset="-120"/>
                            </a:rPr>
                          </m:ctrlPr>
                        </m:sSubPr>
                        <m:e>
                          <m:r>
                            <a:rPr lang="en-GB">
                              <a:latin typeface="Cambria Math" panose="02040503050406030204" pitchFamily="18" charset="0"/>
                              <a:ea typeface="PMingLiU" panose="02020500000000000000" pitchFamily="18" charset="-120"/>
                            </a:rPr>
                            <m:t>∆</m:t>
                          </m:r>
                          <m:r>
                            <a:rPr lang="en-GB" i="1">
                              <a:latin typeface="Cambria Math" panose="02040503050406030204" pitchFamily="18" charset="0"/>
                              <a:ea typeface="PMingLiU" panose="02020500000000000000" pitchFamily="18" charset="-120"/>
                            </a:rPr>
                            <m:t>𝑃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  <a:ea typeface="PMingLiU" panose="02020500000000000000" pitchFamily="18" charset="-120"/>
                            </a:rPr>
                            <m:t>𝑖𝑛𝑠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PMingLiU" panose="02020500000000000000" pitchFamily="18" charset="-120"/>
                        </a:rPr>
                        <m:t> </m:t>
                      </m:r>
                      <m:r>
                        <a:rPr lang="en-US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PMingLiU" panose="02020500000000000000" pitchFamily="18" charset="-120"/>
                          <a:cs typeface="Arial" panose="020B0604020202020204" pitchFamily="34" charset="0"/>
                        </a:rPr>
                        <m:t>(2)</m:t>
                      </m:r>
                    </m:oMath>
                  </m:oMathPara>
                </a14:m>
                <a:endParaRPr lang="de-CH" dirty="0">
                  <a:sym typeface="Wingdings" panose="05000000000000000000" pitchFamily="2" charset="2"/>
                </a:endParaRPr>
              </a:p>
              <a:p>
                <a:pPr marL="285750" indent="-285750">
                  <a:lnSpc>
                    <a:spcPct val="10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de-DE" sz="1400" dirty="0">
                  <a:effectLst/>
                  <a:latin typeface="Arial" panose="020B0604020202020204" pitchFamily="34" charset="0"/>
                  <a:ea typeface="PMingLiU" panose="02020500000000000000" pitchFamily="18" charset="-120"/>
                </a:endParaRPr>
              </a:p>
            </p:txBody>
          </p:sp>
        </mc:Choice>
        <mc:Fallback xmlns="">
          <p:sp>
            <p:nvSpPr>
              <p:cNvPr id="6" name="Inhaltsplatzhalter 2">
                <a:extLst>
                  <a:ext uri="{FF2B5EF4-FFF2-40B4-BE49-F238E27FC236}">
                    <a16:creationId xmlns:a16="http://schemas.microsoft.com/office/drawing/2014/main" id="{2D10DE87-47B4-A96E-0371-595DCFA562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911" y="1787728"/>
                <a:ext cx="7895745" cy="270877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Inhaltsplatzhalter 2">
                <a:extLst>
                  <a:ext uri="{FF2B5EF4-FFF2-40B4-BE49-F238E27FC236}">
                    <a16:creationId xmlns:a16="http://schemas.microsoft.com/office/drawing/2014/main" id="{CF94086B-3435-6BF2-0C1F-B6AB72F5078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588971" y="3745978"/>
                <a:ext cx="3160118" cy="2708770"/>
              </a:xfrm>
              <a:prstGeom prst="roundRect">
                <a:avLst/>
              </a:prstGeom>
              <a:solidFill>
                <a:schemeClr val="bg2"/>
              </a:solidFill>
            </p:spPr>
            <p:txBody>
              <a:bodyPr/>
              <a:lstStyle>
                <a:lvl1pPr marL="0" indent="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0" indent="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80000" indent="-18000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buClr>
                    <a:schemeClr val="accent1"/>
                  </a:buClr>
                  <a:buFont typeface="Arial" panose="020B0604020202020204" pitchFamily="34" charset="0"/>
                  <a:buChar char="»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360000" indent="-18000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18000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Aft>
                    <a:spcPts val="600"/>
                  </a:spcAft>
                </a:pPr>
                <a:r>
                  <a:rPr lang="de-CH" dirty="0">
                    <a:sym typeface="Wingdings" panose="05000000000000000000" pitchFamily="2" charset="2"/>
                  </a:rPr>
                  <a:t>In </a:t>
                </a:r>
                <a:r>
                  <a:rPr lang="de-CH" dirty="0" err="1">
                    <a:sym typeface="Wingdings" panose="05000000000000000000" pitchFamily="2" charset="2"/>
                  </a:rPr>
                  <a:t>the</a:t>
                </a:r>
                <a:r>
                  <a:rPr lang="de-CH" dirty="0">
                    <a:sym typeface="Wingdings" panose="05000000000000000000" pitchFamily="2" charset="2"/>
                  </a:rPr>
                  <a:t> </a:t>
                </a:r>
                <a:r>
                  <a:rPr lang="de-CH" dirty="0" err="1">
                    <a:sym typeface="Wingdings" panose="05000000000000000000" pitchFamily="2" charset="2"/>
                  </a:rPr>
                  <a:t>limit</a:t>
                </a:r>
                <a:r>
                  <a:rPr lang="de-CH" dirty="0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PMingLiU" panose="02020500000000000000" pitchFamily="18" charset="-120"/>
                            <a:cs typeface="Arial" panose="020B0604020202020204" pitchFamily="34" charset="0"/>
                          </a:rPr>
                          <m:t>𝑡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PMingLiU" panose="02020500000000000000" pitchFamily="18" charset="-120"/>
                            <a:cs typeface="Arial" panose="020B0604020202020204" pitchFamily="34" charset="0"/>
                          </a:rPr>
                          <m:t>𝑚</m:t>
                        </m:r>
                      </m:sub>
                    </m:sSub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−∞</m:t>
                    </m:r>
                  </m:oMath>
                </a14:m>
                <a:r>
                  <a:rPr lang="de-CH" dirty="0">
                    <a:sym typeface="Wingdings" panose="05000000000000000000" pitchFamily="2" charset="2"/>
                  </a:rPr>
                  <a:t>, </a:t>
                </a:r>
                <a:r>
                  <a:rPr lang="de-CH" dirty="0" err="1">
                    <a:sym typeface="Wingdings" panose="05000000000000000000" pitchFamily="2" charset="2"/>
                  </a:rPr>
                  <a:t>the</a:t>
                </a:r>
                <a:r>
                  <a:rPr lang="de-CH" dirty="0">
                    <a:sym typeface="Wingdings" panose="05000000000000000000" pitchFamily="2" charset="2"/>
                  </a:rPr>
                  <a:t> </a:t>
                </a:r>
                <a:r>
                  <a:rPr lang="de-CH" dirty="0" err="1">
                    <a:sym typeface="Wingdings" panose="05000000000000000000" pitchFamily="2" charset="2"/>
                  </a:rPr>
                  <a:t>solutions</a:t>
                </a:r>
                <a:r>
                  <a:rPr lang="de-CH" dirty="0">
                    <a:sym typeface="Wingdings" panose="05000000000000000000" pitchFamily="2" charset="2"/>
                  </a:rPr>
                  <a:t> </a:t>
                </a:r>
                <a:r>
                  <a:rPr lang="de-CH" dirty="0" err="1">
                    <a:sym typeface="Wingdings" panose="05000000000000000000" pitchFamily="2" charset="2"/>
                  </a:rPr>
                  <a:t>for</a:t>
                </a:r>
                <a:r>
                  <a:rPr lang="de-CH" dirty="0">
                    <a:sym typeface="Wingdings" panose="05000000000000000000" pitchFamily="2" charset="2"/>
                  </a:rPr>
                  <a:t> premium </a:t>
                </a:r>
                <a:r>
                  <a:rPr lang="de-CH" dirty="0" err="1">
                    <a:sym typeface="Wingdings" panose="05000000000000000000" pitchFamily="2" charset="2"/>
                  </a:rPr>
                  <a:t>financing</a:t>
                </a:r>
                <a:r>
                  <a:rPr lang="de-CH" dirty="0">
                    <a:sym typeface="Wingdings" panose="05000000000000000000" pitchFamily="2" charset="2"/>
                  </a:rPr>
                  <a:t> </a:t>
                </a:r>
                <a:r>
                  <a:rPr lang="de-CH" dirty="0" err="1">
                    <a:sym typeface="Wingdings" panose="05000000000000000000" pitchFamily="2" charset="2"/>
                  </a:rPr>
                  <a:t>are</a:t>
                </a:r>
                <a:r>
                  <a:rPr lang="de-CH" dirty="0">
                    <a:sym typeface="Wingdings" panose="05000000000000000000" pitchFamily="2" charset="2"/>
                  </a:rPr>
                  <a:t> </a:t>
                </a:r>
                <a:r>
                  <a:rPr lang="de-CH" dirty="0" err="1">
                    <a:sym typeface="Wingdings" panose="05000000000000000000" pitchFamily="2" charset="2"/>
                  </a:rPr>
                  <a:t>recovered</a:t>
                </a:r>
                <a:r>
                  <a:rPr lang="de-CH" dirty="0">
                    <a:sym typeface="Wingdings" panose="05000000000000000000" pitchFamily="2" charset="2"/>
                  </a:rPr>
                  <a:t>:</a:t>
                </a:r>
              </a:p>
              <a:p>
                <a:pPr marL="285750" indent="-2857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de-CH" sz="1400" dirty="0">
                  <a:sym typeface="Wingdings" panose="05000000000000000000" pitchFamily="2" charset="2"/>
                </a:endParaRPr>
              </a:p>
              <a:p>
                <a:pPr marL="0" marR="0" algn="ctr">
                  <a:lnSpc>
                    <a:spcPts val="1300"/>
                  </a:lnSpc>
                  <a:spcBef>
                    <a:spcPts val="120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1400" i="1" smtClean="0">
                              <a:effectLst/>
                              <a:latin typeface="Cambria Math" panose="02040503050406030204" pitchFamily="18" charset="0"/>
                              <a:ea typeface="PMingLiU" panose="02020500000000000000" pitchFamily="18" charset="-120"/>
                            </a:rPr>
                          </m:ctrlPr>
                        </m:sSubPr>
                        <m:e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PMingLiU" panose="02020500000000000000" pitchFamily="18" charset="-120"/>
                            </a:rPr>
                            <m:t>𝑃</m:t>
                          </m:r>
                        </m:e>
                        <m:sub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PMingLiU" panose="02020500000000000000" pitchFamily="18" charset="-120"/>
                            </a:rPr>
                            <m:t>𝑖𝑛𝑠</m:t>
                          </m:r>
                        </m:sub>
                      </m:sSub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PMingLiU" panose="02020500000000000000" pitchFamily="18" charset="-120"/>
                        </a:rPr>
                        <m:t>=</m:t>
                      </m:r>
                      <m:f>
                        <m:fPr>
                          <m:ctrlPr>
                            <a:rPr lang="de-DE" sz="1400" i="1">
                              <a:effectLst/>
                              <a:latin typeface="Cambria Math" panose="02040503050406030204" pitchFamily="18" charset="0"/>
                              <a:ea typeface="PMingLiU" panose="02020500000000000000" pitchFamily="18" charset="-120"/>
                            </a:rPr>
                          </m:ctrlPr>
                        </m:fPr>
                        <m:num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PMingLiU" panose="02020500000000000000" pitchFamily="18" charset="-120"/>
                            </a:rPr>
                            <m:t>1</m:t>
                          </m:r>
                        </m:num>
                        <m:den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PMingLiU" panose="02020500000000000000" pitchFamily="18" charset="-120"/>
                            </a:rPr>
                            <m:t>1 − </m:t>
                          </m:r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PMingLiU" panose="02020500000000000000" pitchFamily="18" charset="-120"/>
                            </a:rPr>
                            <m:t>𝑃𝑅</m:t>
                          </m:r>
                        </m:den>
                      </m:f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PMingLiU" panose="02020500000000000000" pitchFamily="18" charset="-120"/>
                        </a:rPr>
                        <m:t>∙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PMingLiU" panose="02020500000000000000" pitchFamily="18" charset="-120"/>
                        </a:rPr>
                        <m:t>𝑃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PMingLiU" panose="02020500000000000000" pitchFamily="18" charset="-120"/>
                        </a:rPr>
                        <m:t> ≥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PMingLiU" panose="02020500000000000000" pitchFamily="18" charset="-120"/>
                        </a:rPr>
                        <m:t>𝑃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PMingLiU" panose="02020500000000000000" pitchFamily="18" charset="-120"/>
                        </a:rPr>
                        <m:t>,</m:t>
                      </m:r>
                    </m:oMath>
                  </m:oMathPara>
                </a14:m>
                <a:endParaRPr lang="de-DE" sz="1400" dirty="0">
                  <a:effectLst/>
                  <a:latin typeface="Arial" panose="020B0604020202020204" pitchFamily="34" charset="0"/>
                  <a:ea typeface="PMingLiU" panose="02020500000000000000" pitchFamily="18" charset="-120"/>
                </a:endParaRPr>
              </a:p>
              <a:p>
                <a:pPr marL="0" marR="0">
                  <a:lnSpc>
                    <a:spcPts val="13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1400" dirty="0">
                    <a:effectLst/>
                    <a:latin typeface="Arial" panose="020B0604020202020204" pitchFamily="34" charset="0"/>
                    <a:ea typeface="PMingLiU" panose="02020500000000000000" pitchFamily="18" charset="-120"/>
                  </a:rPr>
                  <a:t> </a:t>
                </a:r>
              </a:p>
              <a:p>
                <a:pPr marL="0" marR="0">
                  <a:lnSpc>
                    <a:spcPts val="1300"/>
                  </a:lnSpc>
                  <a:spcBef>
                    <a:spcPts val="0"/>
                  </a:spcBef>
                  <a:spcAft>
                    <a:spcPts val="0"/>
                  </a:spcAft>
                </a:pPr>
                <a:endParaRPr lang="en-GB" sz="1400" dirty="0">
                  <a:latin typeface="Arial" panose="020B0604020202020204" pitchFamily="34" charset="0"/>
                  <a:ea typeface="PMingLiU" panose="02020500000000000000" pitchFamily="18" charset="-120"/>
                </a:endParaRPr>
              </a:p>
              <a:p>
                <a:pPr marL="0" marR="0">
                  <a:lnSpc>
                    <a:spcPts val="1300"/>
                  </a:lnSpc>
                  <a:spcBef>
                    <a:spcPts val="0"/>
                  </a:spcBef>
                  <a:spcAft>
                    <a:spcPts val="0"/>
                  </a:spcAft>
                </a:pPr>
                <a:endParaRPr lang="de-DE" sz="1400" dirty="0">
                  <a:effectLst/>
                  <a:latin typeface="Arial" panose="020B0604020202020204" pitchFamily="34" charset="0"/>
                  <a:ea typeface="PMingLiU" panose="02020500000000000000" pitchFamily="18" charset="-120"/>
                </a:endParaRPr>
              </a:p>
              <a:p>
                <a:pPr marL="0" marR="0" algn="ctr">
                  <a:lnSpc>
                    <a:spcPts val="1300"/>
                  </a:lnSpc>
                  <a:spcBef>
                    <a:spcPts val="0"/>
                  </a:spcBef>
                  <a:spcAft>
                    <a:spcPts val="1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1400" i="1">
                              <a:effectLst/>
                              <a:latin typeface="Cambria Math" panose="02040503050406030204" pitchFamily="18" charset="0"/>
                              <a:ea typeface="PMingLiU" panose="02020500000000000000" pitchFamily="18" charset="-120"/>
                            </a:rPr>
                          </m:ctrlPr>
                        </m:sSubPr>
                        <m:e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PMingLiU" panose="02020500000000000000" pitchFamily="18" charset="-120"/>
                            </a:rPr>
                            <m:t> </m:t>
                          </m:r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PMingLiU" panose="02020500000000000000" pitchFamily="18" charset="-120"/>
                            </a:rPr>
                            <m:t>𝐴</m:t>
                          </m:r>
                        </m:e>
                        <m:sub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PMingLiU" panose="02020500000000000000" pitchFamily="18" charset="-120"/>
                            </a:rPr>
                            <m:t>𝑖𝑛𝑠</m:t>
                          </m:r>
                        </m:sub>
                      </m:sSub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PMingLiU" panose="02020500000000000000" pitchFamily="18" charset="-120"/>
                        </a:rPr>
                        <m:t>=</m:t>
                      </m:r>
                      <m:f>
                        <m:fPr>
                          <m:ctrlPr>
                            <a:rPr lang="de-DE" sz="1400" i="1">
                              <a:effectLst/>
                              <a:latin typeface="Cambria Math" panose="02040503050406030204" pitchFamily="18" charset="0"/>
                              <a:ea typeface="PMingLiU" panose="02020500000000000000" pitchFamily="18" charset="-120"/>
                            </a:rPr>
                          </m:ctrlPr>
                        </m:fPr>
                        <m:num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PMingLiU" panose="02020500000000000000" pitchFamily="18" charset="-120"/>
                            </a:rPr>
                            <m:t>1</m:t>
                          </m:r>
                        </m:num>
                        <m:den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PMingLiU" panose="02020500000000000000" pitchFamily="18" charset="-120"/>
                            </a:rPr>
                            <m:t>1 − </m:t>
                          </m:r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PMingLiU" panose="02020500000000000000" pitchFamily="18" charset="-120"/>
                            </a:rPr>
                            <m:t>𝑃𝑅</m:t>
                          </m:r>
                        </m:den>
                      </m:f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PMingLiU" panose="02020500000000000000" pitchFamily="18" charset="-120"/>
                        </a:rPr>
                        <m:t>∙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PMingLiU" panose="02020500000000000000" pitchFamily="18" charset="-120"/>
                        </a:rPr>
                        <m:t>𝐴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PMingLiU" panose="02020500000000000000" pitchFamily="18" charset="-120"/>
                        </a:rPr>
                        <m:t>≥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PMingLiU" panose="02020500000000000000" pitchFamily="18" charset="-120"/>
                        </a:rPr>
                        <m:t>𝐴</m:t>
                      </m:r>
                      <m:r>
                        <a:rPr lang="en-GB" sz="1400">
                          <a:effectLst/>
                          <a:latin typeface="Cambria Math" panose="02040503050406030204" pitchFamily="18" charset="0"/>
                          <a:ea typeface="PMingLiU" panose="02020500000000000000" pitchFamily="18" charset="-120"/>
                        </a:rPr>
                        <m:t>. </m:t>
                      </m:r>
                    </m:oMath>
                  </m:oMathPara>
                </a14:m>
                <a:endParaRPr lang="de-DE" dirty="0">
                  <a:effectLst/>
                  <a:latin typeface="Arial" panose="020B0604020202020204" pitchFamily="34" charset="0"/>
                  <a:ea typeface="PMingLiU" panose="02020500000000000000" pitchFamily="18" charset="-120"/>
                </a:endParaRPr>
              </a:p>
            </p:txBody>
          </p:sp>
        </mc:Choice>
        <mc:Fallback xmlns="">
          <p:sp>
            <p:nvSpPr>
              <p:cNvPr id="4" name="Inhaltsplatzhalter 2">
                <a:extLst>
                  <a:ext uri="{FF2B5EF4-FFF2-40B4-BE49-F238E27FC236}">
                    <a16:creationId xmlns:a16="http://schemas.microsoft.com/office/drawing/2014/main" id="{CF94086B-3435-6BF2-0C1F-B6AB72F507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8971" y="3745978"/>
                <a:ext cx="3160118" cy="270877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4CD064B6-B948-24F8-941C-56B7164C99C2}"/>
              </a:ext>
            </a:extLst>
          </p:cNvPr>
          <p:cNvGrpSpPr/>
          <p:nvPr/>
        </p:nvGrpSpPr>
        <p:grpSpPr>
          <a:xfrm>
            <a:off x="442912" y="5051422"/>
            <a:ext cx="7300128" cy="1403326"/>
            <a:chOff x="443485" y="5084351"/>
            <a:chExt cx="7977930" cy="141731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Rectangle: Rounded Corners 16">
                  <a:extLst>
                    <a:ext uri="{FF2B5EF4-FFF2-40B4-BE49-F238E27FC236}">
                      <a16:creationId xmlns:a16="http://schemas.microsoft.com/office/drawing/2014/main" id="{8F7CE3A7-A9F2-1AA0-FE48-F0A9814CB694}"/>
                    </a:ext>
                  </a:extLst>
                </p:cNvPr>
                <p:cNvSpPr/>
                <p:nvPr/>
              </p:nvSpPr>
              <p:spPr>
                <a:xfrm>
                  <a:off x="443485" y="5084351"/>
                  <a:ext cx="7977930" cy="1417314"/>
                </a:xfrm>
                <a:prstGeom prst="roundRect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0000" tIns="90000" rIns="90000" bIns="90000" rtlCol="0" anchor="t" anchorCtr="0"/>
                <a:lstStyle/>
                <a:p>
                  <a:pPr>
                    <a:spcBef>
                      <a:spcPts val="1200"/>
                    </a:spcBef>
                    <a:spcAft>
                      <a:spcPts val="10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1200" i="1" smtClean="0">
                                <a:solidFill>
                                  <a:sysClr val="windowText" lastClr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PMingLiU" panose="02020500000000000000" pitchFamily="18" charset="-120"/>
                              </a:rPr>
                            </m:ctrlPr>
                          </m:sSubPr>
                          <m:e>
                            <m:r>
                              <a:rPr lang="en-GB" sz="1200" i="1">
                                <a:solidFill>
                                  <a:sysClr val="windowText" lastClr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PMingLiU" panose="02020500000000000000" pitchFamily="18" charset="-120"/>
                              </a:rPr>
                              <m:t>∆</m:t>
                            </m:r>
                            <m:r>
                              <a:rPr lang="en-GB" sz="1200" i="1">
                                <a:solidFill>
                                  <a:sysClr val="windowText" lastClr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PMingLiU" panose="02020500000000000000" pitchFamily="18" charset="-120"/>
                              </a:rPr>
                              <m:t>𝑃</m:t>
                            </m:r>
                          </m:e>
                          <m:sub>
                            <m:r>
                              <a:rPr lang="en-GB" sz="1200" i="1">
                                <a:solidFill>
                                  <a:sysClr val="windowText" lastClr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PMingLiU" panose="02020500000000000000" pitchFamily="18" charset="-120"/>
                              </a:rPr>
                              <m:t>𝑖𝑛𝑠</m:t>
                            </m:r>
                          </m:sub>
                        </m:sSub>
                        <m:r>
                          <a:rPr lang="en-US" sz="1200" b="0" i="1" smtClean="0">
                            <a:solidFill>
                              <a:sysClr val="windowText" lastClr="000000"/>
                            </a:solidFill>
                            <a:effectLst/>
                            <a:latin typeface="Cambria Math" panose="02040503050406030204" pitchFamily="18" charset="0"/>
                            <a:ea typeface="PMingLiU" panose="02020500000000000000" pitchFamily="18" charset="-120"/>
                          </a:rPr>
                          <m:t> </m:t>
                        </m:r>
                        <m:r>
                          <a:rPr lang="en-GB" sz="1200" i="1">
                            <a:solidFill>
                              <a:sysClr val="windowText" lastClr="000000"/>
                            </a:solidFill>
                            <a:effectLst/>
                            <a:latin typeface="Cambria Math" panose="02040503050406030204" pitchFamily="18" charset="0"/>
                            <a:ea typeface="PMingLiU" panose="02020500000000000000" pitchFamily="18" charset="-120"/>
                          </a:rPr>
                          <m:t>=</m:t>
                        </m:r>
                        <m:sSub>
                          <m:sSubPr>
                            <m:ctrlPr>
                              <a:rPr lang="en-GB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PMingLiU" panose="02020500000000000000" pitchFamily="18" charset="-120"/>
                              </a:rPr>
                            </m:ctrlPr>
                          </m:sSubPr>
                          <m:e>
                            <m:r>
                              <a:rPr lang="en-GB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𝜅</m:t>
                            </m:r>
                          </m:e>
                          <m:sub>
                            <m:r>
                              <a:rPr lang="en-GB" sz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∆</m:t>
                            </m:r>
                            <m:r>
                              <a:rPr lang="en-GB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𝑃</m:t>
                            </m:r>
                          </m:sub>
                        </m:sSub>
                        <m:r>
                          <a:rPr lang="en-GB" sz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PMingLiU" panose="02020500000000000000" pitchFamily="18" charset="-120"/>
                          </a:rPr>
                          <m:t>∙∆</m:t>
                        </m:r>
                        <m:r>
                          <a:rPr lang="en-GB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PMingLiU" panose="02020500000000000000" pitchFamily="18" charset="-120"/>
                          </a:rPr>
                          <m:t>𝑃</m:t>
                        </m:r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PMingLiU" panose="02020500000000000000" pitchFamily="18" charset="-120"/>
                          </a:rPr>
                          <m:t>=</m:t>
                        </m:r>
                        <m:f>
                          <m:fPr>
                            <m:ctrlPr>
                              <a:rPr lang="de-DE" sz="1200" i="1">
                                <a:solidFill>
                                  <a:sysClr val="windowText" lastClr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PMingLiU" panose="02020500000000000000" pitchFamily="18" charset="-120"/>
                              </a:rPr>
                            </m:ctrlPr>
                          </m:fPr>
                          <m:num>
                            <m:r>
                              <a:rPr lang="en-GB" sz="1200" i="1">
                                <a:solidFill>
                                  <a:sysClr val="windowText" lastClr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PMingLiU" panose="02020500000000000000" pitchFamily="18" charset="-120"/>
                              </a:rPr>
                              <m:t>1</m:t>
                            </m:r>
                          </m:num>
                          <m:den>
                            <m:r>
                              <a:rPr lang="en-GB" sz="1200" i="1">
                                <a:solidFill>
                                  <a:sysClr val="windowText" lastClr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PMingLiU" panose="02020500000000000000" pitchFamily="18" charset="-120"/>
                              </a:rPr>
                              <m:t>1 − </m:t>
                            </m:r>
                            <m:f>
                              <m:fPr>
                                <m:ctrlPr>
                                  <a:rPr lang="de-DE" sz="1200" i="1">
                                    <a:solidFill>
                                      <a:sysClr val="windowText" lastClr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PMingLiU" panose="02020500000000000000" pitchFamily="18" charset="-120"/>
                                  </a:rPr>
                                </m:ctrlPr>
                              </m:fPr>
                              <m:num>
                                <m:r>
                                  <a:rPr lang="en-GB" sz="1200" i="1">
                                    <a:solidFill>
                                      <a:sysClr val="windowText" lastClr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PMingLiU" panose="02020500000000000000" pitchFamily="18" charset="-120"/>
                                  </a:rPr>
                                  <m:t>𝑆𝑅𝑃</m:t>
                                </m:r>
                                <m:r>
                                  <a:rPr lang="en-GB" sz="1200" i="1">
                                    <a:solidFill>
                                      <a:sysClr val="windowText" lastClr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PMingLiU" panose="02020500000000000000" pitchFamily="18" charset="-120"/>
                                  </a:rPr>
                                  <m:t> ∙ </m:t>
                                </m:r>
                                <m:acc>
                                  <m:accPr>
                                    <m:chr m:val="̃"/>
                                    <m:ctrlPr>
                                      <a:rPr lang="de-DE" sz="1200" i="1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PMingLiU" panose="02020500000000000000" pitchFamily="18" charset="-12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sz="1200" i="1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PMingLiU" panose="02020500000000000000" pitchFamily="18" charset="-120"/>
                                      </a:rPr>
                                      <m:t>𝐴</m:t>
                                    </m:r>
                                  </m:e>
                                </m:acc>
                                <m:d>
                                  <m:dPr>
                                    <m:ctrlPr>
                                      <a:rPr lang="de-DE" sz="1200" i="1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PMingLiU" panose="02020500000000000000" pitchFamily="18" charset="-12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de-DE" sz="1200" i="1">
                                            <a:solidFill>
                                              <a:sysClr val="windowText" lastClr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PMingLiU" panose="02020500000000000000" pitchFamily="18" charset="-12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1200" i="1">
                                            <a:solidFill>
                                              <a:sysClr val="windowText" lastClr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PMingLiU" panose="02020500000000000000" pitchFamily="18" charset="-12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GB" sz="1200" i="1">
                                            <a:solidFill>
                                              <a:sysClr val="windowText" lastClr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PMingLiU" panose="02020500000000000000" pitchFamily="18" charset="-12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e>
                                </m:d>
                              </m:num>
                              <m:den>
                                <m:func>
                                  <m:funcPr>
                                    <m:ctrlPr>
                                      <a:rPr lang="de-DE" sz="1200" i="1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PMingLiU" panose="02020500000000000000" pitchFamily="18" charset="-12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en-GB" sz="1200" i="1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PMingLiU" panose="02020500000000000000" pitchFamily="18" charset="-120"/>
                                      </a:rPr>
                                      <m:t>𝜔</m:t>
                                    </m:r>
                                    <m:r>
                                      <a:rPr lang="en-GB" sz="1200" i="1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PMingLiU" panose="02020500000000000000" pitchFamily="18" charset="-120"/>
                                      </a:rPr>
                                      <m:t>∙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GB" sz="120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PMingLiU" panose="02020500000000000000" pitchFamily="18" charset="-120"/>
                                      </a:rPr>
                                      <m:t>max</m:t>
                                    </m:r>
                                  </m:fName>
                                  <m:e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de-DE" sz="1200" i="1">
                                            <a:solidFill>
                                              <a:sysClr val="windowText" lastClr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PMingLiU" panose="02020500000000000000" pitchFamily="18" charset="-120"/>
                                          </a:rPr>
                                        </m:ctrlPr>
                                      </m:dPr>
                                      <m:e>
                                        <m:acc>
                                          <m:accPr>
                                            <m:chr m:val="̃"/>
                                            <m:ctrlPr>
                                              <a:rPr lang="de-DE" sz="1200" i="1">
                                                <a:solidFill>
                                                  <a:sysClr val="windowText" lastClr="00000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PMingLiU" panose="02020500000000000000" pitchFamily="18" charset="-12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GB" sz="1200" i="1">
                                                <a:solidFill>
                                                  <a:sysClr val="windowText" lastClr="00000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PMingLiU" panose="02020500000000000000" pitchFamily="18" charset="-120"/>
                                              </a:rPr>
                                              <m:t>𝐶𝑃</m:t>
                                            </m:r>
                                          </m:e>
                                        </m:acc>
                                        <m:d>
                                          <m:dPr>
                                            <m:ctrlPr>
                                              <a:rPr lang="de-DE" sz="1200" i="1">
                                                <a:solidFill>
                                                  <a:sysClr val="windowText" lastClr="00000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PMingLiU" panose="02020500000000000000" pitchFamily="18" charset="-12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de-DE" sz="1200" i="1">
                                                    <a:solidFill>
                                                      <a:sysClr val="windowText" lastClr="000000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PMingLiU" panose="02020500000000000000" pitchFamily="18" charset="-12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GB" sz="1200" i="1">
                                                    <a:solidFill>
                                                      <a:sysClr val="windowText" lastClr="000000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PMingLiU" panose="02020500000000000000" pitchFamily="18" charset="-120"/>
                                                  </a:rPr>
                                                  <m:t>𝑡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GB" sz="1200" i="1">
                                                    <a:solidFill>
                                                      <a:sysClr val="windowText" lastClr="000000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PMingLiU" panose="02020500000000000000" pitchFamily="18" charset="-120"/>
                                                  </a:rPr>
                                                  <m:t>𝑚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</m:d>
                                  </m:e>
                                </m:func>
                              </m:den>
                            </m:f>
                          </m:den>
                        </m:f>
                        <m:r>
                          <a:rPr lang="en-GB" sz="1200" i="1">
                            <a:solidFill>
                              <a:sysClr val="windowText" lastClr="000000"/>
                            </a:solidFill>
                            <a:effectLst/>
                            <a:latin typeface="Cambria Math" panose="02040503050406030204" pitchFamily="18" charset="0"/>
                            <a:ea typeface="PMingLiU" panose="02020500000000000000" pitchFamily="18" charset="-120"/>
                          </a:rPr>
                          <m:t>∙∆</m:t>
                        </m:r>
                        <m:r>
                          <a:rPr lang="en-GB" sz="1200" i="1">
                            <a:solidFill>
                              <a:sysClr val="windowText" lastClr="000000"/>
                            </a:solidFill>
                            <a:effectLst/>
                            <a:latin typeface="Cambria Math" panose="02040503050406030204" pitchFamily="18" charset="0"/>
                            <a:ea typeface="PMingLiU" panose="02020500000000000000" pitchFamily="18" charset="-120"/>
                          </a:rPr>
                          <m:t>𝑃</m:t>
                        </m:r>
                        <m:r>
                          <a:rPr lang="en-GB" sz="1200" i="1">
                            <a:solidFill>
                              <a:sysClr val="windowText" lastClr="000000"/>
                            </a:solidFill>
                            <a:effectLst/>
                            <a:latin typeface="Cambria Math" panose="02040503050406030204" pitchFamily="18" charset="0"/>
                            <a:ea typeface="PMingLiU" panose="02020500000000000000" pitchFamily="18" charset="-120"/>
                          </a:rPr>
                          <m:t> ≥∆</m:t>
                        </m:r>
                        <m:r>
                          <a:rPr lang="en-GB" sz="1200" i="1">
                            <a:solidFill>
                              <a:sysClr val="windowText" lastClr="000000"/>
                            </a:solidFill>
                            <a:effectLst/>
                            <a:latin typeface="Cambria Math" panose="02040503050406030204" pitchFamily="18" charset="0"/>
                            <a:ea typeface="PMingLiU" panose="02020500000000000000" pitchFamily="18" charset="-120"/>
                          </a:rPr>
                          <m:t>𝑃</m:t>
                        </m:r>
                        <m:r>
                          <a:rPr lang="en-US" sz="1200" b="0" i="1" smtClean="0">
                            <a:solidFill>
                              <a:sysClr val="windowText" lastClr="000000"/>
                            </a:solidFill>
                            <a:effectLst/>
                            <a:latin typeface="Cambria Math" panose="02040503050406030204" pitchFamily="18" charset="0"/>
                            <a:ea typeface="PMingLiU" panose="02020500000000000000" pitchFamily="18" charset="-120"/>
                          </a:rPr>
                          <m:t>  </m:t>
                        </m:r>
                      </m:oMath>
                    </m:oMathPara>
                  </a14:m>
                  <a:endParaRPr lang="en-US" sz="1200" b="0" i="1" dirty="0">
                    <a:solidFill>
                      <a:sysClr val="windowText" lastClr="000000"/>
                    </a:solidFill>
                    <a:effectLst/>
                    <a:latin typeface="Cambria Math" panose="02040503050406030204" pitchFamily="18" charset="0"/>
                    <a:ea typeface="PMingLiU" panose="02020500000000000000" pitchFamily="18" charset="-120"/>
                  </a:endParaRPr>
                </a:p>
                <a:p>
                  <a:pPr>
                    <a:spcBef>
                      <a:spcPts val="120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1200" i="1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  <a:ea typeface="PMingLiU" panose="02020500000000000000" pitchFamily="18" charset="-12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de-DE" sz="1200" i="1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PMingLiU" panose="02020500000000000000" pitchFamily="18" charset="-120"/>
                                  </a:rPr>
                                </m:ctrlPr>
                              </m:accPr>
                              <m:e>
                                <m:r>
                                  <a:rPr lang="en-GB" sz="1200" i="1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PMingLiU" panose="02020500000000000000" pitchFamily="18" charset="-120"/>
                                  </a:rPr>
                                  <m:t>𝐴</m:t>
                                </m:r>
                              </m:e>
                            </m:acc>
                          </m:e>
                          <m:sub>
                            <m:r>
                              <a:rPr lang="en-GB" sz="1200" i="1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  <a:ea typeface="PMingLiU" panose="02020500000000000000" pitchFamily="18" charset="-120"/>
                              </a:rPr>
                              <m:t>𝑖𝑛𝑠</m:t>
                            </m:r>
                          </m:sub>
                        </m:sSub>
                        <m:d>
                          <m:dPr>
                            <m:ctrlPr>
                              <a:rPr lang="en-GB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</m:t>
                            </m:r>
                            <m:sSub>
                              <m:sSubPr>
                                <m:ctrlPr>
                                  <a:rPr lang="de-DE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PMingLiU" panose="02020500000000000000" pitchFamily="18" charset="-120"/>
                                    <a:cs typeface="Arial" panose="020B0604020202020204" pitchFamily="34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GB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PMingLiU" panose="02020500000000000000" pitchFamily="18" charset="-120"/>
                                    <a:cs typeface="Arial" panose="020B0604020202020204" pitchFamily="34" charset="0"/>
                                  </a:rPr>
                                  <m:t>𝑚</m:t>
                                </m:r>
                              </m:sub>
                            </m:sSub>
                          </m:e>
                        </m:d>
                        <m:r>
                          <a:rPr lang="en-GB" sz="1200">
                            <a:solidFill>
                              <a:sysClr val="windowText" lastClr="000000"/>
                            </a:solidFill>
                            <a:effectLst/>
                            <a:latin typeface="Cambria Math" panose="02040503050406030204" pitchFamily="18" charset="0"/>
                            <a:ea typeface="PMingLiU" panose="02020500000000000000" pitchFamily="18" charset="-12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de-DE" sz="1200" i="1">
                                <a:solidFill>
                                  <a:sysClr val="windowText" lastClr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PMingLiU" panose="02020500000000000000" pitchFamily="18" charset="-120"/>
                              </a:rPr>
                            </m:ctrlPr>
                          </m:dPr>
                          <m:e>
                            <m:r>
                              <a:rPr lang="en-GB" sz="1200">
                                <a:solidFill>
                                  <a:sysClr val="windowText" lastClr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PMingLiU" panose="02020500000000000000" pitchFamily="18" charset="-120"/>
                              </a:rPr>
                              <m:t>1+</m:t>
                            </m:r>
                            <m:sSub>
                              <m:sSubPr>
                                <m:ctrlPr>
                                  <a:rPr lang="en-GB" sz="12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PMingLiU" panose="02020500000000000000" pitchFamily="18" charset="-120"/>
                                  </a:rPr>
                                </m:ctrlPr>
                              </m:sSubPr>
                              <m:e>
                                <m:r>
                                  <a:rPr lang="en-GB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𝜅</m:t>
                                </m:r>
                              </m:e>
                              <m:sub>
                                <m:r>
                                  <a:rPr lang="en-GB" sz="12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∆</m:t>
                                </m:r>
                                <m:r>
                                  <a:rPr lang="en-GB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𝑃</m:t>
                                </m:r>
                              </m:sub>
                            </m:sSub>
                            <m:r>
                              <a:rPr lang="en-GB" sz="1200">
                                <a:solidFill>
                                  <a:sysClr val="windowText" lastClr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PMingLiU" panose="02020500000000000000" pitchFamily="18" charset="-120"/>
                              </a:rPr>
                              <m:t>∙</m:t>
                            </m:r>
                            <m:f>
                              <m:fPr>
                                <m:ctrlPr>
                                  <a:rPr lang="de-DE" sz="1200" i="1">
                                    <a:solidFill>
                                      <a:sysClr val="windowText" lastClr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PMingLiU" panose="02020500000000000000" pitchFamily="18" charset="-120"/>
                                  </a:rPr>
                                </m:ctrlPr>
                              </m:fPr>
                              <m:num>
                                <m:r>
                                  <a:rPr lang="en-GB" sz="1200">
                                    <a:solidFill>
                                      <a:sysClr val="windowText" lastClr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PMingLiU" panose="02020500000000000000" pitchFamily="18" charset="-120"/>
                                  </a:rPr>
                                  <m:t>∆</m:t>
                                </m:r>
                                <m:r>
                                  <a:rPr lang="en-GB" sz="1200" i="1">
                                    <a:solidFill>
                                      <a:sysClr val="windowText" lastClr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PMingLiU" panose="02020500000000000000" pitchFamily="18" charset="-120"/>
                                  </a:rPr>
                                  <m:t>𝑃</m:t>
                                </m:r>
                              </m:num>
                              <m:den>
                                <m:func>
                                  <m:funcPr>
                                    <m:ctrlPr>
                                      <a:rPr lang="de-DE" sz="1200" i="1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PMingLiU" panose="02020500000000000000" pitchFamily="18" charset="-12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GB" sz="120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PMingLiU" panose="02020500000000000000" pitchFamily="18" charset="-120"/>
                                      </a:rPr>
                                      <m:t>max</m:t>
                                    </m:r>
                                  </m:fName>
                                  <m:e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de-DE" sz="1200" i="1">
                                            <a:solidFill>
                                              <a:sysClr val="windowText" lastClr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PMingLiU" panose="02020500000000000000" pitchFamily="18" charset="-120"/>
                                          </a:rPr>
                                        </m:ctrlPr>
                                      </m:dPr>
                                      <m:e>
                                        <m:acc>
                                          <m:accPr>
                                            <m:chr m:val="̃"/>
                                            <m:ctrlPr>
                                              <a:rPr lang="de-DE" sz="1200" i="1">
                                                <a:solidFill>
                                                  <a:sysClr val="windowText" lastClr="00000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PMingLiU" panose="02020500000000000000" pitchFamily="18" charset="-12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GB" sz="1200" i="1">
                                                <a:solidFill>
                                                  <a:sysClr val="windowText" lastClr="00000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PMingLiU" panose="02020500000000000000" pitchFamily="18" charset="-120"/>
                                              </a:rPr>
                                              <m:t>𝐶𝑃</m:t>
                                            </m:r>
                                          </m:e>
                                        </m:acc>
                                        <m:d>
                                          <m:dPr>
                                            <m:ctrlPr>
                                              <a:rPr lang="de-DE" sz="1200" i="1">
                                                <a:solidFill>
                                                  <a:sysClr val="windowText" lastClr="00000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PMingLiU" panose="02020500000000000000" pitchFamily="18" charset="-12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de-DE" sz="1200" i="1">
                                                    <a:solidFill>
                                                      <a:sysClr val="windowText" lastClr="000000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PMingLiU" panose="02020500000000000000" pitchFamily="18" charset="-12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GB" sz="1200" i="1">
                                                    <a:solidFill>
                                                      <a:sysClr val="windowText" lastClr="000000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PMingLiU" panose="02020500000000000000" pitchFamily="18" charset="-120"/>
                                                  </a:rPr>
                                                  <m:t>𝑡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GB" sz="1200" i="1">
                                                    <a:solidFill>
                                                      <a:sysClr val="windowText" lastClr="000000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PMingLiU" panose="02020500000000000000" pitchFamily="18" charset="-120"/>
                                                  </a:rPr>
                                                  <m:t>𝑚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</m:d>
                                  </m:e>
                                </m:func>
                              </m:den>
                            </m:f>
                          </m:e>
                        </m:d>
                        <m:r>
                          <a:rPr lang="en-GB" sz="1200">
                            <a:solidFill>
                              <a:sysClr val="windowText" lastClr="000000"/>
                            </a:solidFill>
                            <a:effectLst/>
                            <a:latin typeface="Cambria Math" panose="02040503050406030204" pitchFamily="18" charset="0"/>
                            <a:ea typeface="PMingLiU" panose="02020500000000000000" pitchFamily="18" charset="-120"/>
                          </a:rPr>
                          <m:t>∙</m:t>
                        </m:r>
                        <m:acc>
                          <m:accPr>
                            <m:chr m:val="̃"/>
                            <m:ctrlPr>
                              <a:rPr lang="de-DE" sz="1200" i="1">
                                <a:solidFill>
                                  <a:sysClr val="windowText" lastClr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PMingLiU" panose="02020500000000000000" pitchFamily="18" charset="-120"/>
                              </a:rPr>
                            </m:ctrlPr>
                          </m:accPr>
                          <m:e>
                            <m:r>
                              <a:rPr lang="en-GB" sz="1200" i="1">
                                <a:solidFill>
                                  <a:sysClr val="windowText" lastClr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PMingLiU" panose="02020500000000000000" pitchFamily="18" charset="-120"/>
                              </a:rPr>
                              <m:t>𝐴</m:t>
                            </m:r>
                          </m:e>
                        </m:acc>
                        <m:d>
                          <m:dPr>
                            <m:ctrlPr>
                              <a:rPr lang="de-DE" sz="1200" i="1">
                                <a:solidFill>
                                  <a:sysClr val="windowText" lastClr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PMingLiU" panose="02020500000000000000" pitchFamily="18" charset="-12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de-DE" sz="1200" i="1">
                                    <a:solidFill>
                                      <a:sysClr val="windowText" lastClr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PMingLiU" panose="02020500000000000000" pitchFamily="18" charset="-120"/>
                                  </a:rPr>
                                </m:ctrlPr>
                              </m:sSubPr>
                              <m:e>
                                <m:r>
                                  <a:rPr lang="en-GB" sz="1200" i="1">
                                    <a:solidFill>
                                      <a:sysClr val="windowText" lastClr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PMingLiU" panose="02020500000000000000" pitchFamily="18" charset="-12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GB" sz="1200" i="1">
                                    <a:solidFill>
                                      <a:sysClr val="windowText" lastClr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PMingLiU" panose="02020500000000000000" pitchFamily="18" charset="-120"/>
                                  </a:rPr>
                                  <m:t>𝑚</m:t>
                                </m:r>
                              </m:sub>
                            </m:sSub>
                          </m:e>
                        </m:d>
                        <m:r>
                          <a:rPr lang="en-GB" sz="1200">
                            <a:solidFill>
                              <a:sysClr val="windowText" lastClr="000000"/>
                            </a:solidFill>
                            <a:effectLst/>
                            <a:latin typeface="Cambria Math" panose="02040503050406030204" pitchFamily="18" charset="0"/>
                            <a:ea typeface="PMingLiU" panose="02020500000000000000" pitchFamily="18" charset="-120"/>
                          </a:rPr>
                          <m:t>≥</m:t>
                        </m:r>
                        <m:acc>
                          <m:accPr>
                            <m:chr m:val="̃"/>
                            <m:ctrlPr>
                              <a:rPr lang="de-DE" sz="1200" i="1">
                                <a:solidFill>
                                  <a:sysClr val="windowText" lastClr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PMingLiU" panose="02020500000000000000" pitchFamily="18" charset="-120"/>
                              </a:rPr>
                            </m:ctrlPr>
                          </m:accPr>
                          <m:e>
                            <m:r>
                              <a:rPr lang="en-GB" sz="1200" i="1">
                                <a:solidFill>
                                  <a:sysClr val="windowText" lastClr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PMingLiU" panose="02020500000000000000" pitchFamily="18" charset="-120"/>
                              </a:rPr>
                              <m:t>𝐴</m:t>
                            </m:r>
                          </m:e>
                        </m:acc>
                        <m:d>
                          <m:dPr>
                            <m:ctrlPr>
                              <a:rPr lang="de-DE" sz="1200" i="1">
                                <a:solidFill>
                                  <a:sysClr val="windowText" lastClr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PMingLiU" panose="02020500000000000000" pitchFamily="18" charset="-12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de-DE" sz="1200" i="1">
                                    <a:solidFill>
                                      <a:sysClr val="windowText" lastClr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PMingLiU" panose="02020500000000000000" pitchFamily="18" charset="-120"/>
                                  </a:rPr>
                                </m:ctrlPr>
                              </m:sSubPr>
                              <m:e>
                                <m:r>
                                  <a:rPr lang="en-GB" sz="1200" i="1">
                                    <a:solidFill>
                                      <a:sysClr val="windowText" lastClr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PMingLiU" panose="02020500000000000000" pitchFamily="18" charset="-12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GB" sz="1200" i="1">
                                    <a:solidFill>
                                      <a:sysClr val="windowText" lastClr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PMingLiU" panose="02020500000000000000" pitchFamily="18" charset="-120"/>
                                  </a:rPr>
                                  <m:t>𝑚</m:t>
                                </m:r>
                              </m:sub>
                            </m:sSub>
                          </m:e>
                        </m:d>
                        <m:r>
                          <a:rPr lang="en-US" sz="1200" b="0" i="1" smtClean="0">
                            <a:solidFill>
                              <a:sysClr val="windowText" lastClr="000000"/>
                            </a:solidFill>
                            <a:effectLst/>
                            <a:latin typeface="Cambria Math" panose="02040503050406030204" pitchFamily="18" charset="0"/>
                            <a:ea typeface="PMingLiU" panose="02020500000000000000" pitchFamily="18" charset="-120"/>
                          </a:rPr>
                          <m:t>            </m:t>
                        </m:r>
                      </m:oMath>
                    </m:oMathPara>
                  </a14:m>
                  <a:endParaRPr lang="de-DE" sz="1200" dirty="0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Rectangle: Rounded Corners 16">
                  <a:extLst>
                    <a:ext uri="{FF2B5EF4-FFF2-40B4-BE49-F238E27FC236}">
                      <a16:creationId xmlns:a16="http://schemas.microsoft.com/office/drawing/2014/main" id="{8F7CE3A7-A9F2-1AA0-FE48-F0A9814CB69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485" y="5084351"/>
                  <a:ext cx="7977930" cy="1417314"/>
                </a:xfrm>
                <a:prstGeom prst="round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08F0DE5-FABE-B0C5-087E-15192E25C1A2}"/>
                </a:ext>
              </a:extLst>
            </p:cNvPr>
            <p:cNvSpPr txBox="1"/>
            <p:nvPr/>
          </p:nvSpPr>
          <p:spPr>
            <a:xfrm>
              <a:off x="870110" y="5565159"/>
              <a:ext cx="142293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600"/>
                </a:spcAft>
              </a:pPr>
              <a:r>
                <a:rPr lang="de-CH" sz="1800" b="1" dirty="0">
                  <a:solidFill>
                    <a:schemeClr val="accent1"/>
                  </a:solidFill>
                  <a:sym typeface="Wingdings" panose="05000000000000000000" pitchFamily="2" charset="2"/>
                </a:rPr>
                <a:t>Solution:</a:t>
              </a:r>
              <a:endParaRPr lang="en-US" sz="1800" b="1" i="1" dirty="0">
                <a:solidFill>
                  <a:schemeClr val="accent1"/>
                </a:solidFill>
                <a:effectLst/>
                <a:latin typeface="Cambria Math" panose="02040503050406030204" pitchFamily="18" charset="0"/>
                <a:ea typeface="PMingLiU" panose="02020500000000000000" pitchFamily="18" charset="-120"/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62A798A-7DC7-3500-B06F-A44043592090}"/>
              </a:ext>
            </a:extLst>
          </p:cNvPr>
          <p:cNvGrpSpPr/>
          <p:nvPr/>
        </p:nvGrpSpPr>
        <p:grpSpPr>
          <a:xfrm>
            <a:off x="8588971" y="1799397"/>
            <a:ext cx="3160118" cy="1464231"/>
            <a:chOff x="8588403" y="5037434"/>
            <a:chExt cx="3160118" cy="1464231"/>
          </a:xfrm>
          <a:solidFill>
            <a:srgbClr val="C00000"/>
          </a:solidFill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3B52B4B-8ED3-6ACD-E3FD-FF52B9E3C493}"/>
                </a:ext>
              </a:extLst>
            </p:cNvPr>
            <p:cNvSpPr txBox="1"/>
            <p:nvPr/>
          </p:nvSpPr>
          <p:spPr>
            <a:xfrm>
              <a:off x="8588403" y="5037434"/>
              <a:ext cx="3160118" cy="1464231"/>
            </a:xfrm>
            <a:prstGeom prst="roundRect">
              <a:avLst/>
            </a:prstGeom>
            <a:grp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de-CH" sz="1400" dirty="0">
                  <a:solidFill>
                    <a:schemeClr val="bg1"/>
                  </a:solidFill>
                  <a:sym typeface="Wingdings" panose="05000000000000000000" pitchFamily="2" charset="2"/>
                </a:rPr>
                <a:t> </a:t>
              </a:r>
            </a:p>
            <a:p>
              <a:pPr algn="ctr">
                <a:spcAft>
                  <a:spcPts val="600"/>
                </a:spcAft>
              </a:pPr>
              <a:r>
                <a:rPr lang="de-CH" sz="1400" dirty="0">
                  <a:solidFill>
                    <a:schemeClr val="bg1"/>
                  </a:solidFill>
                  <a:sym typeface="Wingdings" panose="05000000000000000000" pitchFamily="2" charset="2"/>
                </a:rPr>
                <a:t>OECD </a:t>
              </a:r>
              <a:r>
                <a:rPr lang="de-CH" sz="1400" dirty="0" err="1">
                  <a:solidFill>
                    <a:schemeClr val="bg1"/>
                  </a:solidFill>
                  <a:sym typeface="Wingdings" panose="05000000000000000000" pitchFamily="2" charset="2"/>
                </a:rPr>
                <a:t>results</a:t>
              </a:r>
              <a:r>
                <a:rPr lang="de-CH" sz="1400" dirty="0">
                  <a:solidFill>
                    <a:schemeClr val="bg1"/>
                  </a:solidFill>
                  <a:sym typeface="Wingdings" panose="05000000000000000000" pitchFamily="2" charset="2"/>
                </a:rPr>
                <a:t> </a:t>
              </a:r>
              <a:r>
                <a:rPr lang="de-CH" sz="1400" dirty="0" err="1">
                  <a:solidFill>
                    <a:schemeClr val="bg1"/>
                  </a:solidFill>
                  <a:sym typeface="Wingdings" panose="05000000000000000000" pitchFamily="2" charset="2"/>
                </a:rPr>
                <a:t>for</a:t>
              </a:r>
              <a:r>
                <a:rPr lang="de-CH" sz="1400" dirty="0">
                  <a:solidFill>
                    <a:schemeClr val="bg1"/>
                  </a:solidFill>
                  <a:sym typeface="Wingdings" panose="05000000000000000000" pitchFamily="2" charset="2"/>
                </a:rPr>
                <a:t> premium </a:t>
              </a:r>
              <a:r>
                <a:rPr lang="de-CH" sz="1400" dirty="0" err="1">
                  <a:solidFill>
                    <a:schemeClr val="bg1"/>
                  </a:solidFill>
                  <a:sym typeface="Wingdings" panose="05000000000000000000" pitchFamily="2" charset="2"/>
                </a:rPr>
                <a:t>financing</a:t>
              </a:r>
              <a:r>
                <a:rPr lang="de-CH" sz="1400" dirty="0">
                  <a:solidFill>
                    <a:schemeClr val="bg1"/>
                  </a:solidFill>
                  <a:sym typeface="Wingdings" panose="05000000000000000000" pitchFamily="2" charset="2"/>
                </a:rPr>
                <a:t> </a:t>
              </a:r>
              <a:r>
                <a:rPr lang="de-CH" sz="1400" dirty="0" err="1">
                  <a:solidFill>
                    <a:schemeClr val="bg1"/>
                  </a:solidFill>
                  <a:sym typeface="Wingdings" panose="05000000000000000000" pitchFamily="2" charset="2"/>
                </a:rPr>
                <a:t>are</a:t>
              </a:r>
              <a:r>
                <a:rPr lang="de-CH" sz="1400" dirty="0">
                  <a:solidFill>
                    <a:schemeClr val="bg1"/>
                  </a:solidFill>
                  <a:sym typeface="Wingdings" panose="05000000000000000000" pitchFamily="2" charset="2"/>
                </a:rPr>
                <a:t> </a:t>
              </a:r>
              <a:r>
                <a:rPr lang="de-CH" sz="1400" dirty="0" err="1">
                  <a:solidFill>
                    <a:schemeClr val="bg1"/>
                  </a:solidFill>
                  <a:sym typeface="Wingdings" panose="05000000000000000000" pitchFamily="2" charset="2"/>
                </a:rPr>
                <a:t>contained</a:t>
              </a:r>
              <a:r>
                <a:rPr lang="de-CH" sz="1400" dirty="0">
                  <a:solidFill>
                    <a:schemeClr val="bg1"/>
                  </a:solidFill>
                  <a:sym typeface="Wingdings" panose="05000000000000000000" pitchFamily="2" charset="2"/>
                </a:rPr>
                <a:t> </a:t>
              </a:r>
              <a:r>
                <a:rPr lang="de-CH" sz="1400" dirty="0" err="1">
                  <a:solidFill>
                    <a:schemeClr val="bg1"/>
                  </a:solidFill>
                  <a:sym typeface="Wingdings" panose="05000000000000000000" pitchFamily="2" charset="2"/>
                </a:rPr>
                <a:t>as</a:t>
              </a:r>
              <a:r>
                <a:rPr lang="de-CH" sz="1400" dirty="0">
                  <a:solidFill>
                    <a:schemeClr val="bg1"/>
                  </a:solidFill>
                  <a:sym typeface="Wingdings" panose="05000000000000000000" pitchFamily="2" charset="2"/>
                </a:rPr>
                <a:t> </a:t>
              </a:r>
              <a:r>
                <a:rPr lang="de-CH" sz="1400" dirty="0" err="1">
                  <a:solidFill>
                    <a:schemeClr val="bg1"/>
                  </a:solidFill>
                  <a:sym typeface="Wingdings" panose="05000000000000000000" pitchFamily="2" charset="2"/>
                </a:rPr>
                <a:t>special</a:t>
              </a:r>
              <a:r>
                <a:rPr lang="de-CH" sz="1400" dirty="0">
                  <a:solidFill>
                    <a:schemeClr val="bg1"/>
                  </a:solidFill>
                  <a:sym typeface="Wingdings" panose="05000000000000000000" pitchFamily="2" charset="2"/>
                </a:rPr>
                <a:t> </a:t>
              </a:r>
              <a:r>
                <a:rPr lang="de-CH" sz="1400" dirty="0" err="1">
                  <a:solidFill>
                    <a:schemeClr val="bg1"/>
                  </a:solidFill>
                  <a:sym typeface="Wingdings" panose="05000000000000000000" pitchFamily="2" charset="2"/>
                </a:rPr>
                <a:t>cases</a:t>
              </a:r>
              <a:r>
                <a:rPr lang="de-CH" sz="1400" dirty="0">
                  <a:solidFill>
                    <a:schemeClr val="bg1"/>
                  </a:solidFill>
                  <a:sym typeface="Wingdings" panose="05000000000000000000" pitchFamily="2" charset="2"/>
                </a:rPr>
                <a:t> </a:t>
              </a:r>
              <a:r>
                <a:rPr lang="de-CH" sz="1400" dirty="0" err="1">
                  <a:solidFill>
                    <a:schemeClr val="bg1"/>
                  </a:solidFill>
                  <a:sym typeface="Wingdings" panose="05000000000000000000" pitchFamily="2" charset="2"/>
                </a:rPr>
                <a:t>of</a:t>
              </a:r>
              <a:r>
                <a:rPr lang="de-CH" sz="1400" dirty="0">
                  <a:solidFill>
                    <a:schemeClr val="bg1"/>
                  </a:solidFill>
                  <a:sym typeface="Wingdings" panose="05000000000000000000" pitchFamily="2" charset="2"/>
                </a:rPr>
                <a:t> </a:t>
              </a:r>
              <a:r>
                <a:rPr lang="de-CH" sz="1400" dirty="0" err="1">
                  <a:solidFill>
                    <a:schemeClr val="bg1"/>
                  </a:solidFill>
                  <a:sym typeface="Wingdings" panose="05000000000000000000" pitchFamily="2" charset="2"/>
                </a:rPr>
                <a:t>our</a:t>
              </a:r>
              <a:r>
                <a:rPr lang="de-CH" sz="1400" dirty="0">
                  <a:solidFill>
                    <a:schemeClr val="bg1"/>
                  </a:solidFill>
                  <a:sym typeface="Wingdings" panose="05000000000000000000" pitchFamily="2" charset="2"/>
                </a:rPr>
                <a:t> </a:t>
              </a:r>
              <a:r>
                <a:rPr lang="de-CH" sz="1400" dirty="0" err="1">
                  <a:solidFill>
                    <a:schemeClr val="bg1"/>
                  </a:solidFill>
                  <a:sym typeface="Wingdings" panose="05000000000000000000" pitchFamily="2" charset="2"/>
                </a:rPr>
                <a:t>solution</a:t>
              </a:r>
              <a:endParaRPr lang="de-CH" sz="1400" dirty="0">
                <a:solidFill>
                  <a:schemeClr val="bg1"/>
                </a:solidFill>
                <a:sym typeface="Wingdings" panose="05000000000000000000" pitchFamily="2" charset="2"/>
              </a:endParaRPr>
            </a:p>
            <a:p>
              <a:pPr algn="ctr">
                <a:spcAft>
                  <a:spcPts val="600"/>
                </a:spcAft>
              </a:pPr>
              <a:endParaRPr lang="de-CH" sz="1400" dirty="0">
                <a:solidFill>
                  <a:schemeClr val="bg1"/>
                </a:solidFill>
                <a:sym typeface="Wingdings" panose="05000000000000000000" pitchFamily="2" charset="2"/>
              </a:endParaRPr>
            </a:p>
          </p:txBody>
        </p:sp>
        <p:pic>
          <p:nvPicPr>
            <p:cNvPr id="37" name="Graphic 36" descr="Lights On with solid fill">
              <a:extLst>
                <a:ext uri="{FF2B5EF4-FFF2-40B4-BE49-F238E27FC236}">
                  <a16:creationId xmlns:a16="http://schemas.microsoft.com/office/drawing/2014/main" id="{6BD419B6-2BE9-01B3-9893-6187FD0EE3E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1225879" y="5037434"/>
              <a:ext cx="484441" cy="484441"/>
            </a:xfrm>
            <a:prstGeom prst="rect">
              <a:avLst/>
            </a:prstGeom>
          </p:spPr>
        </p:pic>
      </p:grpSp>
      <p:sp>
        <p:nvSpPr>
          <p:cNvPr id="39" name="Isosceles Triangle 38">
            <a:extLst>
              <a:ext uri="{FF2B5EF4-FFF2-40B4-BE49-F238E27FC236}">
                <a16:creationId xmlns:a16="http://schemas.microsoft.com/office/drawing/2014/main" id="{1CCBC84C-D744-62B8-6328-8C8F18848524}"/>
              </a:ext>
            </a:extLst>
          </p:cNvPr>
          <p:cNvSpPr/>
          <p:nvPr/>
        </p:nvSpPr>
        <p:spPr>
          <a:xfrm rot="10800000">
            <a:off x="4019027" y="4600165"/>
            <a:ext cx="972421" cy="385896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t" anchorCtr="0"/>
          <a:lstStyle/>
          <a:p>
            <a:pPr algn="l"/>
            <a:endParaRPr lang="de-DE" sz="1600" dirty="0"/>
          </a:p>
        </p:txBody>
      </p:sp>
      <p:sp>
        <p:nvSpPr>
          <p:cNvPr id="40" name="Isosceles Triangle 39">
            <a:extLst>
              <a:ext uri="{FF2B5EF4-FFF2-40B4-BE49-F238E27FC236}">
                <a16:creationId xmlns:a16="http://schemas.microsoft.com/office/drawing/2014/main" id="{DF6C0EB9-4987-C095-8927-11D5082AC5A1}"/>
              </a:ext>
            </a:extLst>
          </p:cNvPr>
          <p:cNvSpPr/>
          <p:nvPr/>
        </p:nvSpPr>
        <p:spPr>
          <a:xfrm rot="5400000">
            <a:off x="7725185" y="5499977"/>
            <a:ext cx="957041" cy="420701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t" anchorCtr="0"/>
          <a:lstStyle/>
          <a:p>
            <a:pPr algn="l"/>
            <a:endParaRPr lang="de-DE" sz="1600" dirty="0"/>
          </a:p>
        </p:txBody>
      </p:sp>
    </p:spTree>
    <p:extLst>
      <p:ext uri="{BB962C8B-B14F-4D97-AF65-F5344CB8AC3E}">
        <p14:creationId xmlns:p14="http://schemas.microsoft.com/office/powerpoint/2010/main" val="1088430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4" grpId="0" animBg="1"/>
      <p:bldP spid="39" grpId="0" animBg="1"/>
      <p:bldP spid="4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25B57-DF16-22A3-E202-021292C76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1043535"/>
            <a:ext cx="11306175" cy="483831"/>
          </a:xfrm>
        </p:spPr>
        <p:txBody>
          <a:bodyPr/>
          <a:lstStyle/>
          <a:p>
            <a:r>
              <a:rPr lang="de-CH" dirty="0" err="1"/>
              <a:t>Example</a:t>
            </a:r>
            <a:r>
              <a:rPr lang="de-CH" dirty="0"/>
              <a:t> II Revisited: Premium Financing</a:t>
            </a:r>
            <a:endParaRPr lang="de-D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EF002C-CD30-FF27-897E-ADE243463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 October 2024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2A80D6-5709-E7A4-0D6F-72F8A1903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9AB5E-215F-4BC4-9EB7-C8883DA834C0}" type="slidenum">
              <a:rPr lang="en-US" smtClean="0"/>
              <a:pPr/>
              <a:t>24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Inhaltsplatzhalter 2">
                <a:extLst>
                  <a:ext uri="{FF2B5EF4-FFF2-40B4-BE49-F238E27FC236}">
                    <a16:creationId xmlns:a16="http://schemas.microsoft.com/office/drawing/2014/main" id="{2D10DE87-47B4-A96E-0371-595DCFA5628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2912" y="1764861"/>
                <a:ext cx="5890776" cy="4408469"/>
              </a:xfrm>
              <a:prstGeom prst="roundRect">
                <a:avLst/>
              </a:prstGeom>
              <a:solidFill>
                <a:schemeClr val="bg2"/>
              </a:solidFill>
            </p:spPr>
            <p:txBody>
              <a:bodyPr/>
              <a:lstStyle>
                <a:lvl1pPr marL="0" indent="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0" indent="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80000" indent="-18000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buClr>
                    <a:schemeClr val="accent1"/>
                  </a:buClr>
                  <a:buFont typeface="Arial" panose="020B0604020202020204" pitchFamily="34" charset="0"/>
                  <a:buChar char="»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360000" indent="-18000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18000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indent="-28575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GB" sz="1400" dirty="0"/>
                  <a:t>Same setup as Example II:</a:t>
                </a:r>
              </a:p>
              <a:p>
                <a:pPr algn="ctr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𝑆𝑅𝑃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=0.05 ∙</m:t>
                    </m:r>
                    <m:f>
                      <m:f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1400">
                            <a:latin typeface="Cambria Math" panose="02040503050406030204" pitchFamily="18" charset="0"/>
                          </a:rPr>
                          <m:t>Years</m:t>
                        </m:r>
                      </m:den>
                    </m:f>
                    <m:r>
                      <a:rPr lang="en-US" sz="1400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GB" sz="1400" dirty="0"/>
                  <a:t>      </a:t>
                </a:r>
                <a14:m>
                  <m:oMath xmlns:m="http://schemas.openxmlformats.org/officeDocument/2006/math">
                    <m:r>
                      <a:rPr lang="en-US" sz="1400" b="0" i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sz="1400" b="0" i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max</m:t>
                    </m:r>
                    <m:d>
                      <m:dPr>
                        <m:begChr m:val="["/>
                        <m:endChr m:val="]"/>
                        <m:ctrlPr>
                          <a:rPr lang="en-US" sz="14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PMingLiU" panose="02020500000000000000" pitchFamily="18" charset="-120"/>
                          </a:rPr>
                        </m:ctrlPr>
                      </m:dPr>
                      <m:e>
                        <m:acc>
                          <m:accPr>
                            <m:chr m:val="̃"/>
                            <m:ctrlPr>
                              <a:rPr lang="de-DE" sz="1400" i="1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  <a:ea typeface="PMingLiU" panose="02020500000000000000" pitchFamily="18" charset="-120"/>
                              </a:rPr>
                            </m:ctrlPr>
                          </m:accPr>
                          <m:e>
                            <m:r>
                              <a:rPr lang="en-GB" sz="1400" i="1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  <a:ea typeface="PMingLiU" panose="02020500000000000000" pitchFamily="18" charset="-120"/>
                              </a:rPr>
                              <m:t>𝐶𝑃</m:t>
                            </m:r>
                          </m:e>
                        </m:acc>
                        <m:d>
                          <m:dPr>
                            <m:ctrlPr>
                              <a:rPr lang="de-DE" sz="1400" i="1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  <a:ea typeface="PMingLiU" panose="02020500000000000000" pitchFamily="18" charset="-12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de-DE" sz="1400" i="1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PMingLiU" panose="02020500000000000000" pitchFamily="18" charset="-120"/>
                                  </a:rPr>
                                </m:ctrlPr>
                              </m:sSubPr>
                              <m:e>
                                <m:r>
                                  <a:rPr lang="en-GB" sz="1400" i="1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PMingLiU" panose="02020500000000000000" pitchFamily="18" charset="-12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GB" sz="1400" i="1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PMingLiU" panose="02020500000000000000" pitchFamily="18" charset="-120"/>
                                  </a:rPr>
                                  <m:t>𝑚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sz="14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=10000 </m:t>
                    </m:r>
                    <m:r>
                      <m:rPr>
                        <m:sty m:val="p"/>
                      </m:rPr>
                      <a:rPr lang="en-US" sz="1400" b="0" i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CHF</m:t>
                    </m:r>
                  </m:oMath>
                </a14:m>
                <a:endParaRPr lang="en-GB" sz="1400" dirty="0"/>
              </a:p>
              <a:p>
                <a:pPr marL="285750" indent="-28575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endParaRPr lang="en-GB" sz="1400" dirty="0"/>
              </a:p>
              <a:p>
                <a:pPr marL="285750" indent="-28575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GB" sz="1400" dirty="0"/>
                  <a:t>Results without premium financing:</a:t>
                </a:r>
                <a:endParaRPr lang="en-GB" sz="1400" i="1" dirty="0"/>
              </a:p>
              <a:p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∆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>
                          <a:latin typeface="Cambria Math" panose="02040503050406030204" pitchFamily="18" charset="0"/>
                        </a:rPr>
                        <m:t>625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CHF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  </m:t>
                      </m:r>
                      <m:acc>
                        <m:accPr>
                          <m:chr m:val="̃"/>
                          <m:ctrlPr>
                            <a:rPr lang="de-DE" sz="1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d>
                        <m:dPr>
                          <m:ctrlPr>
                            <a:rPr lang="de-DE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  <m:r>
                        <a:rPr lang="en-US" sz="1400" i="1">
                          <a:latin typeface="Cambria Math" panose="02040503050406030204" pitchFamily="18" charset="0"/>
                        </a:rPr>
                        <m:t>=25000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CHF</m:t>
                      </m:r>
                      <m:r>
                        <a:rPr lang="en-US" sz="1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sty m:val="p"/>
                        </m:rPr>
                        <a:rPr lang="en-US" sz="1400" i="0">
                          <a:latin typeface="Cambria Math" panose="02040503050406030204" pitchFamily="18" charset="0"/>
                        </a:rPr>
                        <m:t>Years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  </m:t>
                      </m:r>
                    </m:oMath>
                  </m:oMathPara>
                </a14:m>
                <a:endParaRPr lang="en-US" sz="1400" dirty="0"/>
              </a:p>
              <a:p>
                <a:pPr marL="285750" indent="-28575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endParaRPr lang="en-GB" sz="1400" dirty="0"/>
              </a:p>
              <a:p>
                <a:pPr marL="285750" indent="-28575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GB" sz="1400" dirty="0"/>
                  <a:t>Results for premium financing</a:t>
                </a:r>
                <a:r>
                  <a:rPr lang="de-DE" sz="1400" dirty="0"/>
                  <a:t>:</a:t>
                </a:r>
              </a:p>
              <a:p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  <a:ea typeface="PMingLiU" panose="02020500000000000000" pitchFamily="18" charset="-12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𝜅</m:t>
                          </m:r>
                        </m:e>
                        <m:sub>
                          <m:r>
                            <a:rPr lang="en-GB" sz="1200">
                              <a:latin typeface="Cambria Math" panose="02040503050406030204" pitchFamily="18" charset="0"/>
                            </a:rPr>
                            <m:t>∆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r>
                        <a:rPr lang="en-GB" sz="12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>
                              <a:latin typeface="Cambria Math" panose="02040503050406030204" pitchFamily="18" charset="0"/>
                            </a:rPr>
                            <m:t>1 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200"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de-DE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GB" sz="1200">
                                  <a:latin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𝑆𝑅𝑃</m:t>
                              </m:r>
                              <m:r>
                                <a:rPr lang="en-GB" sz="1200">
                                  <a:latin typeface="Cambria Math" panose="02040503050406030204" pitchFamily="18" charset="0"/>
                                </a:rPr>
                                <m:t> ∙ </m:t>
                              </m:r>
                              <m:acc>
                                <m:accPr>
                                  <m:chr m:val="̃"/>
                                  <m:ctrlPr>
                                    <a:rPr lang="de-DE" sz="1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de-DE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de-DE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func>
                                <m:funcPr>
                                  <m:ctrlPr>
                                    <a:rPr lang="de-DE" sz="12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  <m:r>
                                    <a:rPr lang="en-GB" sz="1200">
                                      <a:latin typeface="Cambria Math" panose="02040503050406030204" pitchFamily="18" charset="0"/>
                                    </a:rPr>
                                    <m:t> ∙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GB" sz="120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fName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de-DE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de-DE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GB" sz="1200" i="1">
                                              <a:latin typeface="Cambria Math" panose="02040503050406030204" pitchFamily="18" charset="0"/>
                                            </a:rPr>
                                            <m:t>𝐶𝑃</m:t>
                                          </m:r>
                                        </m:e>
                                      </m:acc>
                                      <m:d>
                                        <m:dPr>
                                          <m:ctrlPr>
                                            <a:rPr lang="de-DE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de-DE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GB" sz="1200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  <m:sub>
                                              <m:r>
                                                <a:rPr lang="en-GB" sz="1200" i="1">
                                                  <a:latin typeface="Cambria Math" panose="02040503050406030204" pitchFamily="18" charset="0"/>
                                                </a:rPr>
                                                <m:t>𝑚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</m:den>
                          </m:f>
                        </m:den>
                      </m:f>
                      <m:r>
                        <a:rPr lang="en-GB" sz="12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de-DE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200">
                                  <a:latin typeface="Cambria Math" panose="02040503050406030204" pitchFamily="18" charset="0"/>
                                </a:rPr>
                                <m:t>1.0∙0.05∙25000</m:t>
                              </m:r>
                            </m:num>
                            <m:den>
                              <m:r>
                                <a:rPr lang="en-GB" sz="1200">
                                  <a:latin typeface="Cambria Math" panose="02040503050406030204" pitchFamily="18" charset="0"/>
                                </a:rPr>
                                <m:t>0.8∙10000</m:t>
                              </m:r>
                            </m:den>
                          </m:f>
                        </m:den>
                      </m:f>
                      <m:r>
                        <a:rPr lang="en-GB" sz="1200">
                          <a:latin typeface="Cambria Math" panose="02040503050406030204" pitchFamily="18" charset="0"/>
                        </a:rPr>
                        <m:t>=1.19</m:t>
                      </m:r>
                    </m:oMath>
                  </m:oMathPara>
                </a14:m>
                <a:endParaRPr lang="de-DE" sz="1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  <a:ea typeface="PMingLiU" panose="02020500000000000000" pitchFamily="18" charset="-12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𝜅</m:t>
                          </m:r>
                        </m:e>
                        <m:sub>
                          <m:acc>
                            <m:accPr>
                              <m:chr m:val="̃"/>
                              <m:ctrlPr>
                                <a:rPr lang="de-DE" sz="1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  <m:d>
                            <m:dPr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</m:t>
                              </m:r>
                              <m:sSub>
                                <m:sSubPr>
                                  <m:ctrlPr>
                                    <a:rPr lang="de-DE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  <a:ea typeface="PMingLiU" panose="02020500000000000000" pitchFamily="18" charset="-120"/>
                                      <a:cs typeface="Arial" panose="020B0604020202020204" pitchFamily="34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  <a:ea typeface="PMingLiU" panose="02020500000000000000" pitchFamily="18" charset="-120"/>
                                      <a:cs typeface="Arial" panose="020B0604020202020204" pitchFamily="34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</m:sub>
                      </m:sSub>
                      <m:r>
                        <a:rPr lang="en-GB" sz="1200">
                          <a:latin typeface="Cambria Math" panose="02040503050406030204" pitchFamily="18" charset="0"/>
                        </a:rPr>
                        <m:t>=1+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  <a:ea typeface="PMingLiU" panose="02020500000000000000" pitchFamily="18" charset="-12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𝜅</m:t>
                          </m:r>
                        </m:e>
                        <m:sub>
                          <m:r>
                            <a:rPr lang="en-GB" sz="1200">
                              <a:latin typeface="Cambria Math" panose="02040503050406030204" pitchFamily="18" charset="0"/>
                            </a:rPr>
                            <m:t>∆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r>
                        <a:rPr lang="en-GB" sz="1200">
                          <a:latin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de-DE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>
                              <a:latin typeface="Cambria Math" panose="02040503050406030204" pitchFamily="18" charset="0"/>
                            </a:rPr>
                            <m:t>∆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𝑃</m:t>
                          </m:r>
                        </m:num>
                        <m:den>
                          <m:func>
                            <m:funcPr>
                              <m:ctrlPr>
                                <a:rPr lang="de-DE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120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de-DE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de-DE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  <m:t>𝐶𝑃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de-DE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de-DE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sz="12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b>
                                          <m:r>
                                            <a:rPr lang="en-GB" sz="1200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</m:func>
                        </m:den>
                      </m:f>
                      <m:r>
                        <a:rPr lang="en-GB" sz="1200">
                          <a:latin typeface="Cambria Math" panose="02040503050406030204" pitchFamily="18" charset="0"/>
                        </a:rPr>
                        <m:t> =1.07</m:t>
                      </m:r>
                      <m:r>
                        <a:rPr lang="en-US" sz="1200" b="0" i="0" smtClean="0">
                          <a:latin typeface="Cambria Math" panose="02040503050406030204" pitchFamily="18" charset="0"/>
                        </a:rPr>
                        <m:t>              </m:t>
                      </m:r>
                    </m:oMath>
                  </m:oMathPara>
                </a14:m>
                <a:endParaRPr lang="en-US" sz="1400" i="1" dirty="0">
                  <a:latin typeface="Cambria Math" panose="02040503050406030204" pitchFamily="18" charset="0"/>
                  <a:ea typeface="PMingLiU" panose="02020500000000000000" pitchFamily="18" charset="-120"/>
                </a:endParaRPr>
              </a:p>
              <a:p>
                <a:pPr marL="285750" indent="-28575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endParaRPr lang="de-DE" sz="1400" dirty="0">
                  <a:ea typeface="PMingLiU" panose="02020500000000000000" pitchFamily="18" charset="-120"/>
                </a:endParaRPr>
              </a:p>
              <a:p>
                <a:pPr marL="285750" indent="-28575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de-DE" sz="1400" dirty="0">
                    <a:ea typeface="PMingLiU" panose="02020500000000000000" pitchFamily="18" charset="-120"/>
                  </a:rPr>
                  <a:t>The </a:t>
                </a:r>
                <a:r>
                  <a:rPr lang="de-DE" sz="1400" dirty="0" err="1">
                    <a:ea typeface="PMingLiU" panose="02020500000000000000" pitchFamily="18" charset="-120"/>
                  </a:rPr>
                  <a:t>financed</a:t>
                </a:r>
                <a:r>
                  <a:rPr lang="de-DE" sz="1400" dirty="0">
                    <a:ea typeface="PMingLiU" panose="02020500000000000000" pitchFamily="18" charset="-120"/>
                  </a:rPr>
                  <a:t> total premium and </a:t>
                </a:r>
                <a:r>
                  <a:rPr lang="de-DE" sz="1400" dirty="0" err="1">
                    <a:ea typeface="PMingLiU" panose="02020500000000000000" pitchFamily="18" charset="-120"/>
                  </a:rPr>
                  <a:t>the</a:t>
                </a:r>
                <a:r>
                  <a:rPr lang="de-DE" sz="1400" dirty="0">
                    <a:ea typeface="PMingLiU" panose="02020500000000000000" pitchFamily="18" charset="-120"/>
                  </a:rPr>
                  <a:t> </a:t>
                </a:r>
                <a:r>
                  <a:rPr lang="de-DE" sz="1400" dirty="0" err="1">
                    <a:ea typeface="PMingLiU" panose="02020500000000000000" pitchFamily="18" charset="-120"/>
                  </a:rPr>
                  <a:t>new</a:t>
                </a:r>
                <a:r>
                  <a:rPr lang="de-DE" sz="1400" dirty="0">
                    <a:ea typeface="PMingLiU" panose="02020500000000000000" pitchFamily="18" charset="-120"/>
                  </a:rPr>
                  <a:t> </a:t>
                </a:r>
                <a:r>
                  <a:rPr lang="de-DE" sz="1400" dirty="0" err="1">
                    <a:ea typeface="PMingLiU" panose="02020500000000000000" pitchFamily="18" charset="-120"/>
                  </a:rPr>
                  <a:t>credit</a:t>
                </a:r>
                <a:r>
                  <a:rPr lang="de-DE" sz="1400" dirty="0">
                    <a:ea typeface="PMingLiU" panose="02020500000000000000" pitchFamily="18" charset="-120"/>
                  </a:rPr>
                  <a:t> </a:t>
                </a:r>
                <a:r>
                  <a:rPr lang="de-DE" sz="1400" dirty="0" err="1">
                    <a:ea typeface="PMingLiU" panose="02020500000000000000" pitchFamily="18" charset="-120"/>
                  </a:rPr>
                  <a:t>amount</a:t>
                </a:r>
                <a:r>
                  <a:rPr lang="de-DE" sz="1400" dirty="0">
                    <a:ea typeface="PMingLiU" panose="02020500000000000000" pitchFamily="18" charset="-120"/>
                  </a:rPr>
                  <a:t> </a:t>
                </a:r>
                <a:r>
                  <a:rPr lang="de-DE" sz="1400" dirty="0" err="1">
                    <a:ea typeface="PMingLiU" panose="02020500000000000000" pitchFamily="18" charset="-120"/>
                  </a:rPr>
                  <a:t>read</a:t>
                </a:r>
                <a:r>
                  <a:rPr lang="de-DE" sz="1400" dirty="0">
                    <a:ea typeface="PMingLiU" panose="02020500000000000000" pitchFamily="18" charset="-120"/>
                  </a:rPr>
                  <a:t>:</a:t>
                </a:r>
              </a:p>
              <a:p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1400" i="1" smtClean="0">
                              <a:latin typeface="Cambria Math" panose="02040503050406030204" pitchFamily="18" charset="0"/>
                              <a:ea typeface="PMingLiU" panose="02020500000000000000" pitchFamily="18" charset="-120"/>
                            </a:rPr>
                          </m:ctrlPr>
                        </m:sSubPr>
                        <m:e>
                          <m:r>
                            <a:rPr lang="en-GB" sz="1400">
                              <a:latin typeface="Cambria Math" panose="02040503050406030204" pitchFamily="18" charset="0"/>
                              <a:ea typeface="PMingLiU" panose="02020500000000000000" pitchFamily="18" charset="-120"/>
                            </a:rPr>
                            <m:t>∆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  <a:ea typeface="PMingLiU" panose="02020500000000000000" pitchFamily="18" charset="-120"/>
                            </a:rPr>
                            <m:t>𝑃</m:t>
                          </m:r>
                        </m:e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  <a:ea typeface="PMingLiU" panose="02020500000000000000" pitchFamily="18" charset="-120"/>
                            </a:rPr>
                            <m:t>𝑖𝑛𝑠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  <a:ea typeface="PMingLiU" panose="02020500000000000000" pitchFamily="18" charset="-120"/>
                        </a:rPr>
                        <m:t>=744 </m:t>
                      </m:r>
                      <m:r>
                        <m:rPr>
                          <m:sty m:val="p"/>
                        </m:rPr>
                        <a:rPr lang="en-US" sz="1400">
                          <a:latin typeface="Cambria Math" panose="02040503050406030204" pitchFamily="18" charset="0"/>
                          <a:ea typeface="PMingLiU" panose="02020500000000000000" pitchFamily="18" charset="-120"/>
                        </a:rPr>
                        <m:t>CHF</m:t>
                      </m:r>
                      <m:r>
                        <a:rPr lang="en-US" sz="1400">
                          <a:latin typeface="Cambria Math" panose="02040503050406030204" pitchFamily="18" charset="0"/>
                          <a:ea typeface="PMingLiU" panose="02020500000000000000" pitchFamily="18" charset="-120"/>
                        </a:rPr>
                        <m:t>,   </m:t>
                      </m:r>
                      <m:func>
                        <m:funcPr>
                          <m:ctrlPr>
                            <a:rPr lang="de-DE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de-DE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DE" sz="1400" i="1">
                                      <a:latin typeface="Cambria Math" panose="02040503050406030204" pitchFamily="18" charset="0"/>
                                      <a:ea typeface="PMingLiU" panose="02020500000000000000" pitchFamily="18" charset="-12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de-DE" sz="1400" i="1">
                                          <a:latin typeface="Cambria Math" panose="02040503050406030204" pitchFamily="18" charset="0"/>
                                          <a:ea typeface="PMingLiU" panose="02020500000000000000" pitchFamily="18" charset="-12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GB" sz="1400" i="1">
                                          <a:latin typeface="Cambria Math" panose="02040503050406030204" pitchFamily="18" charset="0"/>
                                          <a:ea typeface="PMingLiU" panose="02020500000000000000" pitchFamily="18" charset="-120"/>
                                        </a:rPr>
                                        <m:t>𝐶𝑃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  <a:ea typeface="PMingLiU" panose="02020500000000000000" pitchFamily="18" charset="-120"/>
                                    </a:rPr>
                                    <m:t>𝑖𝑛𝑠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≥</m:t>
                                  </m:r>
                                  <m:sSub>
                                    <m:sSubPr>
                                      <m:ctrlPr>
                                        <a:rPr lang="de-DE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400" i="1">
                                          <a:latin typeface="Cambria Math" panose="02040503050406030204" pitchFamily="18" charset="0"/>
                                          <a:ea typeface="PMingLiU" panose="02020500000000000000" pitchFamily="18" charset="-120"/>
                                          <a:cs typeface="Arial" panose="020B0604020202020204" pitchFamily="34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GB" sz="1400" i="1">
                                          <a:latin typeface="Cambria Math" panose="02040503050406030204" pitchFamily="18" charset="0"/>
                                          <a:ea typeface="PMingLiU" panose="02020500000000000000" pitchFamily="18" charset="-120"/>
                                          <a:cs typeface="Arial" panose="020B0604020202020204" pitchFamily="34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func>
                      <m:r>
                        <a:rPr lang="en-US" sz="1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>
                          <a:latin typeface="Cambria Math" panose="02040503050406030204" pitchFamily="18" charset="0"/>
                          <a:ea typeface="PMingLiU" panose="02020500000000000000" pitchFamily="18" charset="-120"/>
                        </a:rPr>
                        <m:t>1074</m:t>
                      </m:r>
                      <m:r>
                        <a:rPr lang="en-US" sz="1400" b="0" i="0" smtClean="0">
                          <a:latin typeface="Cambria Math" panose="02040503050406030204" pitchFamily="18" charset="0"/>
                          <a:ea typeface="PMingLiU" panose="02020500000000000000" pitchFamily="18" charset="-120"/>
                        </a:rPr>
                        <m:t>4 </m:t>
                      </m:r>
                      <m:r>
                        <m:rPr>
                          <m:sty m:val="p"/>
                        </m:rPr>
                        <a:rPr lang="en-US" sz="1400">
                          <a:latin typeface="Cambria Math" panose="02040503050406030204" pitchFamily="18" charset="0"/>
                          <a:ea typeface="PMingLiU" panose="02020500000000000000" pitchFamily="18" charset="-120"/>
                        </a:rPr>
                        <m:t>CHF</m:t>
                      </m:r>
                    </m:oMath>
                  </m:oMathPara>
                </a14:m>
                <a:endParaRPr lang="en-US" sz="1400" dirty="0"/>
              </a:p>
              <a:p>
                <a:pPr>
                  <a:lnSpc>
                    <a:spcPct val="100000"/>
                  </a:lnSpc>
                </a:pPr>
                <a:endParaRPr lang="en-GB" sz="1400" dirty="0"/>
              </a:p>
            </p:txBody>
          </p:sp>
        </mc:Choice>
        <mc:Fallback xmlns="">
          <p:sp>
            <p:nvSpPr>
              <p:cNvPr id="6" name="Inhaltsplatzhalter 2">
                <a:extLst>
                  <a:ext uri="{FF2B5EF4-FFF2-40B4-BE49-F238E27FC236}">
                    <a16:creationId xmlns:a16="http://schemas.microsoft.com/office/drawing/2014/main" id="{2D10DE87-47B4-A96E-0371-595DCFA562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912" y="1764861"/>
                <a:ext cx="5890776" cy="4408469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263BAF29-3517-5B71-DA05-FB87B191F2AC}"/>
              </a:ext>
            </a:extLst>
          </p:cNvPr>
          <p:cNvSpPr/>
          <p:nvPr/>
        </p:nvSpPr>
        <p:spPr>
          <a:xfrm>
            <a:off x="442910" y="3554550"/>
            <a:ext cx="5890777" cy="2616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t" anchorCtr="0"/>
          <a:lstStyle/>
          <a:p>
            <a:pPr algn="l"/>
            <a:endParaRPr lang="de-DE" sz="1600" dirty="0"/>
          </a:p>
        </p:txBody>
      </p:sp>
      <p:pic>
        <p:nvPicPr>
          <p:cNvPr id="12" name="Picture 11" descr="A graph of a graph">
            <a:extLst>
              <a:ext uri="{FF2B5EF4-FFF2-40B4-BE49-F238E27FC236}">
                <a16:creationId xmlns:a16="http://schemas.microsoft.com/office/drawing/2014/main" id="{5A5C644A-0937-E53A-7020-BF0B4DC9BF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7083" y="1532130"/>
            <a:ext cx="5062005" cy="4049604"/>
          </a:xfrm>
          <a:prstGeom prst="rect">
            <a:avLst/>
          </a:prstGeom>
        </p:spPr>
      </p:pic>
      <p:pic>
        <p:nvPicPr>
          <p:cNvPr id="9" name="Picture 8" descr="A graph of a graph&#10;&#10;Description automatically generated">
            <a:extLst>
              <a:ext uri="{FF2B5EF4-FFF2-40B4-BE49-F238E27FC236}">
                <a16:creationId xmlns:a16="http://schemas.microsoft.com/office/drawing/2014/main" id="{993D2487-6052-3863-8870-57063313ED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7082" y="1527366"/>
            <a:ext cx="5062004" cy="405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634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9108A-DA4B-2DCA-AD5E-6878ADC45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5400" dirty="0"/>
              <a:t>FAQ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F0A8FE-8562-603F-E515-A4765B96D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 October 2024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1F49EC-C90F-EF7E-1009-72ED59941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9AB5E-215F-4BC4-9EB7-C8883DA834C0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36D448-666D-9478-466D-AAE7BA1B0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your presentation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2FC4C0D-1EF0-E9E3-8C78-BC78152F792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#06</a:t>
            </a:r>
            <a:endParaRPr lang="de-DE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4334908-CBB1-5834-8F5F-7E6C0540D5F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Modifications of insurances</a:t>
            </a:r>
          </a:p>
          <a:p>
            <a:r>
              <a:rPr lang="en-US" dirty="0"/>
              <a:t>Graphical Examples</a:t>
            </a:r>
          </a:p>
          <a:p>
            <a:r>
              <a:rPr lang="en-US" dirty="0"/>
              <a:t>Formal Approach</a:t>
            </a:r>
          </a:p>
          <a:p>
            <a:r>
              <a:rPr lang="en-US" dirty="0"/>
              <a:t>Premium Financing</a:t>
            </a:r>
          </a:p>
          <a:p>
            <a:pPr lvl="1"/>
            <a:r>
              <a:rPr lang="en-US" dirty="0"/>
              <a:t>FAQ</a:t>
            </a:r>
          </a:p>
          <a:p>
            <a:r>
              <a:rPr lang="en-US" dirty="0"/>
              <a:t>Conclusion and Outlook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76955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9108A-DA4B-2DCA-AD5E-6878ADC45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5400" dirty="0" err="1"/>
              <a:t>Conclusion</a:t>
            </a:r>
            <a:r>
              <a:rPr lang="de-DE" sz="5400" dirty="0"/>
              <a:t> and Outlook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F0A8FE-8562-603F-E515-A4765B96D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 October 2024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1F49EC-C90F-EF7E-1009-72ED59941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9AB5E-215F-4BC4-9EB7-C8883DA834C0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36D448-666D-9478-466D-AAE7BA1B0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your presentation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2FC4C0D-1EF0-E9E3-8C78-BC78152F792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#07</a:t>
            </a:r>
            <a:endParaRPr lang="de-DE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4334908-CBB1-5834-8F5F-7E6C0540D5F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Modifications of insurances</a:t>
            </a:r>
          </a:p>
          <a:p>
            <a:r>
              <a:rPr lang="en-US" dirty="0"/>
              <a:t>Graphical Examples</a:t>
            </a:r>
          </a:p>
          <a:p>
            <a:r>
              <a:rPr lang="en-US" dirty="0"/>
              <a:t>Formal Approach</a:t>
            </a:r>
          </a:p>
          <a:p>
            <a:r>
              <a:rPr lang="en-US" dirty="0"/>
              <a:t>Premium Financing</a:t>
            </a:r>
          </a:p>
          <a:p>
            <a:r>
              <a:rPr lang="en-US" dirty="0"/>
              <a:t>FAQ</a:t>
            </a:r>
          </a:p>
          <a:p>
            <a:pPr lvl="1"/>
            <a:r>
              <a:rPr lang="en-US" dirty="0"/>
              <a:t>Conclusion and Outlook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19225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957A591-300E-2996-8EBA-303123FE6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Contact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2BD45F-4803-D891-0FF2-33987B5EB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 October 2024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48183F-C8AA-4B7C-F192-93409C6C7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9AB5E-215F-4BC4-9EB7-C8883DA834C0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4882E6-F1EA-8BE0-9C9F-E7704B357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your presentation</a:t>
            </a:r>
            <a:endParaRPr lang="en-US" dirty="0"/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02FF07AF-51CD-EE9B-944D-9AEC0BEB06E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52" r="14652"/>
          <a:stretch/>
        </p:blipFill>
        <p:spPr>
          <a:xfrm>
            <a:off x="442913" y="639763"/>
            <a:ext cx="2713037" cy="2713037"/>
          </a:xfrm>
          <a:prstGeom prst="rect">
            <a:avLst/>
          </a:prstGeom>
        </p:spPr>
      </p:pic>
      <p:pic>
        <p:nvPicPr>
          <p:cNvPr id="13" name="Picture Placeholder 12" descr="A close-up of a machine&#10;&#10;Description automatically generated with medium confidence">
            <a:extLst>
              <a:ext uri="{FF2B5EF4-FFF2-40B4-BE49-F238E27FC236}">
                <a16:creationId xmlns:a16="http://schemas.microsoft.com/office/drawing/2014/main" id="{FC2D9064-8A06-3BC8-B307-E9CCE9EE63DF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52" r="14652"/>
          <a:stretch/>
        </p:blipFill>
        <p:spPr>
          <a:xfrm>
            <a:off x="3308350" y="639763"/>
            <a:ext cx="2713038" cy="2713037"/>
          </a:xfrm>
          <a:prstGeom prst="rect">
            <a:avLst/>
          </a:prstGeom>
        </p:spPr>
      </p:pic>
      <p:pic>
        <p:nvPicPr>
          <p:cNvPr id="15" name="Picture Placeholder 14" descr="A windmill with clouds in the background&#10;&#10;Description automatically generated with low confidence">
            <a:extLst>
              <a:ext uri="{FF2B5EF4-FFF2-40B4-BE49-F238E27FC236}">
                <a16:creationId xmlns:a16="http://schemas.microsoft.com/office/drawing/2014/main" id="{05C831F9-4C2E-D04F-8B88-68C7402A3801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44" r="14444"/>
          <a:stretch/>
        </p:blipFill>
        <p:spPr>
          <a:xfrm>
            <a:off x="9039225" y="3505200"/>
            <a:ext cx="2711450" cy="2695575"/>
          </a:xfrm>
          <a:prstGeom prst="rect">
            <a:avLst/>
          </a:prstGeom>
        </p:spPr>
      </p:pic>
      <p:pic>
        <p:nvPicPr>
          <p:cNvPr id="8" name="Bildplatzhalter 10" descr="Ein Bild, das Gebäude, draußen enthält.&#10;&#10;Automatisch generierte Beschreibung">
            <a:extLst>
              <a:ext uri="{FF2B5EF4-FFF2-40B4-BE49-F238E27FC236}">
                <a16:creationId xmlns:a16="http://schemas.microsoft.com/office/drawing/2014/main" id="{75A87473-4788-1DF6-5B9B-1B376E4A354A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9664" b="9664"/>
          <a:stretch>
            <a:fillRect/>
          </a:stretch>
        </p:blipFill>
        <p:spPr>
          <a:xfrm>
            <a:off x="9039225" y="639763"/>
            <a:ext cx="2711450" cy="2713037"/>
          </a:xfrm>
        </p:spPr>
      </p:pic>
    </p:spTree>
    <p:extLst>
      <p:ext uri="{BB962C8B-B14F-4D97-AF65-F5344CB8AC3E}">
        <p14:creationId xmlns:p14="http://schemas.microsoft.com/office/powerpoint/2010/main" val="18531800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F7C214-AAE1-74B1-82E7-771AA7AB6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2" y="1043535"/>
            <a:ext cx="6407467" cy="483831"/>
          </a:xfrm>
        </p:spPr>
        <p:txBody>
          <a:bodyPr/>
          <a:lstStyle/>
          <a:p>
            <a:r>
              <a:rPr lang="de-CH" dirty="0"/>
              <a:t>Risk </a:t>
            </a:r>
            <a:r>
              <a:rPr lang="de-CH" dirty="0" err="1"/>
              <a:t>represented</a:t>
            </a:r>
            <a:r>
              <a:rPr lang="de-CH" dirty="0"/>
              <a:t> </a:t>
            </a:r>
            <a:r>
              <a:rPr lang="de-CH" dirty="0" err="1"/>
              <a:t>by</a:t>
            </a:r>
            <a:r>
              <a:rPr lang="de-CH" dirty="0"/>
              <a:t> </a:t>
            </a:r>
            <a:r>
              <a:rPr lang="de-CH" dirty="0" err="1"/>
              <a:t>area</a:t>
            </a:r>
            <a:r>
              <a:rPr lang="de-CH" dirty="0"/>
              <a:t>: </a:t>
            </a:r>
            <a:r>
              <a:rPr lang="de-CH" dirty="0" err="1"/>
              <a:t>Example</a:t>
            </a:r>
            <a:r>
              <a:rPr lang="de-CH" dirty="0"/>
              <a:t> 1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3E657C6-356D-D25B-A648-D2733B11B0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2" y="1630905"/>
            <a:ext cx="6194107" cy="456987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de-CH" dirty="0" err="1"/>
              <a:t>How</a:t>
            </a:r>
            <a:r>
              <a:rPr lang="de-CH" dirty="0"/>
              <a:t> </a:t>
            </a:r>
            <a:r>
              <a:rPr lang="de-CH" dirty="0" err="1"/>
              <a:t>does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area</a:t>
            </a:r>
            <a:r>
              <a:rPr lang="de-CH" dirty="0"/>
              <a:t> </a:t>
            </a:r>
            <a:r>
              <a:rPr lang="de-CH" dirty="0" err="1"/>
              <a:t>increase</a:t>
            </a:r>
            <a:r>
              <a:rPr lang="de-CH" dirty="0"/>
              <a:t>?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de-CH" dirty="0" err="1"/>
              <a:t>Red</a:t>
            </a:r>
            <a:r>
              <a:rPr lang="de-CH" dirty="0"/>
              <a:t> </a:t>
            </a:r>
            <a:r>
              <a:rPr lang="de-CH" dirty="0" err="1"/>
              <a:t>area</a:t>
            </a:r>
            <a:r>
              <a:rPr lang="de-CH" dirty="0"/>
              <a:t>: 18 «</a:t>
            </a:r>
            <a:r>
              <a:rPr lang="de-CH" dirty="0" err="1"/>
              <a:t>units</a:t>
            </a:r>
            <a:r>
              <a:rPr lang="de-CH" dirty="0"/>
              <a:t>»,</a:t>
            </a:r>
            <a:br>
              <a:rPr lang="de-CH" dirty="0"/>
            </a:br>
            <a:r>
              <a:rPr lang="de-CH" dirty="0" err="1"/>
              <a:t>corresponds</a:t>
            </a:r>
            <a:r>
              <a:rPr lang="de-CH" dirty="0"/>
              <a:t> </a:t>
            </a:r>
            <a:r>
              <a:rPr lang="de-CH" dirty="0" err="1"/>
              <a:t>to</a:t>
            </a:r>
            <a:r>
              <a:rPr lang="de-CH" dirty="0"/>
              <a:t> </a:t>
            </a:r>
            <a:r>
              <a:rPr lang="de-CH" dirty="0" err="1"/>
              <a:t>unearned</a:t>
            </a:r>
            <a:r>
              <a:rPr lang="de-CH" dirty="0"/>
              <a:t> premium </a:t>
            </a:r>
            <a:r>
              <a:rPr lang="de-CH" dirty="0" err="1"/>
              <a:t>of</a:t>
            </a:r>
            <a:r>
              <a:rPr lang="de-CH" dirty="0"/>
              <a:t> EUR 900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de-CH" dirty="0"/>
              <a:t>Blue </a:t>
            </a:r>
            <a:r>
              <a:rPr lang="de-CH" dirty="0" err="1"/>
              <a:t>area</a:t>
            </a:r>
            <a:r>
              <a:rPr lang="de-CH" dirty="0"/>
              <a:t>: 2 «</a:t>
            </a:r>
            <a:r>
              <a:rPr lang="de-CH" dirty="0" err="1"/>
              <a:t>units</a:t>
            </a:r>
            <a:r>
              <a:rPr lang="de-CH" dirty="0"/>
              <a:t>»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de-CH" dirty="0">
                <a:sym typeface="Wingdings" panose="05000000000000000000" pitchFamily="2" charset="2"/>
              </a:rPr>
              <a:t> </a:t>
            </a:r>
            <a:r>
              <a:rPr lang="de-CH" dirty="0" err="1">
                <a:sym typeface="Wingdings" panose="05000000000000000000" pitchFamily="2" charset="2"/>
              </a:rPr>
              <a:t>Increase</a:t>
            </a:r>
            <a:r>
              <a:rPr lang="de-CH" dirty="0">
                <a:sym typeface="Wingdings" panose="05000000000000000000" pitchFamily="2" charset="2"/>
              </a:rPr>
              <a:t> </a:t>
            </a:r>
            <a:r>
              <a:rPr lang="de-CH" dirty="0" err="1">
                <a:sym typeface="Wingdings" panose="05000000000000000000" pitchFamily="2" charset="2"/>
              </a:rPr>
              <a:t>of</a:t>
            </a:r>
            <a:r>
              <a:rPr lang="de-CH" dirty="0">
                <a:sym typeface="Wingdings" panose="05000000000000000000" pitchFamily="2" charset="2"/>
              </a:rPr>
              <a:t> Area after 1.1.2003: 2/18=11.1%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de-CH" dirty="0">
                <a:sym typeface="Wingdings" panose="05000000000000000000" pitchFamily="2" charset="2"/>
              </a:rPr>
              <a:t> </a:t>
            </a:r>
            <a:r>
              <a:rPr lang="de-CH" dirty="0" err="1">
                <a:sym typeface="Wingdings" panose="05000000000000000000" pitchFamily="2" charset="2"/>
              </a:rPr>
              <a:t>Increase</a:t>
            </a:r>
            <a:r>
              <a:rPr lang="de-CH" dirty="0">
                <a:sym typeface="Wingdings" panose="05000000000000000000" pitchFamily="2" charset="2"/>
              </a:rPr>
              <a:t> </a:t>
            </a:r>
            <a:r>
              <a:rPr lang="de-CH" dirty="0" err="1">
                <a:sym typeface="Wingdings" panose="05000000000000000000" pitchFamily="2" charset="2"/>
              </a:rPr>
              <a:t>of</a:t>
            </a:r>
            <a:r>
              <a:rPr lang="de-CH" dirty="0">
                <a:sym typeface="Wingdings" panose="05000000000000000000" pitchFamily="2" charset="2"/>
              </a:rPr>
              <a:t> Risk Premium: 11.1% x EUR 900 = EUR 100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de-CH" dirty="0">
                <a:sym typeface="Wingdings" panose="05000000000000000000" pitchFamily="2" charset="2"/>
              </a:rPr>
              <a:t> </a:t>
            </a:r>
            <a:r>
              <a:rPr lang="de-CH" dirty="0" err="1">
                <a:sym typeface="Wingdings" panose="05000000000000000000" pitchFamily="2" charset="2"/>
              </a:rPr>
              <a:t>Increase</a:t>
            </a:r>
            <a:r>
              <a:rPr lang="de-CH" dirty="0">
                <a:sym typeface="Wingdings" panose="05000000000000000000" pitchFamily="2" charset="2"/>
              </a:rPr>
              <a:t> </a:t>
            </a:r>
            <a:r>
              <a:rPr lang="de-CH" dirty="0" err="1">
                <a:sym typeface="Wingdings" panose="05000000000000000000" pitchFamily="2" charset="2"/>
              </a:rPr>
              <a:t>of</a:t>
            </a:r>
            <a:r>
              <a:rPr lang="de-CH" dirty="0">
                <a:sym typeface="Wingdings" panose="05000000000000000000" pitchFamily="2" charset="2"/>
              </a:rPr>
              <a:t> Total Premium: EUR 100 / 0.8 = EUR 125</a:t>
            </a:r>
            <a:endParaRPr lang="de-CH" dirty="0"/>
          </a:p>
          <a:p>
            <a:pPr>
              <a:spcAft>
                <a:spcPts val="600"/>
              </a:spcAft>
            </a:pPr>
            <a:endParaRPr lang="de-CH" dirty="0"/>
          </a:p>
          <a:p>
            <a:pPr>
              <a:spcAft>
                <a:spcPts val="600"/>
              </a:spcAft>
            </a:pPr>
            <a:endParaRPr lang="de-CH" dirty="0"/>
          </a:p>
          <a:p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E94BE69-3A20-D6B8-4797-16C982219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 October 2024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7C9231C-62D3-B8DC-71F0-D69443DFE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9AB5E-215F-4BC4-9EB7-C8883DA834C0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0C6F11E8-A687-6E43-70F6-8FBC6E30877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de-DE"/>
          </a:p>
        </p:txBody>
      </p:sp>
      <p:graphicFrame>
        <p:nvGraphicFramePr>
          <p:cNvPr id="10" name="Objekt 8">
            <a:extLst>
              <a:ext uri="{FF2B5EF4-FFF2-40B4-BE49-F238E27FC236}">
                <a16:creationId xmlns:a16="http://schemas.microsoft.com/office/drawing/2014/main" id="{7D77FCB9-BD2B-44CF-0A2B-112C0C29D6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43775" y="1580986"/>
          <a:ext cx="4848225" cy="32056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0ABB8659-8927-E7EA-C481-948BD36C9C36}"/>
              </a:ext>
            </a:extLst>
          </p:cNvPr>
          <p:cNvGrpSpPr/>
          <p:nvPr/>
        </p:nvGrpSpPr>
        <p:grpSpPr>
          <a:xfrm>
            <a:off x="9843667" y="1971675"/>
            <a:ext cx="1962150" cy="2193131"/>
            <a:chOff x="9843667" y="1971675"/>
            <a:chExt cx="1962150" cy="2193131"/>
          </a:xfrm>
        </p:grpSpPr>
        <p:sp>
          <p:nvSpPr>
            <p:cNvPr id="9" name="Rechteck: abgerundete Ecken 8">
              <a:extLst>
                <a:ext uri="{FF2B5EF4-FFF2-40B4-BE49-F238E27FC236}">
                  <a16:creationId xmlns:a16="http://schemas.microsoft.com/office/drawing/2014/main" id="{8BBE1038-3AE1-24B9-C990-C9B0A2613E34}"/>
                </a:ext>
              </a:extLst>
            </p:cNvPr>
            <p:cNvSpPr/>
            <p:nvPr/>
          </p:nvSpPr>
          <p:spPr>
            <a:xfrm>
              <a:off x="9843667" y="3926680"/>
              <a:ext cx="983877" cy="235745"/>
            </a:xfrm>
            <a:prstGeom prst="roundRect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90000" rIns="90000" bIns="90000" rtlCol="0" anchor="t" anchorCtr="0"/>
            <a:lstStyle/>
            <a:p>
              <a:pPr algn="l"/>
              <a:endParaRPr lang="de-CH" sz="1600" dirty="0"/>
            </a:p>
          </p:txBody>
        </p:sp>
        <p:sp>
          <p:nvSpPr>
            <p:cNvPr id="11" name="Rechteck: abgerundete Ecken 10">
              <a:extLst>
                <a:ext uri="{FF2B5EF4-FFF2-40B4-BE49-F238E27FC236}">
                  <a16:creationId xmlns:a16="http://schemas.microsoft.com/office/drawing/2014/main" id="{F99D9593-EBBF-E104-7462-239375DD92B4}"/>
                </a:ext>
              </a:extLst>
            </p:cNvPr>
            <p:cNvSpPr/>
            <p:nvPr/>
          </p:nvSpPr>
          <p:spPr>
            <a:xfrm>
              <a:off x="10834267" y="3926680"/>
              <a:ext cx="964827" cy="238126"/>
            </a:xfrm>
            <a:prstGeom prst="roundRect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90000" rIns="90000" bIns="90000" rtlCol="0" anchor="t" anchorCtr="0"/>
            <a:lstStyle/>
            <a:p>
              <a:pPr algn="l"/>
              <a:endParaRPr lang="de-CH" sz="1600" dirty="0"/>
            </a:p>
          </p:txBody>
        </p:sp>
        <p:sp>
          <p:nvSpPr>
            <p:cNvPr id="46" name="Rechteck: abgerundete Ecken 45">
              <a:extLst>
                <a:ext uri="{FF2B5EF4-FFF2-40B4-BE49-F238E27FC236}">
                  <a16:creationId xmlns:a16="http://schemas.microsoft.com/office/drawing/2014/main" id="{BC461312-6DEF-B36D-8F6A-A0FD5BB3A331}"/>
                </a:ext>
              </a:extLst>
            </p:cNvPr>
            <p:cNvSpPr/>
            <p:nvPr/>
          </p:nvSpPr>
          <p:spPr>
            <a:xfrm>
              <a:off x="9850390" y="3681411"/>
              <a:ext cx="983877" cy="235745"/>
            </a:xfrm>
            <a:prstGeom prst="roundRect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90000" rIns="90000" bIns="90000" rtlCol="0" anchor="t" anchorCtr="0"/>
            <a:lstStyle/>
            <a:p>
              <a:pPr algn="l"/>
              <a:endParaRPr lang="de-CH" sz="1600" dirty="0"/>
            </a:p>
          </p:txBody>
        </p:sp>
        <p:sp>
          <p:nvSpPr>
            <p:cNvPr id="47" name="Rechteck: abgerundete Ecken 46">
              <a:extLst>
                <a:ext uri="{FF2B5EF4-FFF2-40B4-BE49-F238E27FC236}">
                  <a16:creationId xmlns:a16="http://schemas.microsoft.com/office/drawing/2014/main" id="{DCD2F397-541E-65B3-3F2C-06E19D6E83B1}"/>
                </a:ext>
              </a:extLst>
            </p:cNvPr>
            <p:cNvSpPr/>
            <p:nvPr/>
          </p:nvSpPr>
          <p:spPr>
            <a:xfrm>
              <a:off x="10840990" y="3681411"/>
              <a:ext cx="964827" cy="238126"/>
            </a:xfrm>
            <a:prstGeom prst="roundRect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90000" rIns="90000" bIns="90000" rtlCol="0" anchor="t" anchorCtr="0"/>
            <a:lstStyle/>
            <a:p>
              <a:pPr algn="l"/>
              <a:endParaRPr lang="de-CH" sz="1600" dirty="0"/>
            </a:p>
          </p:txBody>
        </p:sp>
        <p:sp>
          <p:nvSpPr>
            <p:cNvPr id="50" name="Rechteck: abgerundete Ecken 49">
              <a:extLst>
                <a:ext uri="{FF2B5EF4-FFF2-40B4-BE49-F238E27FC236}">
                  <a16:creationId xmlns:a16="http://schemas.microsoft.com/office/drawing/2014/main" id="{B77E3C2B-7881-289C-9241-F36D16E5285D}"/>
                </a:ext>
              </a:extLst>
            </p:cNvPr>
            <p:cNvSpPr/>
            <p:nvPr/>
          </p:nvSpPr>
          <p:spPr>
            <a:xfrm>
              <a:off x="9850390" y="3438524"/>
              <a:ext cx="983877" cy="235745"/>
            </a:xfrm>
            <a:prstGeom prst="roundRect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90000" rIns="90000" bIns="90000" rtlCol="0" anchor="t" anchorCtr="0"/>
            <a:lstStyle/>
            <a:p>
              <a:pPr algn="l"/>
              <a:endParaRPr lang="de-CH" sz="1600" dirty="0"/>
            </a:p>
          </p:txBody>
        </p:sp>
        <p:sp>
          <p:nvSpPr>
            <p:cNvPr id="51" name="Rechteck: abgerundete Ecken 50">
              <a:extLst>
                <a:ext uri="{FF2B5EF4-FFF2-40B4-BE49-F238E27FC236}">
                  <a16:creationId xmlns:a16="http://schemas.microsoft.com/office/drawing/2014/main" id="{96D7CE52-56F4-8645-E5A7-9CDC58120C44}"/>
                </a:ext>
              </a:extLst>
            </p:cNvPr>
            <p:cNvSpPr/>
            <p:nvPr/>
          </p:nvSpPr>
          <p:spPr>
            <a:xfrm>
              <a:off x="10840990" y="3438524"/>
              <a:ext cx="964827" cy="238126"/>
            </a:xfrm>
            <a:prstGeom prst="roundRect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90000" rIns="90000" bIns="90000" rtlCol="0" anchor="t" anchorCtr="0"/>
            <a:lstStyle/>
            <a:p>
              <a:pPr algn="l"/>
              <a:endParaRPr lang="de-CH" sz="1600" dirty="0"/>
            </a:p>
          </p:txBody>
        </p:sp>
        <p:sp>
          <p:nvSpPr>
            <p:cNvPr id="54" name="Rechteck: abgerundete Ecken 53">
              <a:extLst>
                <a:ext uri="{FF2B5EF4-FFF2-40B4-BE49-F238E27FC236}">
                  <a16:creationId xmlns:a16="http://schemas.microsoft.com/office/drawing/2014/main" id="{E41E4410-D643-C240-0DF6-5F0A4064AA0F}"/>
                </a:ext>
              </a:extLst>
            </p:cNvPr>
            <p:cNvSpPr/>
            <p:nvPr/>
          </p:nvSpPr>
          <p:spPr>
            <a:xfrm>
              <a:off x="9850390" y="3193255"/>
              <a:ext cx="983877" cy="235745"/>
            </a:xfrm>
            <a:prstGeom prst="roundRect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90000" rIns="90000" bIns="90000" rtlCol="0" anchor="t" anchorCtr="0"/>
            <a:lstStyle/>
            <a:p>
              <a:pPr algn="l"/>
              <a:endParaRPr lang="de-CH" sz="1600" dirty="0"/>
            </a:p>
          </p:txBody>
        </p:sp>
        <p:sp>
          <p:nvSpPr>
            <p:cNvPr id="55" name="Rechteck: abgerundete Ecken 54">
              <a:extLst>
                <a:ext uri="{FF2B5EF4-FFF2-40B4-BE49-F238E27FC236}">
                  <a16:creationId xmlns:a16="http://schemas.microsoft.com/office/drawing/2014/main" id="{7B110441-E275-E0FF-D397-FE9E4D78E11A}"/>
                </a:ext>
              </a:extLst>
            </p:cNvPr>
            <p:cNvSpPr/>
            <p:nvPr/>
          </p:nvSpPr>
          <p:spPr>
            <a:xfrm>
              <a:off x="10840990" y="3193255"/>
              <a:ext cx="964827" cy="238126"/>
            </a:xfrm>
            <a:prstGeom prst="roundRect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90000" rIns="90000" bIns="90000" rtlCol="0" anchor="t" anchorCtr="0"/>
            <a:lstStyle/>
            <a:p>
              <a:pPr algn="l"/>
              <a:endParaRPr lang="de-CH" sz="1600" dirty="0"/>
            </a:p>
          </p:txBody>
        </p:sp>
        <p:sp>
          <p:nvSpPr>
            <p:cNvPr id="58" name="Rechteck: abgerundete Ecken 57">
              <a:extLst>
                <a:ext uri="{FF2B5EF4-FFF2-40B4-BE49-F238E27FC236}">
                  <a16:creationId xmlns:a16="http://schemas.microsoft.com/office/drawing/2014/main" id="{75443DBC-5F8A-F65E-44C0-C6B0C7318B2F}"/>
                </a:ext>
              </a:extLst>
            </p:cNvPr>
            <p:cNvSpPr/>
            <p:nvPr/>
          </p:nvSpPr>
          <p:spPr>
            <a:xfrm>
              <a:off x="9850390" y="2947986"/>
              <a:ext cx="983877" cy="235745"/>
            </a:xfrm>
            <a:prstGeom prst="roundRect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90000" rIns="90000" bIns="90000" rtlCol="0" anchor="t" anchorCtr="0"/>
            <a:lstStyle/>
            <a:p>
              <a:pPr algn="l"/>
              <a:endParaRPr lang="de-CH" sz="1600" dirty="0"/>
            </a:p>
          </p:txBody>
        </p:sp>
        <p:sp>
          <p:nvSpPr>
            <p:cNvPr id="59" name="Rechteck: abgerundete Ecken 58">
              <a:extLst>
                <a:ext uri="{FF2B5EF4-FFF2-40B4-BE49-F238E27FC236}">
                  <a16:creationId xmlns:a16="http://schemas.microsoft.com/office/drawing/2014/main" id="{E3EE8160-B767-ED6C-4B0C-C55E8A98DB4F}"/>
                </a:ext>
              </a:extLst>
            </p:cNvPr>
            <p:cNvSpPr/>
            <p:nvPr/>
          </p:nvSpPr>
          <p:spPr>
            <a:xfrm>
              <a:off x="10840990" y="2947986"/>
              <a:ext cx="964827" cy="238126"/>
            </a:xfrm>
            <a:prstGeom prst="roundRect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90000" rIns="90000" bIns="90000" rtlCol="0" anchor="t" anchorCtr="0"/>
            <a:lstStyle/>
            <a:p>
              <a:pPr algn="l"/>
              <a:endParaRPr lang="de-CH" sz="1600" dirty="0"/>
            </a:p>
          </p:txBody>
        </p:sp>
        <p:sp>
          <p:nvSpPr>
            <p:cNvPr id="62" name="Rechteck: abgerundete Ecken 61">
              <a:extLst>
                <a:ext uri="{FF2B5EF4-FFF2-40B4-BE49-F238E27FC236}">
                  <a16:creationId xmlns:a16="http://schemas.microsoft.com/office/drawing/2014/main" id="{97D4742E-C297-6D0F-3BA2-3A9F983C4BDE}"/>
                </a:ext>
              </a:extLst>
            </p:cNvPr>
            <p:cNvSpPr/>
            <p:nvPr/>
          </p:nvSpPr>
          <p:spPr>
            <a:xfrm>
              <a:off x="9850390" y="2702718"/>
              <a:ext cx="983877" cy="235745"/>
            </a:xfrm>
            <a:prstGeom prst="roundRect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90000" rIns="90000" bIns="90000" rtlCol="0" anchor="t" anchorCtr="0"/>
            <a:lstStyle/>
            <a:p>
              <a:pPr algn="l"/>
              <a:endParaRPr lang="de-CH" sz="1600" dirty="0"/>
            </a:p>
          </p:txBody>
        </p:sp>
        <p:sp>
          <p:nvSpPr>
            <p:cNvPr id="63" name="Rechteck: abgerundete Ecken 62">
              <a:extLst>
                <a:ext uri="{FF2B5EF4-FFF2-40B4-BE49-F238E27FC236}">
                  <a16:creationId xmlns:a16="http://schemas.microsoft.com/office/drawing/2014/main" id="{02B0D376-778A-C49C-C634-7179C1E98235}"/>
                </a:ext>
              </a:extLst>
            </p:cNvPr>
            <p:cNvSpPr/>
            <p:nvPr/>
          </p:nvSpPr>
          <p:spPr>
            <a:xfrm>
              <a:off x="10840990" y="2702718"/>
              <a:ext cx="964827" cy="238126"/>
            </a:xfrm>
            <a:prstGeom prst="roundRect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90000" rIns="90000" bIns="90000" rtlCol="0" anchor="t" anchorCtr="0"/>
            <a:lstStyle/>
            <a:p>
              <a:pPr algn="l"/>
              <a:endParaRPr lang="de-CH" sz="1600" dirty="0"/>
            </a:p>
          </p:txBody>
        </p:sp>
        <p:sp>
          <p:nvSpPr>
            <p:cNvPr id="66" name="Rechteck: abgerundete Ecken 65">
              <a:extLst>
                <a:ext uri="{FF2B5EF4-FFF2-40B4-BE49-F238E27FC236}">
                  <a16:creationId xmlns:a16="http://schemas.microsoft.com/office/drawing/2014/main" id="{AEAD3CB0-CC03-3103-19C3-8671B141CD37}"/>
                </a:ext>
              </a:extLst>
            </p:cNvPr>
            <p:cNvSpPr/>
            <p:nvPr/>
          </p:nvSpPr>
          <p:spPr>
            <a:xfrm>
              <a:off x="9850390" y="2457449"/>
              <a:ext cx="983877" cy="235745"/>
            </a:xfrm>
            <a:prstGeom prst="roundRect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90000" rIns="90000" bIns="90000" rtlCol="0" anchor="t" anchorCtr="0"/>
            <a:lstStyle/>
            <a:p>
              <a:pPr algn="l"/>
              <a:endParaRPr lang="de-CH" sz="1600" dirty="0"/>
            </a:p>
          </p:txBody>
        </p:sp>
        <p:sp>
          <p:nvSpPr>
            <p:cNvPr id="67" name="Rechteck: abgerundete Ecken 66">
              <a:extLst>
                <a:ext uri="{FF2B5EF4-FFF2-40B4-BE49-F238E27FC236}">
                  <a16:creationId xmlns:a16="http://schemas.microsoft.com/office/drawing/2014/main" id="{07398B24-9DE4-F225-54CC-8BC1F6FE6175}"/>
                </a:ext>
              </a:extLst>
            </p:cNvPr>
            <p:cNvSpPr/>
            <p:nvPr/>
          </p:nvSpPr>
          <p:spPr>
            <a:xfrm>
              <a:off x="10840990" y="2457449"/>
              <a:ext cx="964827" cy="238126"/>
            </a:xfrm>
            <a:prstGeom prst="roundRect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90000" rIns="90000" bIns="90000" rtlCol="0" anchor="t" anchorCtr="0"/>
            <a:lstStyle/>
            <a:p>
              <a:pPr algn="l"/>
              <a:endParaRPr lang="de-CH" sz="1600" dirty="0"/>
            </a:p>
          </p:txBody>
        </p:sp>
        <p:sp>
          <p:nvSpPr>
            <p:cNvPr id="70" name="Rechteck: abgerundete Ecken 69">
              <a:extLst>
                <a:ext uri="{FF2B5EF4-FFF2-40B4-BE49-F238E27FC236}">
                  <a16:creationId xmlns:a16="http://schemas.microsoft.com/office/drawing/2014/main" id="{EEDB25EB-3E9F-BA44-AA17-30F8A25166DA}"/>
                </a:ext>
              </a:extLst>
            </p:cNvPr>
            <p:cNvSpPr/>
            <p:nvPr/>
          </p:nvSpPr>
          <p:spPr>
            <a:xfrm>
              <a:off x="9850390" y="2214562"/>
              <a:ext cx="983877" cy="235745"/>
            </a:xfrm>
            <a:prstGeom prst="roundRect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90000" rIns="90000" bIns="90000" rtlCol="0" anchor="t" anchorCtr="0"/>
            <a:lstStyle/>
            <a:p>
              <a:pPr algn="l"/>
              <a:endParaRPr lang="de-CH" sz="1600" dirty="0"/>
            </a:p>
          </p:txBody>
        </p:sp>
        <p:sp>
          <p:nvSpPr>
            <p:cNvPr id="71" name="Rechteck: abgerundete Ecken 70">
              <a:extLst>
                <a:ext uri="{FF2B5EF4-FFF2-40B4-BE49-F238E27FC236}">
                  <a16:creationId xmlns:a16="http://schemas.microsoft.com/office/drawing/2014/main" id="{C64E1C96-15D2-DAB5-86F8-9A36E8A314BB}"/>
                </a:ext>
              </a:extLst>
            </p:cNvPr>
            <p:cNvSpPr/>
            <p:nvPr/>
          </p:nvSpPr>
          <p:spPr>
            <a:xfrm>
              <a:off x="10840990" y="2214562"/>
              <a:ext cx="964827" cy="238126"/>
            </a:xfrm>
            <a:prstGeom prst="roundRect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90000" rIns="90000" bIns="90000" rtlCol="0" anchor="t" anchorCtr="0"/>
            <a:lstStyle/>
            <a:p>
              <a:pPr algn="l"/>
              <a:endParaRPr lang="de-CH" sz="1600" dirty="0"/>
            </a:p>
          </p:txBody>
        </p:sp>
        <p:sp>
          <p:nvSpPr>
            <p:cNvPr id="74" name="Rechteck: abgerundete Ecken 73">
              <a:extLst>
                <a:ext uri="{FF2B5EF4-FFF2-40B4-BE49-F238E27FC236}">
                  <a16:creationId xmlns:a16="http://schemas.microsoft.com/office/drawing/2014/main" id="{B1B4AA18-6661-3280-87B1-CF7171C70E39}"/>
                </a:ext>
              </a:extLst>
            </p:cNvPr>
            <p:cNvSpPr/>
            <p:nvPr/>
          </p:nvSpPr>
          <p:spPr>
            <a:xfrm>
              <a:off x="9850390" y="1971675"/>
              <a:ext cx="983877" cy="235745"/>
            </a:xfrm>
            <a:prstGeom prst="roundRect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90000" rIns="90000" bIns="90000" rtlCol="0" anchor="t" anchorCtr="0"/>
            <a:lstStyle/>
            <a:p>
              <a:pPr algn="l"/>
              <a:endParaRPr lang="de-CH" sz="1600" dirty="0"/>
            </a:p>
          </p:txBody>
        </p:sp>
        <p:sp>
          <p:nvSpPr>
            <p:cNvPr id="75" name="Rechteck: abgerundete Ecken 74">
              <a:extLst>
                <a:ext uri="{FF2B5EF4-FFF2-40B4-BE49-F238E27FC236}">
                  <a16:creationId xmlns:a16="http://schemas.microsoft.com/office/drawing/2014/main" id="{F1086BE2-832F-B599-919C-457AD5225001}"/>
                </a:ext>
              </a:extLst>
            </p:cNvPr>
            <p:cNvSpPr/>
            <p:nvPr/>
          </p:nvSpPr>
          <p:spPr>
            <a:xfrm>
              <a:off x="10840990" y="1971675"/>
              <a:ext cx="964827" cy="238126"/>
            </a:xfrm>
            <a:prstGeom prst="roundRect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90000" rIns="90000" bIns="90000" rtlCol="0" anchor="t" anchorCtr="0"/>
            <a:lstStyle/>
            <a:p>
              <a:pPr algn="l"/>
              <a:endParaRPr lang="de-CH" sz="1600" dirty="0"/>
            </a:p>
          </p:txBody>
        </p:sp>
      </p:grpSp>
      <p:grpSp>
        <p:nvGrpSpPr>
          <p:cNvPr id="80" name="Gruppieren 79">
            <a:extLst>
              <a:ext uri="{FF2B5EF4-FFF2-40B4-BE49-F238E27FC236}">
                <a16:creationId xmlns:a16="http://schemas.microsoft.com/office/drawing/2014/main" id="{1600C032-C4AF-C6FD-7992-3D45C2F68D32}"/>
              </a:ext>
            </a:extLst>
          </p:cNvPr>
          <p:cNvGrpSpPr/>
          <p:nvPr/>
        </p:nvGrpSpPr>
        <p:grpSpPr>
          <a:xfrm>
            <a:off x="9843667" y="1731168"/>
            <a:ext cx="1974477" cy="223839"/>
            <a:chOff x="9843667" y="1731168"/>
            <a:chExt cx="1974477" cy="223839"/>
          </a:xfrm>
        </p:grpSpPr>
        <p:sp>
          <p:nvSpPr>
            <p:cNvPr id="77" name="Rechteck: abgerundete Ecken 76">
              <a:extLst>
                <a:ext uri="{FF2B5EF4-FFF2-40B4-BE49-F238E27FC236}">
                  <a16:creationId xmlns:a16="http://schemas.microsoft.com/office/drawing/2014/main" id="{E2D09C8A-7D93-ABEC-D9F3-30F520F6EB96}"/>
                </a:ext>
              </a:extLst>
            </p:cNvPr>
            <p:cNvSpPr/>
            <p:nvPr/>
          </p:nvSpPr>
          <p:spPr>
            <a:xfrm>
              <a:off x="9843667" y="1733550"/>
              <a:ext cx="983877" cy="219077"/>
            </a:xfrm>
            <a:prstGeom prst="roundRect">
              <a:avLst/>
            </a:prstGeom>
            <a:pattFill prst="pct50">
              <a:fgClr>
                <a:schemeClr val="accent3">
                  <a:lumMod val="7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90000" rIns="90000" bIns="90000" rtlCol="0" anchor="t" anchorCtr="0"/>
            <a:lstStyle/>
            <a:p>
              <a:pPr algn="l"/>
              <a:endParaRPr lang="de-CH" sz="1600" dirty="0"/>
            </a:p>
          </p:txBody>
        </p:sp>
        <p:sp>
          <p:nvSpPr>
            <p:cNvPr id="78" name="Rechteck: abgerundete Ecken 77">
              <a:extLst>
                <a:ext uri="{FF2B5EF4-FFF2-40B4-BE49-F238E27FC236}">
                  <a16:creationId xmlns:a16="http://schemas.microsoft.com/office/drawing/2014/main" id="{FEF599D3-F5DC-EAE5-CF5F-3D8EE5F3FFD2}"/>
                </a:ext>
              </a:extLst>
            </p:cNvPr>
            <p:cNvSpPr/>
            <p:nvPr/>
          </p:nvSpPr>
          <p:spPr>
            <a:xfrm>
              <a:off x="10834267" y="1731168"/>
              <a:ext cx="983877" cy="223839"/>
            </a:xfrm>
            <a:prstGeom prst="roundRect">
              <a:avLst/>
            </a:prstGeom>
            <a:pattFill prst="pct50">
              <a:fgClr>
                <a:schemeClr val="accent3">
                  <a:lumMod val="7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90000" rIns="90000" bIns="90000" rtlCol="0" anchor="t" anchorCtr="0"/>
            <a:lstStyle/>
            <a:p>
              <a:pPr algn="l"/>
              <a:endParaRPr lang="de-CH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1482671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F7C214-AAE1-74B1-82E7-771AA7AB6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2" y="1043535"/>
            <a:ext cx="6407467" cy="483831"/>
          </a:xfrm>
        </p:spPr>
        <p:txBody>
          <a:bodyPr/>
          <a:lstStyle/>
          <a:p>
            <a:r>
              <a:rPr lang="de-CH" dirty="0"/>
              <a:t>Risk </a:t>
            </a:r>
            <a:r>
              <a:rPr lang="de-CH" dirty="0" err="1"/>
              <a:t>represented</a:t>
            </a:r>
            <a:r>
              <a:rPr lang="de-CH" dirty="0"/>
              <a:t> </a:t>
            </a:r>
            <a:r>
              <a:rPr lang="de-CH" dirty="0" err="1"/>
              <a:t>by</a:t>
            </a:r>
            <a:r>
              <a:rPr lang="de-CH" dirty="0"/>
              <a:t> </a:t>
            </a:r>
            <a:r>
              <a:rPr lang="de-CH" dirty="0" err="1"/>
              <a:t>area</a:t>
            </a:r>
            <a:r>
              <a:rPr lang="de-CH" dirty="0"/>
              <a:t>: </a:t>
            </a:r>
            <a:r>
              <a:rPr lang="de-CH" dirty="0" err="1"/>
              <a:t>Example</a:t>
            </a:r>
            <a:r>
              <a:rPr lang="de-CH" dirty="0"/>
              <a:t> 1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3E657C6-356D-D25B-A648-D2733B11B0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2" y="1630905"/>
            <a:ext cx="6194107" cy="456987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de-CH" dirty="0" err="1"/>
              <a:t>How</a:t>
            </a:r>
            <a:r>
              <a:rPr lang="de-CH" dirty="0"/>
              <a:t> </a:t>
            </a:r>
            <a:r>
              <a:rPr lang="de-CH" dirty="0" err="1"/>
              <a:t>does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area</a:t>
            </a:r>
            <a:r>
              <a:rPr lang="de-CH" dirty="0"/>
              <a:t> </a:t>
            </a:r>
            <a:r>
              <a:rPr lang="de-CH" dirty="0" err="1"/>
              <a:t>increase</a:t>
            </a:r>
            <a:r>
              <a:rPr lang="de-CH" dirty="0"/>
              <a:t>?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de-CH" dirty="0" err="1"/>
              <a:t>Red</a:t>
            </a:r>
            <a:r>
              <a:rPr lang="de-CH" dirty="0"/>
              <a:t> </a:t>
            </a:r>
            <a:r>
              <a:rPr lang="de-CH" dirty="0" err="1"/>
              <a:t>area</a:t>
            </a:r>
            <a:r>
              <a:rPr lang="de-CH" dirty="0"/>
              <a:t>: 18 «</a:t>
            </a:r>
            <a:r>
              <a:rPr lang="de-CH" dirty="0" err="1"/>
              <a:t>units</a:t>
            </a:r>
            <a:r>
              <a:rPr lang="de-CH" dirty="0"/>
              <a:t>»,</a:t>
            </a:r>
            <a:br>
              <a:rPr lang="de-CH" dirty="0"/>
            </a:br>
            <a:r>
              <a:rPr lang="de-CH" dirty="0" err="1"/>
              <a:t>corresponds</a:t>
            </a:r>
            <a:r>
              <a:rPr lang="de-CH" dirty="0"/>
              <a:t> </a:t>
            </a:r>
            <a:r>
              <a:rPr lang="de-CH" dirty="0" err="1"/>
              <a:t>to</a:t>
            </a:r>
            <a:r>
              <a:rPr lang="de-CH" dirty="0"/>
              <a:t> </a:t>
            </a:r>
            <a:r>
              <a:rPr lang="de-CH" dirty="0" err="1"/>
              <a:t>unearned</a:t>
            </a:r>
            <a:r>
              <a:rPr lang="de-CH" dirty="0"/>
              <a:t> premium </a:t>
            </a:r>
            <a:r>
              <a:rPr lang="de-CH" dirty="0" err="1"/>
              <a:t>of</a:t>
            </a:r>
            <a:r>
              <a:rPr lang="de-CH" dirty="0"/>
              <a:t> EUR 900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de-CH" dirty="0"/>
              <a:t>Blue </a:t>
            </a:r>
            <a:r>
              <a:rPr lang="de-CH" dirty="0" err="1"/>
              <a:t>area</a:t>
            </a:r>
            <a:r>
              <a:rPr lang="de-CH" dirty="0"/>
              <a:t>: 2 «</a:t>
            </a:r>
            <a:r>
              <a:rPr lang="de-CH" dirty="0" err="1"/>
              <a:t>units</a:t>
            </a:r>
            <a:r>
              <a:rPr lang="de-CH" dirty="0"/>
              <a:t>»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de-CH" dirty="0">
                <a:sym typeface="Wingdings" panose="05000000000000000000" pitchFamily="2" charset="2"/>
              </a:rPr>
              <a:t> </a:t>
            </a:r>
            <a:r>
              <a:rPr lang="de-CH" dirty="0" err="1">
                <a:sym typeface="Wingdings" panose="05000000000000000000" pitchFamily="2" charset="2"/>
              </a:rPr>
              <a:t>Increase</a:t>
            </a:r>
            <a:r>
              <a:rPr lang="de-CH" dirty="0">
                <a:sym typeface="Wingdings" panose="05000000000000000000" pitchFamily="2" charset="2"/>
              </a:rPr>
              <a:t> </a:t>
            </a:r>
            <a:r>
              <a:rPr lang="de-CH" dirty="0" err="1">
                <a:sym typeface="Wingdings" panose="05000000000000000000" pitchFamily="2" charset="2"/>
              </a:rPr>
              <a:t>of</a:t>
            </a:r>
            <a:r>
              <a:rPr lang="de-CH" dirty="0">
                <a:sym typeface="Wingdings" panose="05000000000000000000" pitchFamily="2" charset="2"/>
              </a:rPr>
              <a:t> Area after 1.1.2003: 2/18=11.1%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de-CH" dirty="0">
                <a:sym typeface="Wingdings" panose="05000000000000000000" pitchFamily="2" charset="2"/>
              </a:rPr>
              <a:t> </a:t>
            </a:r>
            <a:r>
              <a:rPr lang="de-CH" dirty="0" err="1">
                <a:sym typeface="Wingdings" panose="05000000000000000000" pitchFamily="2" charset="2"/>
              </a:rPr>
              <a:t>Increase</a:t>
            </a:r>
            <a:r>
              <a:rPr lang="de-CH" dirty="0">
                <a:sym typeface="Wingdings" panose="05000000000000000000" pitchFamily="2" charset="2"/>
              </a:rPr>
              <a:t> </a:t>
            </a:r>
            <a:r>
              <a:rPr lang="de-CH" dirty="0" err="1">
                <a:sym typeface="Wingdings" panose="05000000000000000000" pitchFamily="2" charset="2"/>
              </a:rPr>
              <a:t>of</a:t>
            </a:r>
            <a:r>
              <a:rPr lang="de-CH" dirty="0">
                <a:sym typeface="Wingdings" panose="05000000000000000000" pitchFamily="2" charset="2"/>
              </a:rPr>
              <a:t> Risk Premium: 11.1% x EUR 900 = EUR 100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de-CH" dirty="0">
                <a:sym typeface="Wingdings" panose="05000000000000000000" pitchFamily="2" charset="2"/>
              </a:rPr>
              <a:t> </a:t>
            </a:r>
            <a:r>
              <a:rPr lang="de-CH" dirty="0" err="1">
                <a:sym typeface="Wingdings" panose="05000000000000000000" pitchFamily="2" charset="2"/>
              </a:rPr>
              <a:t>Increase</a:t>
            </a:r>
            <a:r>
              <a:rPr lang="de-CH" dirty="0">
                <a:sym typeface="Wingdings" panose="05000000000000000000" pitchFamily="2" charset="2"/>
              </a:rPr>
              <a:t> </a:t>
            </a:r>
            <a:r>
              <a:rPr lang="de-CH" dirty="0" err="1">
                <a:sym typeface="Wingdings" panose="05000000000000000000" pitchFamily="2" charset="2"/>
              </a:rPr>
              <a:t>of</a:t>
            </a:r>
            <a:r>
              <a:rPr lang="de-CH" dirty="0">
                <a:sym typeface="Wingdings" panose="05000000000000000000" pitchFamily="2" charset="2"/>
              </a:rPr>
              <a:t> Total Premium: EUR 100 / 0.8 = EUR 125</a:t>
            </a:r>
            <a:endParaRPr lang="de-CH" dirty="0"/>
          </a:p>
          <a:p>
            <a:pPr>
              <a:spcAft>
                <a:spcPts val="600"/>
              </a:spcAft>
            </a:pPr>
            <a:endParaRPr lang="de-CH" dirty="0"/>
          </a:p>
          <a:p>
            <a:pPr>
              <a:spcAft>
                <a:spcPts val="600"/>
              </a:spcAft>
            </a:pPr>
            <a:endParaRPr lang="de-CH" dirty="0"/>
          </a:p>
          <a:p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E94BE69-3A20-D6B8-4797-16C982219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 October 2024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7C9231C-62D3-B8DC-71F0-D69443DFE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9AB5E-215F-4BC4-9EB7-C8883DA834C0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0C6F11E8-A687-6E43-70F6-8FBC6E30877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de-DE"/>
          </a:p>
        </p:txBody>
      </p:sp>
      <p:graphicFrame>
        <p:nvGraphicFramePr>
          <p:cNvPr id="10" name="Objekt 8">
            <a:extLst>
              <a:ext uri="{FF2B5EF4-FFF2-40B4-BE49-F238E27FC236}">
                <a16:creationId xmlns:a16="http://schemas.microsoft.com/office/drawing/2014/main" id="{7D77FCB9-BD2B-44CF-0A2B-112C0C29D6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43775" y="1580986"/>
          <a:ext cx="4848225" cy="32056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0ABB8659-8927-E7EA-C481-948BD36C9C36}"/>
              </a:ext>
            </a:extLst>
          </p:cNvPr>
          <p:cNvGrpSpPr/>
          <p:nvPr/>
        </p:nvGrpSpPr>
        <p:grpSpPr>
          <a:xfrm>
            <a:off x="9843667" y="1971675"/>
            <a:ext cx="1962150" cy="2193131"/>
            <a:chOff x="9843667" y="1971675"/>
            <a:chExt cx="1962150" cy="2193131"/>
          </a:xfrm>
        </p:grpSpPr>
        <p:sp>
          <p:nvSpPr>
            <p:cNvPr id="9" name="Rechteck: abgerundete Ecken 8">
              <a:extLst>
                <a:ext uri="{FF2B5EF4-FFF2-40B4-BE49-F238E27FC236}">
                  <a16:creationId xmlns:a16="http://schemas.microsoft.com/office/drawing/2014/main" id="{8BBE1038-3AE1-24B9-C990-C9B0A2613E34}"/>
                </a:ext>
              </a:extLst>
            </p:cNvPr>
            <p:cNvSpPr/>
            <p:nvPr/>
          </p:nvSpPr>
          <p:spPr>
            <a:xfrm>
              <a:off x="9843667" y="3926680"/>
              <a:ext cx="983877" cy="235745"/>
            </a:xfrm>
            <a:prstGeom prst="roundRect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90000" rIns="90000" bIns="90000" rtlCol="0" anchor="t" anchorCtr="0"/>
            <a:lstStyle/>
            <a:p>
              <a:pPr algn="l"/>
              <a:endParaRPr lang="de-CH" sz="1600" dirty="0"/>
            </a:p>
          </p:txBody>
        </p:sp>
        <p:sp>
          <p:nvSpPr>
            <p:cNvPr id="11" name="Rechteck: abgerundete Ecken 10">
              <a:extLst>
                <a:ext uri="{FF2B5EF4-FFF2-40B4-BE49-F238E27FC236}">
                  <a16:creationId xmlns:a16="http://schemas.microsoft.com/office/drawing/2014/main" id="{F99D9593-EBBF-E104-7462-239375DD92B4}"/>
                </a:ext>
              </a:extLst>
            </p:cNvPr>
            <p:cNvSpPr/>
            <p:nvPr/>
          </p:nvSpPr>
          <p:spPr>
            <a:xfrm>
              <a:off x="10834267" y="3926680"/>
              <a:ext cx="964827" cy="238126"/>
            </a:xfrm>
            <a:prstGeom prst="roundRect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90000" rIns="90000" bIns="90000" rtlCol="0" anchor="t" anchorCtr="0"/>
            <a:lstStyle/>
            <a:p>
              <a:pPr algn="l"/>
              <a:endParaRPr lang="de-CH" sz="1600" dirty="0"/>
            </a:p>
          </p:txBody>
        </p:sp>
        <p:sp>
          <p:nvSpPr>
            <p:cNvPr id="46" name="Rechteck: abgerundete Ecken 45">
              <a:extLst>
                <a:ext uri="{FF2B5EF4-FFF2-40B4-BE49-F238E27FC236}">
                  <a16:creationId xmlns:a16="http://schemas.microsoft.com/office/drawing/2014/main" id="{BC461312-6DEF-B36D-8F6A-A0FD5BB3A331}"/>
                </a:ext>
              </a:extLst>
            </p:cNvPr>
            <p:cNvSpPr/>
            <p:nvPr/>
          </p:nvSpPr>
          <p:spPr>
            <a:xfrm>
              <a:off x="9850390" y="3681411"/>
              <a:ext cx="983877" cy="235745"/>
            </a:xfrm>
            <a:prstGeom prst="roundRect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90000" rIns="90000" bIns="90000" rtlCol="0" anchor="t" anchorCtr="0"/>
            <a:lstStyle/>
            <a:p>
              <a:pPr algn="l"/>
              <a:endParaRPr lang="de-CH" sz="1600" dirty="0"/>
            </a:p>
          </p:txBody>
        </p:sp>
        <p:sp>
          <p:nvSpPr>
            <p:cNvPr id="47" name="Rechteck: abgerundete Ecken 46">
              <a:extLst>
                <a:ext uri="{FF2B5EF4-FFF2-40B4-BE49-F238E27FC236}">
                  <a16:creationId xmlns:a16="http://schemas.microsoft.com/office/drawing/2014/main" id="{DCD2F397-541E-65B3-3F2C-06E19D6E83B1}"/>
                </a:ext>
              </a:extLst>
            </p:cNvPr>
            <p:cNvSpPr/>
            <p:nvPr/>
          </p:nvSpPr>
          <p:spPr>
            <a:xfrm>
              <a:off x="10840990" y="3681411"/>
              <a:ext cx="964827" cy="238126"/>
            </a:xfrm>
            <a:prstGeom prst="roundRect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90000" rIns="90000" bIns="90000" rtlCol="0" anchor="t" anchorCtr="0"/>
            <a:lstStyle/>
            <a:p>
              <a:pPr algn="l"/>
              <a:endParaRPr lang="de-CH" sz="1600" dirty="0"/>
            </a:p>
          </p:txBody>
        </p:sp>
        <p:sp>
          <p:nvSpPr>
            <p:cNvPr id="50" name="Rechteck: abgerundete Ecken 49">
              <a:extLst>
                <a:ext uri="{FF2B5EF4-FFF2-40B4-BE49-F238E27FC236}">
                  <a16:creationId xmlns:a16="http://schemas.microsoft.com/office/drawing/2014/main" id="{B77E3C2B-7881-289C-9241-F36D16E5285D}"/>
                </a:ext>
              </a:extLst>
            </p:cNvPr>
            <p:cNvSpPr/>
            <p:nvPr/>
          </p:nvSpPr>
          <p:spPr>
            <a:xfrm>
              <a:off x="9850390" y="3438524"/>
              <a:ext cx="983877" cy="235745"/>
            </a:xfrm>
            <a:prstGeom prst="roundRect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90000" rIns="90000" bIns="90000" rtlCol="0" anchor="t" anchorCtr="0"/>
            <a:lstStyle/>
            <a:p>
              <a:pPr algn="l"/>
              <a:endParaRPr lang="de-CH" sz="1600" dirty="0"/>
            </a:p>
          </p:txBody>
        </p:sp>
        <p:sp>
          <p:nvSpPr>
            <p:cNvPr id="51" name="Rechteck: abgerundete Ecken 50">
              <a:extLst>
                <a:ext uri="{FF2B5EF4-FFF2-40B4-BE49-F238E27FC236}">
                  <a16:creationId xmlns:a16="http://schemas.microsoft.com/office/drawing/2014/main" id="{96D7CE52-56F4-8645-E5A7-9CDC58120C44}"/>
                </a:ext>
              </a:extLst>
            </p:cNvPr>
            <p:cNvSpPr/>
            <p:nvPr/>
          </p:nvSpPr>
          <p:spPr>
            <a:xfrm>
              <a:off x="10840990" y="3438524"/>
              <a:ext cx="964827" cy="238126"/>
            </a:xfrm>
            <a:prstGeom prst="roundRect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90000" rIns="90000" bIns="90000" rtlCol="0" anchor="t" anchorCtr="0"/>
            <a:lstStyle/>
            <a:p>
              <a:pPr algn="l"/>
              <a:endParaRPr lang="de-CH" sz="1600" dirty="0"/>
            </a:p>
          </p:txBody>
        </p:sp>
        <p:sp>
          <p:nvSpPr>
            <p:cNvPr id="54" name="Rechteck: abgerundete Ecken 53">
              <a:extLst>
                <a:ext uri="{FF2B5EF4-FFF2-40B4-BE49-F238E27FC236}">
                  <a16:creationId xmlns:a16="http://schemas.microsoft.com/office/drawing/2014/main" id="{E41E4410-D643-C240-0DF6-5F0A4064AA0F}"/>
                </a:ext>
              </a:extLst>
            </p:cNvPr>
            <p:cNvSpPr/>
            <p:nvPr/>
          </p:nvSpPr>
          <p:spPr>
            <a:xfrm>
              <a:off x="9850390" y="3193255"/>
              <a:ext cx="983877" cy="235745"/>
            </a:xfrm>
            <a:prstGeom prst="roundRect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90000" rIns="90000" bIns="90000" rtlCol="0" anchor="t" anchorCtr="0"/>
            <a:lstStyle/>
            <a:p>
              <a:pPr algn="l"/>
              <a:endParaRPr lang="de-CH" sz="1600" dirty="0"/>
            </a:p>
          </p:txBody>
        </p:sp>
        <p:sp>
          <p:nvSpPr>
            <p:cNvPr id="55" name="Rechteck: abgerundete Ecken 54">
              <a:extLst>
                <a:ext uri="{FF2B5EF4-FFF2-40B4-BE49-F238E27FC236}">
                  <a16:creationId xmlns:a16="http://schemas.microsoft.com/office/drawing/2014/main" id="{7B110441-E275-E0FF-D397-FE9E4D78E11A}"/>
                </a:ext>
              </a:extLst>
            </p:cNvPr>
            <p:cNvSpPr/>
            <p:nvPr/>
          </p:nvSpPr>
          <p:spPr>
            <a:xfrm>
              <a:off x="10840990" y="3193255"/>
              <a:ext cx="964827" cy="238126"/>
            </a:xfrm>
            <a:prstGeom prst="roundRect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90000" rIns="90000" bIns="90000" rtlCol="0" anchor="t" anchorCtr="0"/>
            <a:lstStyle/>
            <a:p>
              <a:pPr algn="l"/>
              <a:endParaRPr lang="de-CH" sz="1600" dirty="0"/>
            </a:p>
          </p:txBody>
        </p:sp>
        <p:sp>
          <p:nvSpPr>
            <p:cNvPr id="58" name="Rechteck: abgerundete Ecken 57">
              <a:extLst>
                <a:ext uri="{FF2B5EF4-FFF2-40B4-BE49-F238E27FC236}">
                  <a16:creationId xmlns:a16="http://schemas.microsoft.com/office/drawing/2014/main" id="{75443DBC-5F8A-F65E-44C0-C6B0C7318B2F}"/>
                </a:ext>
              </a:extLst>
            </p:cNvPr>
            <p:cNvSpPr/>
            <p:nvPr/>
          </p:nvSpPr>
          <p:spPr>
            <a:xfrm>
              <a:off x="9850390" y="2947986"/>
              <a:ext cx="983877" cy="235745"/>
            </a:xfrm>
            <a:prstGeom prst="roundRect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90000" rIns="90000" bIns="90000" rtlCol="0" anchor="t" anchorCtr="0"/>
            <a:lstStyle/>
            <a:p>
              <a:pPr algn="l"/>
              <a:endParaRPr lang="de-CH" sz="1600" dirty="0"/>
            </a:p>
          </p:txBody>
        </p:sp>
        <p:sp>
          <p:nvSpPr>
            <p:cNvPr id="59" name="Rechteck: abgerundete Ecken 58">
              <a:extLst>
                <a:ext uri="{FF2B5EF4-FFF2-40B4-BE49-F238E27FC236}">
                  <a16:creationId xmlns:a16="http://schemas.microsoft.com/office/drawing/2014/main" id="{E3EE8160-B767-ED6C-4B0C-C55E8A98DB4F}"/>
                </a:ext>
              </a:extLst>
            </p:cNvPr>
            <p:cNvSpPr/>
            <p:nvPr/>
          </p:nvSpPr>
          <p:spPr>
            <a:xfrm>
              <a:off x="10840990" y="2947986"/>
              <a:ext cx="964827" cy="238126"/>
            </a:xfrm>
            <a:prstGeom prst="roundRect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90000" rIns="90000" bIns="90000" rtlCol="0" anchor="t" anchorCtr="0"/>
            <a:lstStyle/>
            <a:p>
              <a:pPr algn="l"/>
              <a:endParaRPr lang="de-CH" sz="1600" dirty="0"/>
            </a:p>
          </p:txBody>
        </p:sp>
        <p:sp>
          <p:nvSpPr>
            <p:cNvPr id="62" name="Rechteck: abgerundete Ecken 61">
              <a:extLst>
                <a:ext uri="{FF2B5EF4-FFF2-40B4-BE49-F238E27FC236}">
                  <a16:creationId xmlns:a16="http://schemas.microsoft.com/office/drawing/2014/main" id="{97D4742E-C297-6D0F-3BA2-3A9F983C4BDE}"/>
                </a:ext>
              </a:extLst>
            </p:cNvPr>
            <p:cNvSpPr/>
            <p:nvPr/>
          </p:nvSpPr>
          <p:spPr>
            <a:xfrm>
              <a:off x="9850390" y="2702718"/>
              <a:ext cx="983877" cy="235745"/>
            </a:xfrm>
            <a:prstGeom prst="roundRect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90000" rIns="90000" bIns="90000" rtlCol="0" anchor="t" anchorCtr="0"/>
            <a:lstStyle/>
            <a:p>
              <a:pPr algn="l"/>
              <a:endParaRPr lang="de-CH" sz="1600" dirty="0"/>
            </a:p>
          </p:txBody>
        </p:sp>
        <p:sp>
          <p:nvSpPr>
            <p:cNvPr id="63" name="Rechteck: abgerundete Ecken 62">
              <a:extLst>
                <a:ext uri="{FF2B5EF4-FFF2-40B4-BE49-F238E27FC236}">
                  <a16:creationId xmlns:a16="http://schemas.microsoft.com/office/drawing/2014/main" id="{02B0D376-778A-C49C-C634-7179C1E98235}"/>
                </a:ext>
              </a:extLst>
            </p:cNvPr>
            <p:cNvSpPr/>
            <p:nvPr/>
          </p:nvSpPr>
          <p:spPr>
            <a:xfrm>
              <a:off x="10840990" y="2702718"/>
              <a:ext cx="964827" cy="238126"/>
            </a:xfrm>
            <a:prstGeom prst="roundRect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90000" rIns="90000" bIns="90000" rtlCol="0" anchor="t" anchorCtr="0"/>
            <a:lstStyle/>
            <a:p>
              <a:pPr algn="l"/>
              <a:endParaRPr lang="de-CH" sz="1600" dirty="0"/>
            </a:p>
          </p:txBody>
        </p:sp>
        <p:sp>
          <p:nvSpPr>
            <p:cNvPr id="66" name="Rechteck: abgerundete Ecken 65">
              <a:extLst>
                <a:ext uri="{FF2B5EF4-FFF2-40B4-BE49-F238E27FC236}">
                  <a16:creationId xmlns:a16="http://schemas.microsoft.com/office/drawing/2014/main" id="{AEAD3CB0-CC03-3103-19C3-8671B141CD37}"/>
                </a:ext>
              </a:extLst>
            </p:cNvPr>
            <p:cNvSpPr/>
            <p:nvPr/>
          </p:nvSpPr>
          <p:spPr>
            <a:xfrm>
              <a:off x="9850390" y="2457449"/>
              <a:ext cx="983877" cy="235745"/>
            </a:xfrm>
            <a:prstGeom prst="roundRect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90000" rIns="90000" bIns="90000" rtlCol="0" anchor="t" anchorCtr="0"/>
            <a:lstStyle/>
            <a:p>
              <a:pPr algn="l"/>
              <a:endParaRPr lang="de-CH" sz="1600" dirty="0"/>
            </a:p>
          </p:txBody>
        </p:sp>
        <p:sp>
          <p:nvSpPr>
            <p:cNvPr id="67" name="Rechteck: abgerundete Ecken 66">
              <a:extLst>
                <a:ext uri="{FF2B5EF4-FFF2-40B4-BE49-F238E27FC236}">
                  <a16:creationId xmlns:a16="http://schemas.microsoft.com/office/drawing/2014/main" id="{07398B24-9DE4-F225-54CC-8BC1F6FE6175}"/>
                </a:ext>
              </a:extLst>
            </p:cNvPr>
            <p:cNvSpPr/>
            <p:nvPr/>
          </p:nvSpPr>
          <p:spPr>
            <a:xfrm>
              <a:off x="10840990" y="2457449"/>
              <a:ext cx="964827" cy="238126"/>
            </a:xfrm>
            <a:prstGeom prst="roundRect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90000" rIns="90000" bIns="90000" rtlCol="0" anchor="t" anchorCtr="0"/>
            <a:lstStyle/>
            <a:p>
              <a:pPr algn="l"/>
              <a:endParaRPr lang="de-CH" sz="1600" dirty="0"/>
            </a:p>
          </p:txBody>
        </p:sp>
        <p:sp>
          <p:nvSpPr>
            <p:cNvPr id="70" name="Rechteck: abgerundete Ecken 69">
              <a:extLst>
                <a:ext uri="{FF2B5EF4-FFF2-40B4-BE49-F238E27FC236}">
                  <a16:creationId xmlns:a16="http://schemas.microsoft.com/office/drawing/2014/main" id="{EEDB25EB-3E9F-BA44-AA17-30F8A25166DA}"/>
                </a:ext>
              </a:extLst>
            </p:cNvPr>
            <p:cNvSpPr/>
            <p:nvPr/>
          </p:nvSpPr>
          <p:spPr>
            <a:xfrm>
              <a:off x="9850390" y="2214562"/>
              <a:ext cx="983877" cy="235745"/>
            </a:xfrm>
            <a:prstGeom prst="roundRect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90000" rIns="90000" bIns="90000" rtlCol="0" anchor="t" anchorCtr="0"/>
            <a:lstStyle/>
            <a:p>
              <a:pPr algn="l"/>
              <a:endParaRPr lang="de-CH" sz="1600" dirty="0"/>
            </a:p>
          </p:txBody>
        </p:sp>
        <p:sp>
          <p:nvSpPr>
            <p:cNvPr id="71" name="Rechteck: abgerundete Ecken 70">
              <a:extLst>
                <a:ext uri="{FF2B5EF4-FFF2-40B4-BE49-F238E27FC236}">
                  <a16:creationId xmlns:a16="http://schemas.microsoft.com/office/drawing/2014/main" id="{C64E1C96-15D2-DAB5-86F8-9A36E8A314BB}"/>
                </a:ext>
              </a:extLst>
            </p:cNvPr>
            <p:cNvSpPr/>
            <p:nvPr/>
          </p:nvSpPr>
          <p:spPr>
            <a:xfrm>
              <a:off x="10840990" y="2214562"/>
              <a:ext cx="964827" cy="238126"/>
            </a:xfrm>
            <a:prstGeom prst="roundRect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90000" rIns="90000" bIns="90000" rtlCol="0" anchor="t" anchorCtr="0"/>
            <a:lstStyle/>
            <a:p>
              <a:pPr algn="l"/>
              <a:endParaRPr lang="de-CH" sz="1600" dirty="0"/>
            </a:p>
          </p:txBody>
        </p:sp>
        <p:sp>
          <p:nvSpPr>
            <p:cNvPr id="74" name="Rechteck: abgerundete Ecken 73">
              <a:extLst>
                <a:ext uri="{FF2B5EF4-FFF2-40B4-BE49-F238E27FC236}">
                  <a16:creationId xmlns:a16="http://schemas.microsoft.com/office/drawing/2014/main" id="{B1B4AA18-6661-3280-87B1-CF7171C70E39}"/>
                </a:ext>
              </a:extLst>
            </p:cNvPr>
            <p:cNvSpPr/>
            <p:nvPr/>
          </p:nvSpPr>
          <p:spPr>
            <a:xfrm>
              <a:off x="9850390" y="1971675"/>
              <a:ext cx="983877" cy="235745"/>
            </a:xfrm>
            <a:prstGeom prst="roundRect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90000" rIns="90000" bIns="90000" rtlCol="0" anchor="t" anchorCtr="0"/>
            <a:lstStyle/>
            <a:p>
              <a:pPr algn="l"/>
              <a:endParaRPr lang="de-CH" sz="1600" dirty="0"/>
            </a:p>
          </p:txBody>
        </p:sp>
        <p:sp>
          <p:nvSpPr>
            <p:cNvPr id="75" name="Rechteck: abgerundete Ecken 74">
              <a:extLst>
                <a:ext uri="{FF2B5EF4-FFF2-40B4-BE49-F238E27FC236}">
                  <a16:creationId xmlns:a16="http://schemas.microsoft.com/office/drawing/2014/main" id="{F1086BE2-832F-B599-919C-457AD5225001}"/>
                </a:ext>
              </a:extLst>
            </p:cNvPr>
            <p:cNvSpPr/>
            <p:nvPr/>
          </p:nvSpPr>
          <p:spPr>
            <a:xfrm>
              <a:off x="10840990" y="1971675"/>
              <a:ext cx="964827" cy="238126"/>
            </a:xfrm>
            <a:prstGeom prst="roundRect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90000" rIns="90000" bIns="90000" rtlCol="0" anchor="t" anchorCtr="0"/>
            <a:lstStyle/>
            <a:p>
              <a:pPr algn="l"/>
              <a:endParaRPr lang="de-CH" sz="1600" dirty="0"/>
            </a:p>
          </p:txBody>
        </p:sp>
      </p:grpSp>
      <p:grpSp>
        <p:nvGrpSpPr>
          <p:cNvPr id="80" name="Gruppieren 79">
            <a:extLst>
              <a:ext uri="{FF2B5EF4-FFF2-40B4-BE49-F238E27FC236}">
                <a16:creationId xmlns:a16="http://schemas.microsoft.com/office/drawing/2014/main" id="{1600C032-C4AF-C6FD-7992-3D45C2F68D32}"/>
              </a:ext>
            </a:extLst>
          </p:cNvPr>
          <p:cNvGrpSpPr/>
          <p:nvPr/>
        </p:nvGrpSpPr>
        <p:grpSpPr>
          <a:xfrm>
            <a:off x="9843667" y="1731168"/>
            <a:ext cx="1974477" cy="223839"/>
            <a:chOff x="9843667" y="1731168"/>
            <a:chExt cx="1974477" cy="223839"/>
          </a:xfrm>
        </p:grpSpPr>
        <p:sp>
          <p:nvSpPr>
            <p:cNvPr id="77" name="Rechteck: abgerundete Ecken 76">
              <a:extLst>
                <a:ext uri="{FF2B5EF4-FFF2-40B4-BE49-F238E27FC236}">
                  <a16:creationId xmlns:a16="http://schemas.microsoft.com/office/drawing/2014/main" id="{E2D09C8A-7D93-ABEC-D9F3-30F520F6EB96}"/>
                </a:ext>
              </a:extLst>
            </p:cNvPr>
            <p:cNvSpPr/>
            <p:nvPr/>
          </p:nvSpPr>
          <p:spPr>
            <a:xfrm>
              <a:off x="9843667" y="1733550"/>
              <a:ext cx="983877" cy="219077"/>
            </a:xfrm>
            <a:prstGeom prst="roundRect">
              <a:avLst/>
            </a:prstGeom>
            <a:pattFill prst="pct50">
              <a:fgClr>
                <a:schemeClr val="accent3">
                  <a:lumMod val="7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90000" rIns="90000" bIns="90000" rtlCol="0" anchor="t" anchorCtr="0"/>
            <a:lstStyle/>
            <a:p>
              <a:pPr algn="l"/>
              <a:endParaRPr lang="de-CH" sz="1600" dirty="0"/>
            </a:p>
          </p:txBody>
        </p:sp>
        <p:sp>
          <p:nvSpPr>
            <p:cNvPr id="78" name="Rechteck: abgerundete Ecken 77">
              <a:extLst>
                <a:ext uri="{FF2B5EF4-FFF2-40B4-BE49-F238E27FC236}">
                  <a16:creationId xmlns:a16="http://schemas.microsoft.com/office/drawing/2014/main" id="{FEF599D3-F5DC-EAE5-CF5F-3D8EE5F3FFD2}"/>
                </a:ext>
              </a:extLst>
            </p:cNvPr>
            <p:cNvSpPr/>
            <p:nvPr/>
          </p:nvSpPr>
          <p:spPr>
            <a:xfrm>
              <a:off x="10834267" y="1731168"/>
              <a:ext cx="983877" cy="223839"/>
            </a:xfrm>
            <a:prstGeom prst="roundRect">
              <a:avLst/>
            </a:prstGeom>
            <a:pattFill prst="pct50">
              <a:fgClr>
                <a:schemeClr val="accent3">
                  <a:lumMod val="7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90000" rIns="90000" bIns="90000" rtlCol="0" anchor="t" anchorCtr="0"/>
            <a:lstStyle/>
            <a:p>
              <a:pPr algn="l"/>
              <a:endParaRPr lang="de-CH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3039816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g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IBAQEBAQEBAQEBAQEBAQIAAAAAAAAAAwAAAAMAAAAA/////wQAJwwAAAAAAAAAAAAAIAD///////////////8AAAD///////////////8DAAAAAwD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EAP///////wQAAAACABAAC0x/eDo/CXlOin/7qwN5TnMFAAAAAAADAAAAAwADAAAAAQADAAAAAAD///////8DAAAAAAD///////8DAAAAAAD///////8DAAEA////////BAAAAAMAEAAL/xqKKeYGBEmF2+0ETGE43wUAAAABAAMAAAAAAAMAAAAC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EACAMAAAAAAAAAAAAACAB////////////////AAAA////////////////BAAAAAMA////////BA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aAAZMaW5rZWRTaGFwZXNEYXRhUHJvcGVydHlfMAUAAAAAAAQAAAADAAQAAAABAAMAAgEDAAAAAwD///////8lAAZMaW5rZWRTaGFwZVByZXNlbnRhdGlvblNldHRpbmdzRGF0YV8wBQAAAAEABAAAAAAABAAAAAIABA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gC3DgAAAAAAAAAAAAD/////gwCDAAAABV9pZAAQAAAABEx/eDo/CXlOin/7qwN5TnMDRGF0YQAbAAAABExpbmtlZFNoYXBlRGF0YQAFAAAAAAACTmFtZQAZAAAATGlua2VkU2hhcGVzRGF0YVByb3BlcnR5ABBWZXJzaW9uAAAAAAAJTGFzdFdyaXRlAPu4gcSCAQAAAAEA/////50AnQAAAAVfaWQAEAAAAAT/Goop5gYESYXb7QRMYTjfA0RhdGEAKgAAAAhQcmVzZW50YXRpb25TY2FubmVkRm9yTGlua2VkU2hhcGVzAAEAAk5hbWUAJAAAAExpbmtlZFNoYXBlUHJlc2VudGF0aW9uU2V0dGluZ3NEYXRhABBWZXJzaW9uAAAAAAAJTGFzdFdyaXRlAA+5gcSC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B_LENGTH" val="24576"/>
</p:tagLst>
</file>

<file path=ppt/theme/theme1.xml><?xml version="1.0" encoding="utf-8"?>
<a:theme xmlns:a="http://schemas.openxmlformats.org/drawingml/2006/main" name="Folienmaster SERV">
  <a:themeElements>
    <a:clrScheme name="SERV">
      <a:dk1>
        <a:sysClr val="windowText" lastClr="000000"/>
      </a:dk1>
      <a:lt1>
        <a:sysClr val="window" lastClr="FFFFFF"/>
      </a:lt1>
      <a:dk2>
        <a:srgbClr val="9B9B9B"/>
      </a:dk2>
      <a:lt2>
        <a:srgbClr val="E7E6E6"/>
      </a:lt2>
      <a:accent1>
        <a:srgbClr val="D70814"/>
      </a:accent1>
      <a:accent2>
        <a:srgbClr val="65BDD5"/>
      </a:accent2>
      <a:accent3>
        <a:srgbClr val="DFF2FD"/>
      </a:accent3>
      <a:accent4>
        <a:srgbClr val="00A0DA"/>
      </a:accent4>
      <a:accent5>
        <a:srgbClr val="89CBC1"/>
      </a:accent5>
      <a:accent6>
        <a:srgbClr val="F3F1B2"/>
      </a:accent6>
      <a:hlink>
        <a:srgbClr val="D70814"/>
      </a:hlink>
      <a:folHlink>
        <a:srgbClr val="9B9B9B"/>
      </a:folHlink>
    </a:clrScheme>
    <a:fontScheme name="Custom 47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lIns="90000" tIns="90000" rIns="90000" bIns="90000" rtlCol="0" anchor="t" anchorCtr="0"/>
      <a:lstStyle>
        <a:defPPr algn="l">
          <a:defRPr sz="1600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ERV-AU-202307141-PPTB-Default-04-fwng-p.pptx" id="{57DE78D1-2B02-4611-9835-A0D2E83B2390}" vid="{5A2B830F-3116-49CA-A5F8-BC3DEB810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2400</Words>
  <Application>Microsoft Office PowerPoint</Application>
  <PresentationFormat>Widescreen</PresentationFormat>
  <Paragraphs>416</Paragraphs>
  <Slides>29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PMingLiU</vt:lpstr>
      <vt:lpstr>Arial</vt:lpstr>
      <vt:lpstr>Calibri</vt:lpstr>
      <vt:lpstr>Cambria Math</vt:lpstr>
      <vt:lpstr>Wingdings</vt:lpstr>
      <vt:lpstr>Folienmaster SERV</vt:lpstr>
      <vt:lpstr>PowerPoint Presentation</vt:lpstr>
      <vt:lpstr>Agenda</vt:lpstr>
      <vt:lpstr>Introduction</vt:lpstr>
      <vt:lpstr>Modifications of insurances</vt:lpstr>
      <vt:lpstr>What are we talking about?</vt:lpstr>
      <vt:lpstr>Why is this relevant?</vt:lpstr>
      <vt:lpstr>SERV Experience with pricing modifications of insurances</vt:lpstr>
      <vt:lpstr>Graphical Examples</vt:lpstr>
      <vt:lpstr>Risk represented by area: Example 1</vt:lpstr>
      <vt:lpstr>Risk represented by area: Example 1</vt:lpstr>
      <vt:lpstr>Risk represented by area: Example 1</vt:lpstr>
      <vt:lpstr>Risk represented by area: Example 2</vt:lpstr>
      <vt:lpstr>Risk represented by area: Example 2</vt:lpstr>
      <vt:lpstr>Formal Approach</vt:lpstr>
      <vt:lpstr>Specific Risk Premium as Premium Density</vt:lpstr>
      <vt:lpstr>Earned and Unearned Premiums</vt:lpstr>
      <vt:lpstr>Pricing Framework for Modifications</vt:lpstr>
      <vt:lpstr>Example I: Increased Risk Coverage</vt:lpstr>
      <vt:lpstr>Example II: Extension of Repayment Period</vt:lpstr>
      <vt:lpstr>Example III: Premature Termination</vt:lpstr>
      <vt:lpstr>Premium Financing</vt:lpstr>
      <vt:lpstr>Recap: Premium Financing</vt:lpstr>
      <vt:lpstr>Premium Financing of Modifications</vt:lpstr>
      <vt:lpstr>Example II Revisited: Premium Financing</vt:lpstr>
      <vt:lpstr>FAQ</vt:lpstr>
      <vt:lpstr>Conclusion and Outlook</vt:lpstr>
      <vt:lpstr>Contact</vt:lpstr>
      <vt:lpstr>Risk represented by area: Example 1</vt:lpstr>
      <vt:lpstr>Risk represented by area: Example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Caliaro Aurelio</dc:creator>
  <cp:lastModifiedBy>Herpich, Tim</cp:lastModifiedBy>
  <cp:revision>332</cp:revision>
  <dcterms:created xsi:type="dcterms:W3CDTF">2024-09-16T08:15:15Z</dcterms:created>
  <dcterms:modified xsi:type="dcterms:W3CDTF">2025-01-16T23:29:59Z</dcterms:modified>
</cp:coreProperties>
</file>